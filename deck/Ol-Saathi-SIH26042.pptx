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97160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 Saathi. "Ol" is Santali for write, and opens the name of Ol Chiki, the script Raghunath Murmu created for Santali in 1925. "Saathi" is Hindi for companion. Half Santali, half Hindi, like the product.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chip is the whole argument. Anyone can put Ol Chiki on a screen. Saying where it came from, and refusing to show anything you cannot source, is the part nobody else will do.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Bhashini API access for Santali translation and TTS. Everything else we build ourselves.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4332"/>
        </a:solidFill>
        <a:effectLst/>
      </p:bgPr>
    </p:bg>
    <p:spTree>
      <p:nvGrpSpPr>
        <p:cNvPr id="1" name=""/>
        <p:cNvGrpSpPr/>
        <p:nvPr/>
      </p:nvGrpSpPr>
      <p:grpSpPr>
        <a:xfrm>
          <a:off x="0" y="0"/>
          <a:ext cx="0" cy="0"/>
          <a:chOff x="0" y="0"/>
          <a:chExt cx="0" cy="0"/>
        </a:xfrm>
      </p:grpSpPr>
      <p:sp>
        <p:nvSpPr>
          <p:cNvPr id="2" name="Shape 0"/>
          <p:cNvSpPr/>
          <p:nvPr/>
        </p:nvSpPr>
        <p:spPr>
          <a:xfrm>
            <a:off x="9418320" y="-1371600"/>
            <a:ext cx="4754880" cy="4754880"/>
          </a:xfrm>
          <a:prstGeom prst="ellipse">
            <a:avLst/>
          </a:prstGeom>
          <a:solidFill>
            <a:srgbClr val="2D6A4F"/>
          </a:solidFill>
          <a:ln/>
        </p:spPr>
      </p:sp>
      <p:sp>
        <p:nvSpPr>
          <p:cNvPr id="3" name="Shape 1"/>
          <p:cNvSpPr/>
          <p:nvPr/>
        </p:nvSpPr>
        <p:spPr>
          <a:xfrm>
            <a:off x="10881360" y="4480560"/>
            <a:ext cx="2377440" cy="2377440"/>
          </a:xfrm>
          <a:prstGeom prst="ellipse">
            <a:avLst/>
          </a:prstGeom>
          <a:solidFill>
            <a:srgbClr val="B85042"/>
          </a:solidFill>
          <a:ln/>
        </p:spPr>
      </p:sp>
      <p:sp>
        <p:nvSpPr>
          <p:cNvPr id="4" name="Text 2"/>
          <p:cNvSpPr/>
          <p:nvPr/>
        </p:nvSpPr>
        <p:spPr>
          <a:xfrm>
            <a:off x="822960" y="1828800"/>
            <a:ext cx="8229600" cy="1188720"/>
          </a:xfrm>
          <a:prstGeom prst="rect">
            <a:avLst/>
          </a:prstGeom>
          <a:noFill/>
          <a:ln/>
        </p:spPr>
        <p:txBody>
          <a:bodyPr wrap="square" lIns="0" tIns="0" rIns="0" bIns="0" rtlCol="0" anchor="ctr"/>
          <a:lstStyle/>
          <a:p>
            <a:pPr marL="0" indent="0">
              <a:buNone/>
            </a:pPr>
            <a:r>
              <a:rPr lang="en-US" sz="6600" b="1" dirty="0">
                <a:solidFill>
                  <a:srgbClr val="FFFFFF"/>
                </a:solidFill>
                <a:latin typeface="Cambria" pitchFamily="34" charset="0"/>
                <a:ea typeface="Cambria" pitchFamily="34" charset="-122"/>
                <a:cs typeface="Cambria" pitchFamily="34" charset="-120"/>
              </a:rPr>
              <a:t>Ol Saathi</a:t>
            </a:r>
            <a:endParaRPr lang="en-US" sz="6600" dirty="0"/>
          </a:p>
        </p:txBody>
      </p:sp>
      <p:sp>
        <p:nvSpPr>
          <p:cNvPr id="5" name="Text 3"/>
          <p:cNvSpPr/>
          <p:nvPr/>
        </p:nvSpPr>
        <p:spPr>
          <a:xfrm>
            <a:off x="868680" y="2971800"/>
            <a:ext cx="8229600" cy="548640"/>
          </a:xfrm>
          <a:prstGeom prst="rect">
            <a:avLst/>
          </a:prstGeom>
          <a:noFill/>
          <a:ln/>
        </p:spPr>
        <p:txBody>
          <a:bodyPr wrap="square" lIns="0" tIns="0" rIns="0" bIns="0" rtlCol="0" anchor="ctr"/>
          <a:lstStyle/>
          <a:p>
            <a:pPr marL="0" indent="0">
              <a:buNone/>
            </a:pPr>
            <a:r>
              <a:rPr lang="en-US" sz="2600" dirty="0">
                <a:solidFill>
                  <a:srgbClr val="E9A03B"/>
                </a:solidFill>
                <a:latin typeface="Calibri" pitchFamily="34" charset="0"/>
                <a:ea typeface="Calibri" pitchFamily="34" charset="-122"/>
                <a:cs typeface="Calibri" pitchFamily="34" charset="-120"/>
              </a:rPr>
              <a:t>ओल साथी</a:t>
            </a:r>
            <a:endParaRPr lang="en-US" sz="2600" dirty="0"/>
          </a:p>
        </p:txBody>
      </p:sp>
      <p:sp>
        <p:nvSpPr>
          <p:cNvPr id="6" name="Text 4"/>
          <p:cNvSpPr/>
          <p:nvPr/>
        </p:nvSpPr>
        <p:spPr>
          <a:xfrm>
            <a:off x="868680" y="3657600"/>
            <a:ext cx="6583680" cy="822960"/>
          </a:xfrm>
          <a:prstGeom prst="rect">
            <a:avLst/>
          </a:prstGeom>
          <a:noFill/>
          <a:ln/>
        </p:spPr>
        <p:txBody>
          <a:bodyPr wrap="square" lIns="0" tIns="0" rIns="0" bIns="0" rtlCol="0" anchor="ctr"/>
          <a:lstStyle/>
          <a:p>
            <a:pPr marL="0" indent="0">
              <a:lnSpc>
                <a:spcPts val="2600"/>
              </a:lnSpc>
              <a:buNone/>
            </a:pPr>
            <a:r>
              <a:rPr lang="en-US" sz="1700" dirty="0">
                <a:solidFill>
                  <a:srgbClr val="CFE0D6"/>
                </a:solidFill>
                <a:latin typeface="Calibri" pitchFamily="34" charset="0"/>
                <a:ea typeface="Calibri" pitchFamily="34" charset="-122"/>
                <a:cs typeface="Calibri" pitchFamily="34" charset="-120"/>
              </a:rPr>
              <a:t>A teacher speaks Hindi. A child hears her mother tongue. With no internet.</a:t>
            </a:r>
            <a:endParaRPr lang="en-US" sz="1700" dirty="0"/>
          </a:p>
        </p:txBody>
      </p:sp>
      <p:pic>
        <p:nvPicPr>
          <p:cNvPr id="7" name="Image 0" descr="olchiki-name.png"/>
          <p:cNvPicPr>
            <a:picLocks noChangeAspect="1"/>
          </p:cNvPicPr>
          <p:nvPr/>
        </p:nvPicPr>
        <p:blipFill>
          <a:blip r:embed="rId3"/>
          <a:stretch>
            <a:fillRect/>
          </a:stretch>
        </p:blipFill>
        <p:spPr>
          <a:xfrm>
            <a:off x="7635240" y="3200400"/>
            <a:ext cx="3566160" cy="960120"/>
          </a:xfrm>
          <a:prstGeom prst="rect">
            <a:avLst/>
          </a:prstGeom>
        </p:spPr>
      </p:pic>
      <p:sp>
        <p:nvSpPr>
          <p:cNvPr id="8" name="Shape 5"/>
          <p:cNvSpPr/>
          <p:nvPr/>
        </p:nvSpPr>
        <p:spPr>
          <a:xfrm>
            <a:off x="868680" y="4709160"/>
            <a:ext cx="2926080" cy="0"/>
          </a:xfrm>
          <a:prstGeom prst="line">
            <a:avLst/>
          </a:prstGeom>
          <a:noFill/>
          <a:ln w="25400">
            <a:solidFill>
              <a:srgbClr val="E9A03B"/>
            </a:solidFill>
            <a:prstDash val="solid"/>
          </a:ln>
        </p:spPr>
      </p:sp>
      <p:sp>
        <p:nvSpPr>
          <p:cNvPr id="9" name="Text 6"/>
          <p:cNvSpPr/>
          <p:nvPr/>
        </p:nvSpPr>
        <p:spPr>
          <a:xfrm>
            <a:off x="868680" y="4983480"/>
            <a:ext cx="8686800" cy="292608"/>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SIH26042</a:t>
            </a:r>
            <a:r>
              <a:rPr lang="en-US" sz="1300" dirty="0">
                <a:solidFill>
                  <a:srgbClr val="A8C3B4"/>
                </a:solidFill>
                <a:latin typeface="Calibri" pitchFamily="34" charset="0"/>
                <a:ea typeface="Calibri" pitchFamily="34" charset="-122"/>
                <a:cs typeface="Calibri" pitchFamily="34" charset="-120"/>
              </a:rPr>
              <a:t>   Government of Jharkhand, Dept of Higher &amp; Technical Education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411480"/>
            <a:ext cx="10881360" cy="274320"/>
          </a:xfrm>
          <a:prstGeom prst="rect">
            <a:avLst/>
          </a:prstGeom>
          <a:noFill/>
          <a:ln/>
        </p:spPr>
        <p:txBody>
          <a:bodyPr wrap="square" lIns="0" tIns="0" rIns="0" bIns="0" rtlCol="0" anchor="ctr"/>
          <a:lstStyle/>
          <a:p>
            <a:pPr marL="0" indent="0">
              <a:buNone/>
            </a:pPr>
            <a:r>
              <a:rPr lang="en-US" sz="1200" b="1" kern="0" spc="200" dirty="0">
                <a:solidFill>
                  <a:srgbClr val="B85042"/>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640080" y="713232"/>
            <a:ext cx="10881360" cy="777240"/>
          </a:xfrm>
          <a:prstGeom prst="rect">
            <a:avLst/>
          </a:prstGeom>
          <a:noFill/>
          <a:ln/>
        </p:spPr>
        <p:txBody>
          <a:bodyPr wrap="square" lIns="0" tIns="0" rIns="0" bIns="0" rtlCol="0" anchor="ctr"/>
          <a:lstStyle/>
          <a:p>
            <a:pPr marL="0" indent="0">
              <a:buNone/>
            </a:pPr>
            <a:r>
              <a:rPr lang="en-US" sz="3400" b="1" dirty="0">
                <a:solidFill>
                  <a:srgbClr val="1C1C1C"/>
                </a:solidFill>
                <a:latin typeface="Cambria" pitchFamily="34" charset="0"/>
                <a:ea typeface="Cambria" pitchFamily="34" charset="-122"/>
                <a:cs typeface="Cambria" pitchFamily="34" charset="-120"/>
              </a:rPr>
              <a:t>PALASH works. It cannot scale.</a:t>
            </a:r>
            <a:endParaRPr lang="en-US" sz="3400" dirty="0"/>
          </a:p>
        </p:txBody>
      </p:sp>
      <p:sp>
        <p:nvSpPr>
          <p:cNvPr id="4" name="Shape 2"/>
          <p:cNvSpPr/>
          <p:nvPr/>
        </p:nvSpPr>
        <p:spPr>
          <a:xfrm>
            <a:off x="640080" y="1828800"/>
            <a:ext cx="3429000" cy="2286000"/>
          </a:xfrm>
          <a:prstGeom prst="roundRect">
            <a:avLst>
              <a:gd name="adj" fmla="val 3200"/>
            </a:avLst>
          </a:prstGeom>
          <a:solidFill>
            <a:srgbClr val="F7F7F5"/>
          </a:solidFill>
          <a:ln w="9525">
            <a:solidFill>
              <a:srgbClr val="DCDCDC"/>
            </a:solidFill>
            <a:prstDash val="solid"/>
          </a:ln>
        </p:spPr>
      </p:sp>
      <p:sp>
        <p:nvSpPr>
          <p:cNvPr id="5" name="Text 3"/>
          <p:cNvSpPr/>
          <p:nvPr/>
        </p:nvSpPr>
        <p:spPr>
          <a:xfrm>
            <a:off x="896112" y="2011680"/>
            <a:ext cx="2926080" cy="777240"/>
          </a:xfrm>
          <a:prstGeom prst="rect">
            <a:avLst/>
          </a:prstGeom>
          <a:noFill/>
          <a:ln/>
        </p:spPr>
        <p:txBody>
          <a:bodyPr wrap="square" lIns="0" tIns="0" rIns="0" bIns="0" rtlCol="0" anchor="ctr"/>
          <a:lstStyle/>
          <a:p>
            <a:pPr marL="0" indent="0">
              <a:buNone/>
            </a:pPr>
            <a:r>
              <a:rPr lang="en-US" sz="4600" b="1" dirty="0">
                <a:solidFill>
                  <a:srgbClr val="B85042"/>
                </a:solidFill>
                <a:latin typeface="Cambria" pitchFamily="34" charset="0"/>
                <a:ea typeface="Cambria" pitchFamily="34" charset="-122"/>
                <a:cs typeface="Cambria" pitchFamily="34" charset="-120"/>
              </a:rPr>
              <a:t>5,000+</a:t>
            </a:r>
            <a:endParaRPr lang="en-US" sz="4600" dirty="0"/>
          </a:p>
        </p:txBody>
      </p:sp>
      <p:sp>
        <p:nvSpPr>
          <p:cNvPr id="6" name="Text 4"/>
          <p:cNvSpPr/>
          <p:nvPr/>
        </p:nvSpPr>
        <p:spPr>
          <a:xfrm>
            <a:off x="896112" y="2834640"/>
            <a:ext cx="2926080" cy="1143000"/>
          </a:xfrm>
          <a:prstGeom prst="rect">
            <a:avLst/>
          </a:prstGeom>
          <a:noFill/>
          <a:ln/>
        </p:spPr>
        <p:txBody>
          <a:bodyPr wrap="square" lIns="0" tIns="0" rIns="0" bIns="0" rtlCol="0" anchor="t"/>
          <a:lstStyle/>
          <a:p>
            <a:pPr marL="0" indent="0">
              <a:lnSpc>
                <a:spcPts val="1800"/>
              </a:lnSpc>
              <a:buNone/>
            </a:pPr>
            <a:r>
              <a:rPr lang="en-US" sz="1300" dirty="0">
                <a:solidFill>
                  <a:srgbClr val="6B6B6B"/>
                </a:solidFill>
                <a:latin typeface="Calibri" pitchFamily="34" charset="0"/>
                <a:ea typeface="Calibri" pitchFamily="34" charset="-122"/>
                <a:cs typeface="Calibri" pitchFamily="34" charset="-120"/>
              </a:rPr>
              <a:t>tribal-area primary schools where children are taught in a language they do not speak at home</a:t>
            </a:r>
            <a:endParaRPr lang="en-US" sz="1300" dirty="0"/>
          </a:p>
        </p:txBody>
      </p:sp>
      <p:sp>
        <p:nvSpPr>
          <p:cNvPr id="7" name="Shape 5"/>
          <p:cNvSpPr/>
          <p:nvPr/>
        </p:nvSpPr>
        <p:spPr>
          <a:xfrm>
            <a:off x="4343400" y="1828800"/>
            <a:ext cx="3429000" cy="2286000"/>
          </a:xfrm>
          <a:prstGeom prst="roundRect">
            <a:avLst>
              <a:gd name="adj" fmla="val 3200"/>
            </a:avLst>
          </a:prstGeom>
          <a:solidFill>
            <a:srgbClr val="F7F7F5"/>
          </a:solidFill>
          <a:ln w="9525">
            <a:solidFill>
              <a:srgbClr val="DCDCDC"/>
            </a:solidFill>
            <a:prstDash val="solid"/>
          </a:ln>
        </p:spPr>
      </p:sp>
      <p:sp>
        <p:nvSpPr>
          <p:cNvPr id="8" name="Text 6"/>
          <p:cNvSpPr/>
          <p:nvPr/>
        </p:nvSpPr>
        <p:spPr>
          <a:xfrm>
            <a:off x="4599432" y="2011680"/>
            <a:ext cx="2926080" cy="777240"/>
          </a:xfrm>
          <a:prstGeom prst="rect">
            <a:avLst/>
          </a:prstGeom>
          <a:noFill/>
          <a:ln/>
        </p:spPr>
        <p:txBody>
          <a:bodyPr wrap="square" lIns="0" tIns="0" rIns="0" bIns="0" rtlCol="0" anchor="ctr"/>
          <a:lstStyle/>
          <a:p>
            <a:pPr marL="0" indent="0">
              <a:buNone/>
            </a:pPr>
            <a:r>
              <a:rPr lang="en-US" sz="4600" b="1" dirty="0">
                <a:solidFill>
                  <a:srgbClr val="B85042"/>
                </a:solidFill>
                <a:latin typeface="Cambria" pitchFamily="34" charset="0"/>
                <a:ea typeface="Cambria" pitchFamily="34" charset="-122"/>
                <a:cs typeface="Cambria" pitchFamily="34" charset="-120"/>
              </a:rPr>
              <a:t>3</a:t>
            </a:r>
            <a:endParaRPr lang="en-US" sz="4600" dirty="0"/>
          </a:p>
        </p:txBody>
      </p:sp>
      <p:sp>
        <p:nvSpPr>
          <p:cNvPr id="9" name="Text 7"/>
          <p:cNvSpPr/>
          <p:nvPr/>
        </p:nvSpPr>
        <p:spPr>
          <a:xfrm>
            <a:off x="4599432" y="2834640"/>
            <a:ext cx="2926080" cy="1143000"/>
          </a:xfrm>
          <a:prstGeom prst="rect">
            <a:avLst/>
          </a:prstGeom>
          <a:noFill/>
          <a:ln/>
        </p:spPr>
        <p:txBody>
          <a:bodyPr wrap="square" lIns="0" tIns="0" rIns="0" bIns="0" rtlCol="0" anchor="t"/>
          <a:lstStyle/>
          <a:p>
            <a:pPr marL="0" indent="0">
              <a:lnSpc>
                <a:spcPts val="1800"/>
              </a:lnSpc>
              <a:buNone/>
            </a:pPr>
            <a:r>
              <a:rPr lang="en-US" sz="1300" dirty="0">
                <a:solidFill>
                  <a:srgbClr val="6B6B6B"/>
                </a:solidFill>
                <a:latin typeface="Calibri" pitchFamily="34" charset="0"/>
                <a:ea typeface="Calibri" pitchFamily="34" charset="-122"/>
                <a:cs typeface="Calibri" pitchFamily="34" charset="-120"/>
              </a:rPr>
              <a:t>languages the state needs: Ho, Mundari and Santali, all Austroasiatic, all low-resource</a:t>
            </a:r>
            <a:endParaRPr lang="en-US" sz="1300" dirty="0"/>
          </a:p>
        </p:txBody>
      </p:sp>
      <p:sp>
        <p:nvSpPr>
          <p:cNvPr id="10" name="Shape 8"/>
          <p:cNvSpPr/>
          <p:nvPr/>
        </p:nvSpPr>
        <p:spPr>
          <a:xfrm>
            <a:off x="8046720" y="1828800"/>
            <a:ext cx="3429000" cy="2286000"/>
          </a:xfrm>
          <a:prstGeom prst="roundRect">
            <a:avLst>
              <a:gd name="adj" fmla="val 3200"/>
            </a:avLst>
          </a:prstGeom>
          <a:solidFill>
            <a:srgbClr val="F7F7F5"/>
          </a:solidFill>
          <a:ln w="9525">
            <a:solidFill>
              <a:srgbClr val="DCDCDC"/>
            </a:solidFill>
            <a:prstDash val="solid"/>
          </a:ln>
        </p:spPr>
      </p:sp>
      <p:sp>
        <p:nvSpPr>
          <p:cNvPr id="11" name="Text 9"/>
          <p:cNvSpPr/>
          <p:nvPr/>
        </p:nvSpPr>
        <p:spPr>
          <a:xfrm>
            <a:off x="8302752" y="2011680"/>
            <a:ext cx="2926080" cy="777240"/>
          </a:xfrm>
          <a:prstGeom prst="rect">
            <a:avLst/>
          </a:prstGeom>
          <a:noFill/>
          <a:ln/>
        </p:spPr>
        <p:txBody>
          <a:bodyPr wrap="square" lIns="0" tIns="0" rIns="0" bIns="0" rtlCol="0" anchor="ctr"/>
          <a:lstStyle/>
          <a:p>
            <a:pPr marL="0" indent="0">
              <a:buNone/>
            </a:pPr>
            <a:r>
              <a:rPr lang="en-US" sz="4600" b="1" dirty="0">
                <a:solidFill>
                  <a:srgbClr val="B85042"/>
                </a:solidFill>
                <a:latin typeface="Cambria" pitchFamily="34" charset="0"/>
                <a:ea typeface="Cambria" pitchFamily="34" charset="-122"/>
                <a:cs typeface="Cambria" pitchFamily="34" charset="-120"/>
              </a:rPr>
              <a:t>~0</a:t>
            </a:r>
            <a:endParaRPr lang="en-US" sz="4600" dirty="0"/>
          </a:p>
        </p:txBody>
      </p:sp>
      <p:sp>
        <p:nvSpPr>
          <p:cNvPr id="12" name="Text 10"/>
          <p:cNvSpPr/>
          <p:nvPr/>
        </p:nvSpPr>
        <p:spPr>
          <a:xfrm>
            <a:off x="8302752" y="2834640"/>
            <a:ext cx="2926080" cy="1143000"/>
          </a:xfrm>
          <a:prstGeom prst="rect">
            <a:avLst/>
          </a:prstGeom>
          <a:noFill/>
          <a:ln/>
        </p:spPr>
        <p:txBody>
          <a:bodyPr wrap="square" lIns="0" tIns="0" rIns="0" bIns="0" rtlCol="0" anchor="t"/>
          <a:lstStyle/>
          <a:p>
            <a:pPr marL="0" indent="0">
              <a:lnSpc>
                <a:spcPts val="1800"/>
              </a:lnSpc>
              <a:buNone/>
            </a:pPr>
            <a:r>
              <a:rPr lang="en-US" sz="1300" dirty="0">
                <a:solidFill>
                  <a:srgbClr val="6B6B6B"/>
                </a:solidFill>
                <a:latin typeface="Calibri" pitchFamily="34" charset="0"/>
                <a:ea typeface="Calibri" pitchFamily="34" charset="-122"/>
                <a:cs typeface="Calibri" pitchFamily="34" charset="-120"/>
              </a:rPr>
              <a:t>teachers posted there who speak them. Almost every one was trained in Hindi</a:t>
            </a:r>
            <a:endParaRPr lang="en-US" sz="1300" dirty="0"/>
          </a:p>
        </p:txBody>
      </p:sp>
      <p:sp>
        <p:nvSpPr>
          <p:cNvPr id="13" name="Text 11"/>
          <p:cNvSpPr/>
          <p:nvPr/>
        </p:nvSpPr>
        <p:spPr>
          <a:xfrm>
            <a:off x="640080" y="4434840"/>
            <a:ext cx="10881360" cy="914400"/>
          </a:xfrm>
          <a:prstGeom prst="rect">
            <a:avLst/>
          </a:prstGeom>
          <a:noFill/>
          <a:ln/>
        </p:spPr>
        <p:txBody>
          <a:bodyPr wrap="square" lIns="0" tIns="0" rIns="0" bIns="0" rtlCol="0" anchor="ctr"/>
          <a:lstStyle/>
          <a:p>
            <a:pPr marL="0" indent="0">
              <a:lnSpc>
                <a:spcPts val="2400"/>
              </a:lnSpc>
              <a:buNone/>
            </a:pPr>
            <a:r>
              <a:rPr lang="en-US" sz="1500" dirty="0">
                <a:solidFill>
                  <a:srgbClr val="1C1C1C"/>
                </a:solidFill>
                <a:latin typeface="Calibri" pitchFamily="34" charset="0"/>
                <a:ea typeface="Calibri" pitchFamily="34" charset="-122"/>
                <a:cs typeface="Calibri" pitchFamily="34" charset="-120"/>
              </a:rPr>
              <a:t>Jharkhand’s PALASH programme has measurably improved foundational literacy by teaching in the mother tongue. The bottleneck is not method or funding. It is that there is no one in the room who speaks the language, and training a generation of teachers is a decade of work.</a:t>
            </a:r>
            <a:endParaRPr lang="en-US" sz="1500" dirty="0"/>
          </a:p>
        </p:txBody>
      </p:sp>
      <p:sp>
        <p:nvSpPr>
          <p:cNvPr id="14" name="Text 12"/>
          <p:cNvSpPr/>
          <p:nvPr/>
        </p:nvSpPr>
        <p:spPr>
          <a:xfrm>
            <a:off x="640080" y="5440680"/>
            <a:ext cx="10881360" cy="411480"/>
          </a:xfrm>
          <a:prstGeom prst="rect">
            <a:avLst/>
          </a:prstGeom>
          <a:noFill/>
          <a:ln/>
        </p:spPr>
        <p:txBody>
          <a:bodyPr wrap="square" lIns="0" tIns="0" rIns="0" bIns="0" rtlCol="0" anchor="ctr"/>
          <a:lstStyle/>
          <a:p>
            <a:pPr marL="0" indent="0">
              <a:buNone/>
            </a:pPr>
            <a:r>
              <a:rPr lang="en-US" sz="1500" b="1" i="1" dirty="0">
                <a:solidFill>
                  <a:srgbClr val="1B4332"/>
                </a:solidFill>
                <a:latin typeface="Calibri" pitchFamily="34" charset="0"/>
                <a:ea typeface="Calibri" pitchFamily="34" charset="-122"/>
                <a:cs typeface="Calibri" pitchFamily="34" charset="-120"/>
              </a:rPr>
              <a:t>Ol Saathi puts the language in the room today, on a tablet the school already has.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411480"/>
            <a:ext cx="10881360" cy="274320"/>
          </a:xfrm>
          <a:prstGeom prst="rect">
            <a:avLst/>
          </a:prstGeom>
          <a:noFill/>
          <a:ln/>
        </p:spPr>
        <p:txBody>
          <a:bodyPr wrap="square" lIns="0" tIns="0" rIns="0" bIns="0" rtlCol="0" anchor="ctr"/>
          <a:lstStyle/>
          <a:p>
            <a:pPr marL="0" indent="0">
              <a:buNone/>
            </a:pPr>
            <a:r>
              <a:rPr lang="en-US" sz="1200" b="1" kern="0" spc="200" dirty="0">
                <a:solidFill>
                  <a:srgbClr val="B85042"/>
                </a:solidFill>
                <a:latin typeface="Calibri" pitchFamily="34" charset="0"/>
                <a:ea typeface="Calibri" pitchFamily="34" charset="-122"/>
                <a:cs typeface="Calibri" pitchFamily="34" charset="-120"/>
              </a:rPr>
              <a:t>THE NINETY-SECOND DEMO</a:t>
            </a:r>
            <a:endParaRPr lang="en-US" sz="1200" dirty="0"/>
          </a:p>
        </p:txBody>
      </p:sp>
      <p:sp>
        <p:nvSpPr>
          <p:cNvPr id="3" name="Text 1"/>
          <p:cNvSpPr/>
          <p:nvPr/>
        </p:nvSpPr>
        <p:spPr>
          <a:xfrm>
            <a:off x="640080" y="713232"/>
            <a:ext cx="10881360" cy="777240"/>
          </a:xfrm>
          <a:prstGeom prst="rect">
            <a:avLst/>
          </a:prstGeom>
          <a:noFill/>
          <a:ln/>
        </p:spPr>
        <p:txBody>
          <a:bodyPr wrap="square" lIns="0" tIns="0" rIns="0" bIns="0" rtlCol="0" anchor="ctr"/>
          <a:lstStyle/>
          <a:p>
            <a:pPr marL="0" indent="0">
              <a:buNone/>
            </a:pPr>
            <a:r>
              <a:rPr lang="en-US" sz="3400" b="1" dirty="0">
                <a:solidFill>
                  <a:srgbClr val="1C1C1C"/>
                </a:solidFill>
                <a:latin typeface="Cambria" pitchFamily="34" charset="0"/>
                <a:ea typeface="Cambria" pitchFamily="34" charset="-122"/>
                <a:cs typeface="Cambria" pitchFamily="34" charset="-120"/>
              </a:rPr>
              <a:t>What a teacher actually does</a:t>
            </a:r>
            <a:endParaRPr lang="en-US" sz="3400" dirty="0"/>
          </a:p>
        </p:txBody>
      </p:sp>
      <p:sp>
        <p:nvSpPr>
          <p:cNvPr id="4" name="Shape 2"/>
          <p:cNvSpPr/>
          <p:nvPr/>
        </p:nvSpPr>
        <p:spPr>
          <a:xfrm>
            <a:off x="640080" y="1874520"/>
            <a:ext cx="2560320" cy="2880360"/>
          </a:xfrm>
          <a:prstGeom prst="roundRect">
            <a:avLst>
              <a:gd name="adj" fmla="val 2857"/>
            </a:avLst>
          </a:prstGeom>
          <a:solidFill>
            <a:srgbClr val="F7F7F5"/>
          </a:solidFill>
          <a:ln w="9525">
            <a:solidFill>
              <a:srgbClr val="DCDCDC"/>
            </a:solidFill>
            <a:prstDash val="solid"/>
          </a:ln>
        </p:spPr>
      </p:sp>
      <p:sp>
        <p:nvSpPr>
          <p:cNvPr id="5" name="Shape 3"/>
          <p:cNvSpPr/>
          <p:nvPr/>
        </p:nvSpPr>
        <p:spPr>
          <a:xfrm>
            <a:off x="868680" y="2103120"/>
            <a:ext cx="566928" cy="566928"/>
          </a:xfrm>
          <a:prstGeom prst="ellipse">
            <a:avLst/>
          </a:prstGeom>
          <a:solidFill>
            <a:srgbClr val="B85042"/>
          </a:solidFill>
          <a:ln/>
          <a:effectLst>
            <a:outerShdw blurRad="152400" dist="38100" dir="5400000" algn="bl" rotWithShape="0">
              <a:srgbClr val="000000">
                <a:alpha val="12000"/>
              </a:srgbClr>
            </a:outerShdw>
          </a:effectLst>
        </p:spPr>
      </p:sp>
      <p:sp>
        <p:nvSpPr>
          <p:cNvPr id="6" name="Text 4"/>
          <p:cNvSpPr/>
          <p:nvPr/>
        </p:nvSpPr>
        <p:spPr>
          <a:xfrm>
            <a:off x="868680" y="2103120"/>
            <a:ext cx="566928" cy="56692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868680" y="2816352"/>
            <a:ext cx="2121408" cy="548640"/>
          </a:xfrm>
          <a:prstGeom prst="rect">
            <a:avLst/>
          </a:prstGeom>
          <a:noFill/>
          <a:ln/>
        </p:spPr>
        <p:txBody>
          <a:bodyPr wrap="square" lIns="0" tIns="0" rIns="0" bIns="0" rtlCol="0" anchor="ctr"/>
          <a:lstStyle/>
          <a:p>
            <a:pPr marL="0" indent="0">
              <a:buNone/>
            </a:pPr>
            <a:r>
              <a:rPr lang="en-US" sz="1500" b="1" dirty="0">
                <a:solidFill>
                  <a:srgbClr val="1C1C1C"/>
                </a:solidFill>
                <a:latin typeface="Cambria" pitchFamily="34" charset="0"/>
                <a:ea typeface="Cambria" pitchFamily="34" charset="-122"/>
                <a:cs typeface="Cambria" pitchFamily="34" charset="-120"/>
              </a:rPr>
              <a:t>Teacher speaks Hindi</a:t>
            </a:r>
            <a:endParaRPr lang="en-US" sz="1500" dirty="0"/>
          </a:p>
        </p:txBody>
      </p:sp>
      <p:sp>
        <p:nvSpPr>
          <p:cNvPr id="8" name="Text 6"/>
          <p:cNvSpPr/>
          <p:nvPr/>
        </p:nvSpPr>
        <p:spPr>
          <a:xfrm>
            <a:off x="868680" y="3364992"/>
            <a:ext cx="2121408" cy="1234440"/>
          </a:xfrm>
          <a:prstGeom prst="rect">
            <a:avLst/>
          </a:prstGeom>
          <a:noFill/>
          <a:ln/>
        </p:spPr>
        <p:txBody>
          <a:bodyPr wrap="square" lIns="0" tIns="0" rIns="0" bIns="0" rtlCol="0" anchor="t"/>
          <a:lstStyle/>
          <a:p>
            <a:pPr marL="0" indent="0">
              <a:lnSpc>
                <a:spcPts val="1600"/>
              </a:lnSpc>
              <a:buNone/>
            </a:pPr>
            <a:r>
              <a:rPr lang="en-US" sz="1150" dirty="0">
                <a:solidFill>
                  <a:srgbClr val="6B6B6B"/>
                </a:solidFill>
                <a:latin typeface="Calibri" pitchFamily="34" charset="0"/>
                <a:ea typeface="Calibri" pitchFamily="34" charset="-122"/>
                <a:cs typeface="Calibri" pitchFamily="34" charset="-120"/>
              </a:rPr>
              <a:t>She presses to talk and says</a:t>
            </a:r>
            <a:endParaRPr lang="en-US" sz="1150" dirty="0"/>
          </a:p>
          <a:p>
            <a:pPr marL="0" indent="0">
              <a:lnSpc>
                <a:spcPts val="1600"/>
              </a:lnSpc>
              <a:buNone/>
            </a:pPr>
            <a:r>
              <a:rPr lang="en-US" sz="1150" dirty="0">
                <a:solidFill>
                  <a:srgbClr val="6B6B6B"/>
                </a:solidFill>
                <a:latin typeface="Calibri" pitchFamily="34" charset="0"/>
                <a:ea typeface="Calibri" pitchFamily="34" charset="-122"/>
                <a:cs typeface="Calibri" pitchFamily="34" charset="-120"/>
              </a:rPr>
              <a:t>“जोहार बच्चों”. No typing, no</a:t>
            </a:r>
            <a:endParaRPr lang="en-US" sz="1150" dirty="0"/>
          </a:p>
          <a:p>
            <a:pPr marL="0" indent="0">
              <a:lnSpc>
                <a:spcPts val="1600"/>
              </a:lnSpc>
              <a:buNone/>
            </a:pPr>
            <a:r>
              <a:rPr lang="en-US" sz="1150" dirty="0">
                <a:solidFill>
                  <a:srgbClr val="6B6B6B"/>
                </a:solidFill>
                <a:latin typeface="Calibri" pitchFamily="34" charset="0"/>
                <a:ea typeface="Calibri" pitchFamily="34" charset="-122"/>
                <a:cs typeface="Calibri" pitchFamily="34" charset="-120"/>
              </a:rPr>
              <a:t>language setting to choose.</a:t>
            </a:r>
            <a:endParaRPr lang="en-US" sz="1150" dirty="0"/>
          </a:p>
        </p:txBody>
      </p:sp>
      <p:sp>
        <p:nvSpPr>
          <p:cNvPr id="9" name="Text 7"/>
          <p:cNvSpPr/>
          <p:nvPr/>
        </p:nvSpPr>
        <p:spPr>
          <a:xfrm>
            <a:off x="3218688" y="3063240"/>
            <a:ext cx="219456" cy="365760"/>
          </a:xfrm>
          <a:prstGeom prst="rect">
            <a:avLst/>
          </a:prstGeom>
          <a:noFill/>
          <a:ln/>
        </p:spPr>
        <p:txBody>
          <a:bodyPr wrap="square" lIns="0" tIns="0" rIns="0" bIns="0" rtlCol="0" anchor="ctr"/>
          <a:lstStyle/>
          <a:p>
            <a:pPr marL="0" indent="0" algn="ctr">
              <a:buNone/>
            </a:pPr>
            <a:r>
              <a:rPr lang="en-US" sz="2400" b="1" dirty="0">
                <a:solidFill>
                  <a:srgbClr val="E9A03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3429000" y="1874520"/>
            <a:ext cx="2560320" cy="2880360"/>
          </a:xfrm>
          <a:prstGeom prst="roundRect">
            <a:avLst>
              <a:gd name="adj" fmla="val 2857"/>
            </a:avLst>
          </a:prstGeom>
          <a:solidFill>
            <a:srgbClr val="F7F7F5"/>
          </a:solidFill>
          <a:ln w="9525">
            <a:solidFill>
              <a:srgbClr val="DCDCDC"/>
            </a:solidFill>
            <a:prstDash val="solid"/>
          </a:ln>
        </p:spPr>
      </p:sp>
      <p:sp>
        <p:nvSpPr>
          <p:cNvPr id="11" name="Shape 9"/>
          <p:cNvSpPr/>
          <p:nvPr/>
        </p:nvSpPr>
        <p:spPr>
          <a:xfrm>
            <a:off x="3657600" y="2103120"/>
            <a:ext cx="566928" cy="566928"/>
          </a:xfrm>
          <a:prstGeom prst="ellipse">
            <a:avLst/>
          </a:prstGeom>
          <a:solidFill>
            <a:srgbClr val="B85042"/>
          </a:solidFill>
          <a:ln/>
          <a:effectLst>
            <a:outerShdw blurRad="152400" dist="38100" dir="5400000" algn="bl" rotWithShape="0">
              <a:srgbClr val="000000">
                <a:alpha val="12000"/>
              </a:srgbClr>
            </a:outerShdw>
          </a:effectLst>
        </p:spPr>
      </p:sp>
      <p:sp>
        <p:nvSpPr>
          <p:cNvPr id="12" name="Text 10"/>
          <p:cNvSpPr/>
          <p:nvPr/>
        </p:nvSpPr>
        <p:spPr>
          <a:xfrm>
            <a:off x="3657600" y="2103120"/>
            <a:ext cx="566928" cy="56692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3657600" y="2816352"/>
            <a:ext cx="2121408" cy="548640"/>
          </a:xfrm>
          <a:prstGeom prst="rect">
            <a:avLst/>
          </a:prstGeom>
          <a:noFill/>
          <a:ln/>
        </p:spPr>
        <p:txBody>
          <a:bodyPr wrap="square" lIns="0" tIns="0" rIns="0" bIns="0" rtlCol="0" anchor="ctr"/>
          <a:lstStyle/>
          <a:p>
            <a:pPr marL="0" indent="0">
              <a:buNone/>
            </a:pPr>
            <a:r>
              <a:rPr lang="en-US" sz="1500" b="1" dirty="0">
                <a:solidFill>
                  <a:srgbClr val="1C1C1C"/>
                </a:solidFill>
                <a:latin typeface="Cambria" pitchFamily="34" charset="0"/>
                <a:ea typeface="Cambria" pitchFamily="34" charset="-122"/>
                <a:cs typeface="Cambria" pitchFamily="34" charset="-120"/>
              </a:rPr>
              <a:t>Santali appears</a:t>
            </a:r>
            <a:endParaRPr lang="en-US" sz="1500" dirty="0"/>
          </a:p>
        </p:txBody>
      </p:sp>
      <p:sp>
        <p:nvSpPr>
          <p:cNvPr id="14" name="Text 12"/>
          <p:cNvSpPr/>
          <p:nvPr/>
        </p:nvSpPr>
        <p:spPr>
          <a:xfrm>
            <a:off x="3657600" y="3364992"/>
            <a:ext cx="2121408" cy="1234440"/>
          </a:xfrm>
          <a:prstGeom prst="rect">
            <a:avLst/>
          </a:prstGeom>
          <a:noFill/>
          <a:ln/>
        </p:spPr>
        <p:txBody>
          <a:bodyPr wrap="square" lIns="0" tIns="0" rIns="0" bIns="0" rtlCol="0" anchor="t"/>
          <a:lstStyle/>
          <a:p>
            <a:pPr marL="0" indent="0">
              <a:lnSpc>
                <a:spcPts val="1600"/>
              </a:lnSpc>
              <a:buNone/>
            </a:pPr>
            <a:r>
              <a:rPr lang="en-US" sz="1150" dirty="0">
                <a:solidFill>
                  <a:srgbClr val="6B6B6B"/>
                </a:solidFill>
                <a:latin typeface="Calibri" pitchFamily="34" charset="0"/>
                <a:ea typeface="Calibri" pitchFamily="34" charset="-122"/>
                <a:cs typeface="Calibri" pitchFamily="34" charset="-120"/>
              </a:rPr>
              <a:t>The sentence shows in Ol Chiki</a:t>
            </a:r>
            <a:endParaRPr lang="en-US" sz="1150" dirty="0"/>
          </a:p>
          <a:p>
            <a:pPr marL="0" indent="0">
              <a:lnSpc>
                <a:spcPts val="1600"/>
              </a:lnSpc>
              <a:buNone/>
            </a:pPr>
            <a:r>
              <a:rPr lang="en-US" sz="1150" dirty="0">
                <a:solidFill>
                  <a:srgbClr val="6B6B6B"/>
                </a:solidFill>
                <a:latin typeface="Calibri" pitchFamily="34" charset="0"/>
                <a:ea typeface="Calibri" pitchFamily="34" charset="-122"/>
                <a:cs typeface="Calibri" pitchFamily="34" charset="-120"/>
              </a:rPr>
              <a:t>script, labelled Verified, with the</a:t>
            </a:r>
            <a:endParaRPr lang="en-US" sz="1150" dirty="0"/>
          </a:p>
          <a:p>
            <a:pPr marL="0" indent="0">
              <a:lnSpc>
                <a:spcPts val="1600"/>
              </a:lnSpc>
              <a:buNone/>
            </a:pPr>
            <a:r>
              <a:rPr lang="en-US" sz="1150" dirty="0">
                <a:solidFill>
                  <a:srgbClr val="6B6B6B"/>
                </a:solidFill>
                <a:latin typeface="Calibri" pitchFamily="34" charset="0"/>
                <a:ea typeface="Calibri" pitchFamily="34" charset="-122"/>
                <a:cs typeface="Calibri" pitchFamily="34" charset="-120"/>
              </a:rPr>
              <a:t>Hindi kept above it.</a:t>
            </a:r>
            <a:endParaRPr lang="en-US" sz="1150" dirty="0"/>
          </a:p>
        </p:txBody>
      </p:sp>
      <p:sp>
        <p:nvSpPr>
          <p:cNvPr id="15" name="Text 13"/>
          <p:cNvSpPr/>
          <p:nvPr/>
        </p:nvSpPr>
        <p:spPr>
          <a:xfrm>
            <a:off x="6007608" y="3063240"/>
            <a:ext cx="219456" cy="365760"/>
          </a:xfrm>
          <a:prstGeom prst="rect">
            <a:avLst/>
          </a:prstGeom>
          <a:noFill/>
          <a:ln/>
        </p:spPr>
        <p:txBody>
          <a:bodyPr wrap="square" lIns="0" tIns="0" rIns="0" bIns="0" rtlCol="0" anchor="ctr"/>
          <a:lstStyle/>
          <a:p>
            <a:pPr marL="0" indent="0" algn="ctr">
              <a:buNone/>
            </a:pPr>
            <a:r>
              <a:rPr lang="en-US" sz="2400" b="1" dirty="0">
                <a:solidFill>
                  <a:srgbClr val="E9A03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6217920" y="1874520"/>
            <a:ext cx="2560320" cy="2880360"/>
          </a:xfrm>
          <a:prstGeom prst="roundRect">
            <a:avLst>
              <a:gd name="adj" fmla="val 2857"/>
            </a:avLst>
          </a:prstGeom>
          <a:solidFill>
            <a:srgbClr val="F7F7F5"/>
          </a:solidFill>
          <a:ln w="9525">
            <a:solidFill>
              <a:srgbClr val="DCDCDC"/>
            </a:solidFill>
            <a:prstDash val="solid"/>
          </a:ln>
        </p:spPr>
      </p:sp>
      <p:sp>
        <p:nvSpPr>
          <p:cNvPr id="17" name="Shape 15"/>
          <p:cNvSpPr/>
          <p:nvPr/>
        </p:nvSpPr>
        <p:spPr>
          <a:xfrm>
            <a:off x="6446520" y="2103120"/>
            <a:ext cx="566928" cy="566928"/>
          </a:xfrm>
          <a:prstGeom prst="ellipse">
            <a:avLst/>
          </a:prstGeom>
          <a:solidFill>
            <a:srgbClr val="B85042"/>
          </a:solidFill>
          <a:ln/>
          <a:effectLst>
            <a:outerShdw blurRad="152400" dist="38100" dir="5400000" algn="bl" rotWithShape="0">
              <a:srgbClr val="000000">
                <a:alpha val="12000"/>
              </a:srgbClr>
            </a:outerShdw>
          </a:effectLst>
        </p:spPr>
      </p:sp>
      <p:sp>
        <p:nvSpPr>
          <p:cNvPr id="18" name="Text 16"/>
          <p:cNvSpPr/>
          <p:nvPr/>
        </p:nvSpPr>
        <p:spPr>
          <a:xfrm>
            <a:off x="6446520" y="2103120"/>
            <a:ext cx="566928" cy="56692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9" name="Text 17"/>
          <p:cNvSpPr/>
          <p:nvPr/>
        </p:nvSpPr>
        <p:spPr>
          <a:xfrm>
            <a:off x="6446520" y="2816352"/>
            <a:ext cx="2121408" cy="548640"/>
          </a:xfrm>
          <a:prstGeom prst="rect">
            <a:avLst/>
          </a:prstGeom>
          <a:noFill/>
          <a:ln/>
        </p:spPr>
        <p:txBody>
          <a:bodyPr wrap="square" lIns="0" tIns="0" rIns="0" bIns="0" rtlCol="0" anchor="ctr"/>
          <a:lstStyle/>
          <a:p>
            <a:pPr marL="0" indent="0">
              <a:buNone/>
            </a:pPr>
            <a:r>
              <a:rPr lang="en-US" sz="1500" b="1" dirty="0">
                <a:solidFill>
                  <a:srgbClr val="1C1C1C"/>
                </a:solidFill>
                <a:latin typeface="Cambria" pitchFamily="34" charset="0"/>
                <a:ea typeface="Cambria" pitchFamily="34" charset="-122"/>
                <a:cs typeface="Cambria" pitchFamily="34" charset="-120"/>
              </a:rPr>
              <a:t>The class hears it</a:t>
            </a:r>
            <a:endParaRPr lang="en-US" sz="1500" dirty="0"/>
          </a:p>
        </p:txBody>
      </p:sp>
      <p:sp>
        <p:nvSpPr>
          <p:cNvPr id="20" name="Text 18"/>
          <p:cNvSpPr/>
          <p:nvPr/>
        </p:nvSpPr>
        <p:spPr>
          <a:xfrm>
            <a:off x="6446520" y="3364992"/>
            <a:ext cx="2121408" cy="1234440"/>
          </a:xfrm>
          <a:prstGeom prst="rect">
            <a:avLst/>
          </a:prstGeom>
          <a:noFill/>
          <a:ln/>
        </p:spPr>
        <p:txBody>
          <a:bodyPr wrap="square" lIns="0" tIns="0" rIns="0" bIns="0" rtlCol="0" anchor="t"/>
          <a:lstStyle/>
          <a:p>
            <a:pPr marL="0" indent="0">
              <a:lnSpc>
                <a:spcPts val="1600"/>
              </a:lnSpc>
              <a:buNone/>
            </a:pPr>
            <a:r>
              <a:rPr lang="en-US" sz="1150" dirty="0">
                <a:solidFill>
                  <a:srgbClr val="6B6B6B"/>
                </a:solidFill>
                <a:latin typeface="Calibri" pitchFamily="34" charset="0"/>
                <a:ea typeface="Calibri" pitchFamily="34" charset="-122"/>
                <a:cs typeface="Calibri" pitchFamily="34" charset="-120"/>
              </a:rPr>
              <a:t>Pre-rendered Santali audio plays</a:t>
            </a:r>
            <a:endParaRPr lang="en-US" sz="1150" dirty="0"/>
          </a:p>
          <a:p>
            <a:pPr marL="0" indent="0">
              <a:lnSpc>
                <a:spcPts val="1600"/>
              </a:lnSpc>
              <a:buNone/>
            </a:pPr>
            <a:r>
              <a:rPr lang="en-US" sz="1150" dirty="0">
                <a:solidFill>
                  <a:srgbClr val="6B6B6B"/>
                </a:solidFill>
                <a:latin typeface="Calibri" pitchFamily="34" charset="0"/>
                <a:ea typeface="Calibri" pitchFamily="34" charset="-122"/>
                <a:cs typeface="Calibri" pitchFamily="34" charset="-120"/>
              </a:rPr>
              <a:t>from the device. No network, no</a:t>
            </a:r>
            <a:endParaRPr lang="en-US" sz="1150" dirty="0"/>
          </a:p>
          <a:p>
            <a:pPr marL="0" indent="0">
              <a:lnSpc>
                <a:spcPts val="1600"/>
              </a:lnSpc>
              <a:buNone/>
            </a:pPr>
            <a:r>
              <a:rPr lang="en-US" sz="1150" dirty="0">
                <a:solidFill>
                  <a:srgbClr val="6B6B6B"/>
                </a:solidFill>
                <a:latin typeface="Calibri" pitchFamily="34" charset="0"/>
                <a:ea typeface="Calibri" pitchFamily="34" charset="-122"/>
                <a:cs typeface="Calibri" pitchFamily="34" charset="-120"/>
              </a:rPr>
              <a:t>waiting, no model loading.</a:t>
            </a:r>
            <a:endParaRPr lang="en-US" sz="1150" dirty="0"/>
          </a:p>
        </p:txBody>
      </p:sp>
      <p:sp>
        <p:nvSpPr>
          <p:cNvPr id="21" name="Text 19"/>
          <p:cNvSpPr/>
          <p:nvPr/>
        </p:nvSpPr>
        <p:spPr>
          <a:xfrm>
            <a:off x="8796528" y="3063240"/>
            <a:ext cx="219456" cy="365760"/>
          </a:xfrm>
          <a:prstGeom prst="rect">
            <a:avLst/>
          </a:prstGeom>
          <a:noFill/>
          <a:ln/>
        </p:spPr>
        <p:txBody>
          <a:bodyPr wrap="square" lIns="0" tIns="0" rIns="0" bIns="0" rtlCol="0" anchor="ctr"/>
          <a:lstStyle/>
          <a:p>
            <a:pPr marL="0" indent="0" algn="ctr">
              <a:buNone/>
            </a:pPr>
            <a:r>
              <a:rPr lang="en-US" sz="2400" b="1" dirty="0">
                <a:solidFill>
                  <a:srgbClr val="E9A03B"/>
                </a:solidFill>
                <a:latin typeface="Calibri" pitchFamily="34" charset="0"/>
                <a:ea typeface="Calibri" pitchFamily="34" charset="-122"/>
                <a:cs typeface="Calibri" pitchFamily="34" charset="-120"/>
              </a:rPr>
              <a:t>›</a:t>
            </a:r>
            <a:endParaRPr lang="en-US" sz="2400" dirty="0"/>
          </a:p>
        </p:txBody>
      </p:sp>
      <p:sp>
        <p:nvSpPr>
          <p:cNvPr id="22" name="Shape 20"/>
          <p:cNvSpPr/>
          <p:nvPr/>
        </p:nvSpPr>
        <p:spPr>
          <a:xfrm>
            <a:off x="9006840" y="1874520"/>
            <a:ext cx="2560320" cy="2880360"/>
          </a:xfrm>
          <a:prstGeom prst="roundRect">
            <a:avLst>
              <a:gd name="adj" fmla="val 2857"/>
            </a:avLst>
          </a:prstGeom>
          <a:solidFill>
            <a:srgbClr val="F7F7F5"/>
          </a:solidFill>
          <a:ln w="9525">
            <a:solidFill>
              <a:srgbClr val="DCDCDC"/>
            </a:solidFill>
            <a:prstDash val="solid"/>
          </a:ln>
        </p:spPr>
      </p:sp>
      <p:sp>
        <p:nvSpPr>
          <p:cNvPr id="23" name="Shape 21"/>
          <p:cNvSpPr/>
          <p:nvPr/>
        </p:nvSpPr>
        <p:spPr>
          <a:xfrm>
            <a:off x="9235440" y="2103120"/>
            <a:ext cx="566928" cy="566928"/>
          </a:xfrm>
          <a:prstGeom prst="ellipse">
            <a:avLst/>
          </a:prstGeom>
          <a:solidFill>
            <a:srgbClr val="B85042"/>
          </a:solidFill>
          <a:ln/>
          <a:effectLst>
            <a:outerShdw blurRad="152400" dist="38100" dir="5400000" algn="bl" rotWithShape="0">
              <a:srgbClr val="000000">
                <a:alpha val="12000"/>
              </a:srgbClr>
            </a:outerShdw>
          </a:effectLst>
        </p:spPr>
      </p:sp>
      <p:sp>
        <p:nvSpPr>
          <p:cNvPr id="24" name="Text 22"/>
          <p:cNvSpPr/>
          <p:nvPr/>
        </p:nvSpPr>
        <p:spPr>
          <a:xfrm>
            <a:off x="9235440" y="2103120"/>
            <a:ext cx="566928" cy="566928"/>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5" name="Text 23"/>
          <p:cNvSpPr/>
          <p:nvPr/>
        </p:nvSpPr>
        <p:spPr>
          <a:xfrm>
            <a:off x="9235440" y="2816352"/>
            <a:ext cx="2121408" cy="548640"/>
          </a:xfrm>
          <a:prstGeom prst="rect">
            <a:avLst/>
          </a:prstGeom>
          <a:noFill/>
          <a:ln/>
        </p:spPr>
        <p:txBody>
          <a:bodyPr wrap="square" lIns="0" tIns="0" rIns="0" bIns="0" rtlCol="0" anchor="ctr"/>
          <a:lstStyle/>
          <a:p>
            <a:pPr marL="0" indent="0">
              <a:buNone/>
            </a:pPr>
            <a:r>
              <a:rPr lang="en-US" sz="1500" b="1" dirty="0">
                <a:solidFill>
                  <a:srgbClr val="1C1C1C"/>
                </a:solidFill>
                <a:latin typeface="Cambria" pitchFamily="34" charset="0"/>
                <a:ea typeface="Cambria" pitchFamily="34" charset="-122"/>
                <a:cs typeface="Cambria" pitchFamily="34" charset="-120"/>
              </a:rPr>
              <a:t>A child answers back</a:t>
            </a:r>
            <a:endParaRPr lang="en-US" sz="1500" dirty="0"/>
          </a:p>
        </p:txBody>
      </p:sp>
      <p:sp>
        <p:nvSpPr>
          <p:cNvPr id="26" name="Text 24"/>
          <p:cNvSpPr/>
          <p:nvPr/>
        </p:nvSpPr>
        <p:spPr>
          <a:xfrm>
            <a:off x="9235440" y="3364992"/>
            <a:ext cx="2121408" cy="1234440"/>
          </a:xfrm>
          <a:prstGeom prst="rect">
            <a:avLst/>
          </a:prstGeom>
          <a:noFill/>
          <a:ln/>
        </p:spPr>
        <p:txBody>
          <a:bodyPr wrap="square" lIns="0" tIns="0" rIns="0" bIns="0" rtlCol="0" anchor="t"/>
          <a:lstStyle/>
          <a:p>
            <a:pPr marL="0" indent="0">
              <a:lnSpc>
                <a:spcPts val="1600"/>
              </a:lnSpc>
              <a:buNone/>
            </a:pPr>
            <a:r>
              <a:rPr lang="en-US" sz="1150" dirty="0">
                <a:solidFill>
                  <a:srgbClr val="6B6B6B"/>
                </a:solidFill>
                <a:latin typeface="Calibri" pitchFamily="34" charset="0"/>
                <a:ea typeface="Calibri" pitchFamily="34" charset="-122"/>
                <a:cs typeface="Calibri" pitchFamily="34" charset="-120"/>
              </a:rPr>
              <a:t>The child speaks Santali and the</a:t>
            </a:r>
            <a:endParaRPr lang="en-US" sz="1150" dirty="0"/>
          </a:p>
          <a:p>
            <a:pPr marL="0" indent="0">
              <a:lnSpc>
                <a:spcPts val="1600"/>
              </a:lnSpc>
              <a:buNone/>
            </a:pPr>
            <a:r>
              <a:rPr lang="en-US" sz="1150" dirty="0">
                <a:solidFill>
                  <a:srgbClr val="6B6B6B"/>
                </a:solidFill>
                <a:latin typeface="Calibri" pitchFamily="34" charset="0"/>
                <a:ea typeface="Calibri" pitchFamily="34" charset="-122"/>
                <a:cs typeface="Calibri" pitchFamily="34" charset="-120"/>
              </a:rPr>
              <a:t>teacher reads it in Hindi. The</a:t>
            </a:r>
            <a:endParaRPr lang="en-US" sz="1150" dirty="0"/>
          </a:p>
          <a:p>
            <a:pPr marL="0" indent="0">
              <a:lnSpc>
                <a:spcPts val="1600"/>
              </a:lnSpc>
              <a:buNone/>
            </a:pPr>
            <a:r>
              <a:rPr lang="en-US" sz="1150" dirty="0">
                <a:solidFill>
                  <a:srgbClr val="6B6B6B"/>
                </a:solidFill>
                <a:latin typeface="Calibri" pitchFamily="34" charset="0"/>
                <a:ea typeface="Calibri" pitchFamily="34" charset="-122"/>
                <a:cs typeface="Calibri" pitchFamily="34" charset="-120"/>
              </a:rPr>
              <a:t>conversation goes both ways.</a:t>
            </a:r>
            <a:endParaRPr lang="en-US" sz="1150" dirty="0"/>
          </a:p>
        </p:txBody>
      </p:sp>
      <p:sp>
        <p:nvSpPr>
          <p:cNvPr id="27" name="Shape 25"/>
          <p:cNvSpPr/>
          <p:nvPr/>
        </p:nvSpPr>
        <p:spPr>
          <a:xfrm>
            <a:off x="640080" y="5074920"/>
            <a:ext cx="10881360" cy="777240"/>
          </a:xfrm>
          <a:prstGeom prst="roundRect">
            <a:avLst>
              <a:gd name="adj" fmla="val 7059"/>
            </a:avLst>
          </a:prstGeom>
          <a:solidFill>
            <a:srgbClr val="F0F5F1"/>
          </a:solidFill>
          <a:ln w="9525">
            <a:solidFill>
              <a:srgbClr val="CFE0D6"/>
            </a:solidFill>
            <a:prstDash val="solid"/>
          </a:ln>
        </p:spPr>
      </p:sp>
      <p:sp>
        <p:nvSpPr>
          <p:cNvPr id="28" name="Text 26"/>
          <p:cNvSpPr/>
          <p:nvPr/>
        </p:nvSpPr>
        <p:spPr>
          <a:xfrm>
            <a:off x="914400" y="5239512"/>
            <a:ext cx="10332720" cy="457200"/>
          </a:xfrm>
          <a:prstGeom prst="rect">
            <a:avLst/>
          </a:prstGeom>
          <a:noFill/>
          <a:ln/>
        </p:spPr>
        <p:txBody>
          <a:bodyPr wrap="square" lIns="0" tIns="0" rIns="0" bIns="0" rtlCol="0" anchor="ctr"/>
          <a:lstStyle/>
          <a:p>
            <a:pPr marL="0" indent="0">
              <a:lnSpc>
                <a:spcPts val="1900"/>
              </a:lnSpc>
              <a:buNone/>
            </a:pPr>
            <a:r>
              <a:rPr lang="en-US" sz="1300" b="1" dirty="0">
                <a:solidFill>
                  <a:srgbClr val="1B4332"/>
                </a:solidFill>
                <a:latin typeface="Calibri" pitchFamily="34" charset="0"/>
                <a:ea typeface="Calibri" pitchFamily="34" charset="-122"/>
                <a:cs typeface="Calibri" pitchFamily="34" charset="-120"/>
              </a:rPr>
              <a:t>Measured, not budgeted.  </a:t>
            </a:r>
            <a:r>
              <a:rPr lang="en-US" sz="1300" dirty="0">
                <a:solidFill>
                  <a:srgbClr val="1C1C1C"/>
                </a:solidFill>
                <a:latin typeface="Calibri" pitchFamily="34" charset="0"/>
                <a:ea typeface="Calibri" pitchFamily="34" charset="-122"/>
                <a:cs typeface="Calibri" pitchFamily="34" charset="-120"/>
              </a:rPr>
              <a:t>Because the content is already on the device, the round trip is a hash lookup and an audio play. We expect roughly 200 ms against a 3,000 ms ceiling, and we will publish the measured figure.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411480"/>
            <a:ext cx="10881360" cy="274320"/>
          </a:xfrm>
          <a:prstGeom prst="rect">
            <a:avLst/>
          </a:prstGeom>
          <a:noFill/>
          <a:ln/>
        </p:spPr>
        <p:txBody>
          <a:bodyPr wrap="square" lIns="0" tIns="0" rIns="0" bIns="0" rtlCol="0" anchor="ctr"/>
          <a:lstStyle/>
          <a:p>
            <a:pPr marL="0" indent="0">
              <a:buNone/>
            </a:pPr>
            <a:r>
              <a:rPr lang="en-US" sz="1200" b="1" kern="0" spc="200" dirty="0">
                <a:solidFill>
                  <a:srgbClr val="B85042"/>
                </a:solidFill>
                <a:latin typeface="Calibri" pitchFamily="34" charset="0"/>
                <a:ea typeface="Calibri" pitchFamily="34" charset="-122"/>
                <a:cs typeface="Calibri" pitchFamily="34" charset="-120"/>
              </a:rPr>
              <a:t>THE PRODUCT</a:t>
            </a:r>
            <a:endParaRPr lang="en-US" sz="1200" dirty="0"/>
          </a:p>
        </p:txBody>
      </p:sp>
      <p:sp>
        <p:nvSpPr>
          <p:cNvPr id="3" name="Text 1"/>
          <p:cNvSpPr/>
          <p:nvPr/>
        </p:nvSpPr>
        <p:spPr>
          <a:xfrm>
            <a:off x="640080" y="713232"/>
            <a:ext cx="10881360" cy="777240"/>
          </a:xfrm>
          <a:prstGeom prst="rect">
            <a:avLst/>
          </a:prstGeom>
          <a:noFill/>
          <a:ln/>
        </p:spPr>
        <p:txBody>
          <a:bodyPr wrap="square" lIns="0" tIns="0" rIns="0" bIns="0" rtlCol="0" anchor="ctr"/>
          <a:lstStyle/>
          <a:p>
            <a:pPr marL="0" indent="0">
              <a:buNone/>
            </a:pPr>
            <a:r>
              <a:rPr lang="en-US" sz="3400" b="1" dirty="0">
                <a:solidFill>
                  <a:srgbClr val="1C1C1C"/>
                </a:solidFill>
                <a:latin typeface="Cambria" pitchFamily="34" charset="0"/>
                <a:ea typeface="Cambria" pitchFamily="34" charset="-122"/>
                <a:cs typeface="Cambria" pitchFamily="34" charset="-120"/>
              </a:rPr>
              <a:t>One screen, and one promise on it</a:t>
            </a:r>
            <a:endParaRPr lang="en-US" sz="3400" dirty="0"/>
          </a:p>
        </p:txBody>
      </p:sp>
      <p:pic>
        <p:nvPicPr>
          <p:cNvPr id="4" name="Image 0" descr="mock-screen.png"/>
          <p:cNvPicPr>
            <a:picLocks noChangeAspect="1"/>
          </p:cNvPicPr>
          <p:nvPr/>
        </p:nvPicPr>
        <p:blipFill>
          <a:blip r:embed="rId3"/>
          <a:stretch>
            <a:fillRect/>
          </a:stretch>
        </p:blipFill>
        <p:spPr>
          <a:xfrm>
            <a:off x="777240" y="1691640"/>
            <a:ext cx="3246120" cy="3977640"/>
          </a:xfrm>
          <a:prstGeom prst="rect">
            <a:avLst/>
          </a:prstGeom>
        </p:spPr>
      </p:pic>
      <p:sp>
        <p:nvSpPr>
          <p:cNvPr id="5" name="Shape 2"/>
          <p:cNvSpPr/>
          <p:nvPr/>
        </p:nvSpPr>
        <p:spPr>
          <a:xfrm>
            <a:off x="4572000" y="1828800"/>
            <a:ext cx="402336" cy="402336"/>
          </a:xfrm>
          <a:prstGeom prst="ellipse">
            <a:avLst/>
          </a:prstGeom>
          <a:solidFill>
            <a:srgbClr val="1B4332"/>
          </a:solidFill>
          <a:ln/>
          <a:effectLst>
            <a:outerShdw blurRad="152400" dist="38100" dir="5400000" algn="bl" rotWithShape="0">
              <a:srgbClr val="000000">
                <a:alpha val="12000"/>
              </a:srgbClr>
            </a:outerShdw>
          </a:effectLst>
        </p:spPr>
      </p:sp>
      <p:sp>
        <p:nvSpPr>
          <p:cNvPr id="6" name="Text 3"/>
          <p:cNvSpPr/>
          <p:nvPr/>
        </p:nvSpPr>
        <p:spPr>
          <a:xfrm>
            <a:off x="4572000" y="182880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4"/>
          <p:cNvSpPr/>
          <p:nvPr/>
        </p:nvSpPr>
        <p:spPr>
          <a:xfrm>
            <a:off x="5138928" y="1783080"/>
            <a:ext cx="6400800" cy="292608"/>
          </a:xfrm>
          <a:prstGeom prst="rect">
            <a:avLst/>
          </a:prstGeom>
          <a:noFill/>
          <a:ln/>
        </p:spPr>
        <p:txBody>
          <a:bodyPr wrap="square" lIns="0" tIns="0" rIns="0" bIns="0" rtlCol="0" anchor="t"/>
          <a:lstStyle/>
          <a:p>
            <a:pPr marL="0" indent="0">
              <a:buNone/>
            </a:pPr>
            <a:r>
              <a:rPr lang="en-US" sz="1500" b="1" dirty="0">
                <a:solidFill>
                  <a:srgbClr val="1C1C1C"/>
                </a:solidFill>
                <a:latin typeface="Cambria" pitchFamily="34" charset="0"/>
                <a:ea typeface="Cambria" pitchFamily="34" charset="-122"/>
                <a:cs typeface="Cambria" pitchFamily="34" charset="-120"/>
              </a:rPr>
              <a:t>Hindi stays on screen</a:t>
            </a:r>
            <a:endParaRPr lang="en-US" sz="1500" dirty="0"/>
          </a:p>
        </p:txBody>
      </p:sp>
      <p:sp>
        <p:nvSpPr>
          <p:cNvPr id="8" name="Text 5"/>
          <p:cNvSpPr/>
          <p:nvPr/>
        </p:nvSpPr>
        <p:spPr>
          <a:xfrm>
            <a:off x="5138928" y="2093976"/>
            <a:ext cx="6400800" cy="621792"/>
          </a:xfrm>
          <a:prstGeom prst="rect">
            <a:avLst/>
          </a:prstGeom>
          <a:noFill/>
          <a:ln/>
        </p:spPr>
        <p:txBody>
          <a:bodyPr wrap="square" lIns="0" tIns="0" rIns="0" bIns="0" rtlCol="0" anchor="t"/>
          <a:lstStyle/>
          <a:p>
            <a:pPr marL="0" indent="0">
              <a:lnSpc>
                <a:spcPts val="1600"/>
              </a:lnSpc>
              <a:buNone/>
            </a:pPr>
            <a:r>
              <a:rPr lang="en-US" sz="1200" dirty="0">
                <a:solidFill>
                  <a:srgbClr val="6B6B6B"/>
                </a:solidFill>
                <a:latin typeface="Calibri" pitchFamily="34" charset="0"/>
                <a:ea typeface="Calibri" pitchFamily="34" charset="-122"/>
                <a:cs typeface="Calibri" pitchFamily="34" charset="-120"/>
              </a:rPr>
              <a:t>The teacher keeps her own words in view, so she always knows what was sent.</a:t>
            </a:r>
            <a:endParaRPr lang="en-US" sz="1200" dirty="0"/>
          </a:p>
        </p:txBody>
      </p:sp>
      <p:sp>
        <p:nvSpPr>
          <p:cNvPr id="9" name="Shape 6"/>
          <p:cNvSpPr/>
          <p:nvPr/>
        </p:nvSpPr>
        <p:spPr>
          <a:xfrm>
            <a:off x="4572000" y="2816352"/>
            <a:ext cx="402336" cy="402336"/>
          </a:xfrm>
          <a:prstGeom prst="ellipse">
            <a:avLst/>
          </a:prstGeom>
          <a:solidFill>
            <a:srgbClr val="1B4332"/>
          </a:solidFill>
          <a:ln/>
          <a:effectLst>
            <a:outerShdw blurRad="152400" dist="38100" dir="5400000" algn="bl" rotWithShape="0">
              <a:srgbClr val="000000">
                <a:alpha val="12000"/>
              </a:srgbClr>
            </a:outerShdw>
          </a:effectLst>
        </p:spPr>
      </p:sp>
      <p:sp>
        <p:nvSpPr>
          <p:cNvPr id="10" name="Text 7"/>
          <p:cNvSpPr/>
          <p:nvPr/>
        </p:nvSpPr>
        <p:spPr>
          <a:xfrm>
            <a:off x="4572000" y="2816352"/>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1" name="Text 8"/>
          <p:cNvSpPr/>
          <p:nvPr/>
        </p:nvSpPr>
        <p:spPr>
          <a:xfrm>
            <a:off x="5138928" y="2770632"/>
            <a:ext cx="6400800" cy="292608"/>
          </a:xfrm>
          <a:prstGeom prst="rect">
            <a:avLst/>
          </a:prstGeom>
          <a:noFill/>
          <a:ln/>
        </p:spPr>
        <p:txBody>
          <a:bodyPr wrap="square" lIns="0" tIns="0" rIns="0" bIns="0" rtlCol="0" anchor="t"/>
          <a:lstStyle/>
          <a:p>
            <a:pPr marL="0" indent="0">
              <a:buNone/>
            </a:pPr>
            <a:r>
              <a:rPr lang="en-US" sz="1500" b="1" dirty="0">
                <a:solidFill>
                  <a:srgbClr val="1C1C1C"/>
                </a:solidFill>
                <a:latin typeface="Cambria" pitchFamily="34" charset="0"/>
                <a:ea typeface="Cambria" pitchFamily="34" charset="-122"/>
                <a:cs typeface="Cambria" pitchFamily="34" charset="-120"/>
              </a:rPr>
              <a:t>Ol Chiki, in the real script</a:t>
            </a:r>
            <a:endParaRPr lang="en-US" sz="1500" dirty="0"/>
          </a:p>
        </p:txBody>
      </p:sp>
      <p:sp>
        <p:nvSpPr>
          <p:cNvPr id="12" name="Text 9"/>
          <p:cNvSpPr/>
          <p:nvPr/>
        </p:nvSpPr>
        <p:spPr>
          <a:xfrm>
            <a:off x="5138928" y="3081528"/>
            <a:ext cx="6400800" cy="621792"/>
          </a:xfrm>
          <a:prstGeom prst="rect">
            <a:avLst/>
          </a:prstGeom>
          <a:noFill/>
          <a:ln/>
        </p:spPr>
        <p:txBody>
          <a:bodyPr wrap="square" lIns="0" tIns="0" rIns="0" bIns="0" rtlCol="0" anchor="t"/>
          <a:lstStyle/>
          <a:p>
            <a:pPr marL="0" indent="0">
              <a:lnSpc>
                <a:spcPts val="1600"/>
              </a:lnSpc>
              <a:buNone/>
            </a:pPr>
            <a:r>
              <a:rPr lang="en-US" sz="1200" dirty="0">
                <a:solidFill>
                  <a:srgbClr val="6B6B6B"/>
                </a:solidFill>
                <a:latin typeface="Calibri" pitchFamily="34" charset="0"/>
                <a:ea typeface="Calibri" pitchFamily="34" charset="-122"/>
                <a:cs typeface="Calibri" pitchFamily="34" charset="-120"/>
              </a:rPr>
              <a:t>Rendered with Noto Sans Ol Chiki, bundled in the APK. Android ships no Ol Chiki font, so without it every character would be an empty box.</a:t>
            </a:r>
            <a:endParaRPr lang="en-US" sz="1200" dirty="0"/>
          </a:p>
        </p:txBody>
      </p:sp>
      <p:sp>
        <p:nvSpPr>
          <p:cNvPr id="13" name="Shape 10"/>
          <p:cNvSpPr/>
          <p:nvPr/>
        </p:nvSpPr>
        <p:spPr>
          <a:xfrm>
            <a:off x="4572000" y="3803904"/>
            <a:ext cx="402336" cy="402336"/>
          </a:xfrm>
          <a:prstGeom prst="ellipse">
            <a:avLst/>
          </a:prstGeom>
          <a:solidFill>
            <a:srgbClr val="1B4332"/>
          </a:solidFill>
          <a:ln/>
          <a:effectLst>
            <a:outerShdw blurRad="152400" dist="38100" dir="5400000" algn="bl" rotWithShape="0">
              <a:srgbClr val="000000">
                <a:alpha val="12000"/>
              </a:srgbClr>
            </a:outerShdw>
          </a:effectLst>
        </p:spPr>
      </p:sp>
      <p:sp>
        <p:nvSpPr>
          <p:cNvPr id="14" name="Text 11"/>
          <p:cNvSpPr/>
          <p:nvPr/>
        </p:nvSpPr>
        <p:spPr>
          <a:xfrm>
            <a:off x="4572000" y="380390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5" name="Text 12"/>
          <p:cNvSpPr/>
          <p:nvPr/>
        </p:nvSpPr>
        <p:spPr>
          <a:xfrm>
            <a:off x="5138928" y="3758184"/>
            <a:ext cx="6400800" cy="292608"/>
          </a:xfrm>
          <a:prstGeom prst="rect">
            <a:avLst/>
          </a:prstGeom>
          <a:noFill/>
          <a:ln/>
        </p:spPr>
        <p:txBody>
          <a:bodyPr wrap="square" lIns="0" tIns="0" rIns="0" bIns="0" rtlCol="0" anchor="t"/>
          <a:lstStyle/>
          <a:p>
            <a:pPr marL="0" indent="0">
              <a:buNone/>
            </a:pPr>
            <a:r>
              <a:rPr lang="en-US" sz="1500" b="1" dirty="0">
                <a:solidFill>
                  <a:srgbClr val="1C1C1C"/>
                </a:solidFill>
                <a:latin typeface="Cambria" pitchFamily="34" charset="0"/>
                <a:ea typeface="Cambria" pitchFamily="34" charset="-122"/>
                <a:cs typeface="Cambria" pitchFamily="34" charset="-120"/>
              </a:rPr>
              <a:t>The provenance chip</a:t>
            </a:r>
            <a:endParaRPr lang="en-US" sz="1500" dirty="0"/>
          </a:p>
        </p:txBody>
      </p:sp>
      <p:sp>
        <p:nvSpPr>
          <p:cNvPr id="16" name="Text 13"/>
          <p:cNvSpPr/>
          <p:nvPr/>
        </p:nvSpPr>
        <p:spPr>
          <a:xfrm>
            <a:off x="5138928" y="4069080"/>
            <a:ext cx="6400800" cy="621792"/>
          </a:xfrm>
          <a:prstGeom prst="rect">
            <a:avLst/>
          </a:prstGeom>
          <a:noFill/>
          <a:ln/>
        </p:spPr>
        <p:txBody>
          <a:bodyPr wrap="square" lIns="0" tIns="0" rIns="0" bIns="0" rtlCol="0" anchor="t"/>
          <a:lstStyle/>
          <a:p>
            <a:pPr marL="0" indent="0">
              <a:lnSpc>
                <a:spcPts val="1600"/>
              </a:lnSpc>
              <a:buNone/>
            </a:pPr>
            <a:r>
              <a:rPr lang="en-US" sz="1200" dirty="0">
                <a:solidFill>
                  <a:srgbClr val="6B6B6B"/>
                </a:solidFill>
                <a:latin typeface="Calibri" pitchFamily="34" charset="0"/>
                <a:ea typeface="Calibri" pitchFamily="34" charset="-122"/>
                <a:cs typeface="Calibri" pitchFamily="34" charset="-120"/>
              </a:rPr>
              <a:t>Green means this came from Bhashini and is traceable to a service ID. It is the first thing we built and the last thing we would remove.</a:t>
            </a:r>
            <a:endParaRPr lang="en-US" sz="1200" dirty="0"/>
          </a:p>
        </p:txBody>
      </p:sp>
      <p:sp>
        <p:nvSpPr>
          <p:cNvPr id="17" name="Shape 14"/>
          <p:cNvSpPr/>
          <p:nvPr/>
        </p:nvSpPr>
        <p:spPr>
          <a:xfrm>
            <a:off x="4572000" y="4791456"/>
            <a:ext cx="402336" cy="402336"/>
          </a:xfrm>
          <a:prstGeom prst="ellipse">
            <a:avLst/>
          </a:prstGeom>
          <a:solidFill>
            <a:srgbClr val="1B4332"/>
          </a:solidFill>
          <a:ln/>
          <a:effectLst>
            <a:outerShdw blurRad="152400" dist="38100" dir="5400000" algn="bl" rotWithShape="0">
              <a:srgbClr val="000000">
                <a:alpha val="12000"/>
              </a:srgbClr>
            </a:outerShdw>
          </a:effectLst>
        </p:spPr>
      </p:sp>
      <p:sp>
        <p:nvSpPr>
          <p:cNvPr id="18" name="Text 15"/>
          <p:cNvSpPr/>
          <p:nvPr/>
        </p:nvSpPr>
        <p:spPr>
          <a:xfrm>
            <a:off x="4572000" y="479145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9" name="Text 16"/>
          <p:cNvSpPr/>
          <p:nvPr/>
        </p:nvSpPr>
        <p:spPr>
          <a:xfrm>
            <a:off x="5138928" y="4745736"/>
            <a:ext cx="6400800" cy="292608"/>
          </a:xfrm>
          <a:prstGeom prst="rect">
            <a:avLst/>
          </a:prstGeom>
          <a:noFill/>
          <a:ln/>
        </p:spPr>
        <p:txBody>
          <a:bodyPr wrap="square" lIns="0" tIns="0" rIns="0" bIns="0" rtlCol="0" anchor="t"/>
          <a:lstStyle/>
          <a:p>
            <a:pPr marL="0" indent="0">
              <a:buNone/>
            </a:pPr>
            <a:r>
              <a:rPr lang="en-US" sz="1500" b="1" dirty="0">
                <a:solidFill>
                  <a:srgbClr val="1C1C1C"/>
                </a:solidFill>
                <a:latin typeface="Cambria" pitchFamily="34" charset="0"/>
                <a:ea typeface="Cambria" pitchFamily="34" charset="-122"/>
                <a:cs typeface="Cambria" pitchFamily="34" charset="-120"/>
              </a:rPr>
              <a:t>Press to talk, nothing to configure</a:t>
            </a:r>
            <a:endParaRPr lang="en-US" sz="1500" dirty="0"/>
          </a:p>
        </p:txBody>
      </p:sp>
      <p:sp>
        <p:nvSpPr>
          <p:cNvPr id="20" name="Text 17"/>
          <p:cNvSpPr/>
          <p:nvPr/>
        </p:nvSpPr>
        <p:spPr>
          <a:xfrm>
            <a:off x="5138928" y="5056632"/>
            <a:ext cx="6400800" cy="621792"/>
          </a:xfrm>
          <a:prstGeom prst="rect">
            <a:avLst/>
          </a:prstGeom>
          <a:noFill/>
          <a:ln/>
        </p:spPr>
        <p:txBody>
          <a:bodyPr wrap="square" lIns="0" tIns="0" rIns="0" bIns="0" rtlCol="0" anchor="t"/>
          <a:lstStyle/>
          <a:p>
            <a:pPr marL="0" indent="0">
              <a:lnSpc>
                <a:spcPts val="1600"/>
              </a:lnSpc>
              <a:buNone/>
            </a:pPr>
            <a:r>
              <a:rPr lang="en-US" sz="1200" dirty="0">
                <a:solidFill>
                  <a:srgbClr val="6B6B6B"/>
                </a:solidFill>
                <a:latin typeface="Calibri" pitchFamily="34" charset="0"/>
                <a:ea typeface="Calibri" pitchFamily="34" charset="-122"/>
                <a:cs typeface="Calibri" pitchFamily="34" charset="-120"/>
              </a:rPr>
              <a:t>No language field, no settings, no typing in a script she cannot read.</a:t>
            </a:r>
            <a:endParaRPr lang="en-US" sz="1200" dirty="0"/>
          </a:p>
        </p:txBody>
      </p:sp>
      <p:sp>
        <p:nvSpPr>
          <p:cNvPr id="21" name="Text 18"/>
          <p:cNvSpPr/>
          <p:nvPr/>
        </p:nvSpPr>
        <p:spPr>
          <a:xfrm>
            <a:off x="777240" y="5852160"/>
            <a:ext cx="10744200" cy="640080"/>
          </a:xfrm>
          <a:prstGeom prst="rect">
            <a:avLst/>
          </a:prstGeom>
          <a:noFill/>
          <a:ln/>
        </p:spPr>
        <p:txBody>
          <a:bodyPr wrap="square" lIns="0" tIns="0" rIns="0" bIns="0" rtlCol="0" anchor="ctr"/>
          <a:lstStyle/>
          <a:p>
            <a:pPr marL="0" indent="0">
              <a:lnSpc>
                <a:spcPts val="1800"/>
              </a:lnSpc>
              <a:buNone/>
            </a:pPr>
            <a:r>
              <a:rPr lang="en-US" sz="1250" i="1" dirty="0">
                <a:solidFill>
                  <a:srgbClr val="1C1C1C"/>
                </a:solidFill>
                <a:latin typeface="Calibri" pitchFamily="34" charset="0"/>
                <a:ea typeface="Calibri" pitchFamily="34" charset="-122"/>
                <a:cs typeface="Calibri" pitchFamily="34" charset="-120"/>
              </a:rPr>
              <a:t>The word on the screen is </a:t>
            </a:r>
            <a:r>
              <a:rPr lang="en-US" sz="1250" b="1" i="1" dirty="0">
                <a:solidFill>
                  <a:srgbClr val="1B4332"/>
                </a:solidFill>
                <a:latin typeface="Calibri" pitchFamily="34" charset="0"/>
                <a:ea typeface="Calibri" pitchFamily="34" charset="-122"/>
                <a:cs typeface="Calibri" pitchFamily="34" charset="-120"/>
              </a:rPr>
              <a:t>johar</a:t>
            </a:r>
            <a:r>
              <a:rPr lang="en-US" sz="1250" i="1" dirty="0">
                <a:solidFill>
                  <a:srgbClr val="1C1C1C"/>
                </a:solidFill>
                <a:latin typeface="Calibri" pitchFamily="34" charset="0"/>
                <a:ea typeface="Calibri" pitchFamily="34" charset="-122"/>
                <a:cs typeface="Calibri" pitchFamily="34" charset="-120"/>
              </a:rPr>
              <a:t>, the greeting shared across Santali, Ho and Mundari. It is the first thing a teacher would say, and it is the only Santali in this deck because it is the only Santali we have verified so far. The rest arrives when the Bhashini pack is built.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411480"/>
            <a:ext cx="10881360" cy="274320"/>
          </a:xfrm>
          <a:prstGeom prst="rect">
            <a:avLst/>
          </a:prstGeom>
          <a:noFill/>
          <a:ln/>
        </p:spPr>
        <p:txBody>
          <a:bodyPr wrap="square" lIns="0" tIns="0" rIns="0" bIns="0" rtlCol="0" anchor="ctr"/>
          <a:lstStyle/>
          <a:p>
            <a:pPr marL="0" indent="0">
              <a:buNone/>
            </a:pPr>
            <a:r>
              <a:rPr lang="en-US" sz="1200" b="1" kern="0" spc="200" dirty="0">
                <a:solidFill>
                  <a:srgbClr val="B85042"/>
                </a:solidFill>
                <a:latin typeface="Calibri" pitchFamily="34" charset="0"/>
                <a:ea typeface="Calibri" pitchFamily="34" charset="-122"/>
                <a:cs typeface="Calibri" pitchFamily="34" charset="-120"/>
              </a:rPr>
              <a:t>BHASHINI IS THE ENGINE</a:t>
            </a:r>
            <a:endParaRPr lang="en-US" sz="1200" dirty="0"/>
          </a:p>
        </p:txBody>
      </p:sp>
      <p:sp>
        <p:nvSpPr>
          <p:cNvPr id="3" name="Text 1"/>
          <p:cNvSpPr/>
          <p:nvPr/>
        </p:nvSpPr>
        <p:spPr>
          <a:xfrm>
            <a:off x="640080" y="713232"/>
            <a:ext cx="10881360" cy="777240"/>
          </a:xfrm>
          <a:prstGeom prst="rect">
            <a:avLst/>
          </a:prstGeom>
          <a:noFill/>
          <a:ln/>
        </p:spPr>
        <p:txBody>
          <a:bodyPr wrap="square" lIns="0" tIns="0" rIns="0" bIns="0" rtlCol="0" anchor="ctr"/>
          <a:lstStyle/>
          <a:p>
            <a:pPr marL="0" indent="0">
              <a:buNone/>
            </a:pPr>
            <a:r>
              <a:rPr lang="en-US" sz="3400" b="1" dirty="0">
                <a:solidFill>
                  <a:srgbClr val="1C1C1C"/>
                </a:solidFill>
                <a:latin typeface="Cambria" pitchFamily="34" charset="0"/>
                <a:ea typeface="Cambria" pitchFamily="34" charset="-122"/>
                <a:cs typeface="Cambria" pitchFamily="34" charset="-120"/>
              </a:rPr>
              <a:t>Four models, all verified available</a:t>
            </a:r>
            <a:endParaRPr lang="en-US" sz="3400" dirty="0"/>
          </a:p>
        </p:txBody>
      </p:sp>
      <p:sp>
        <p:nvSpPr>
          <p:cNvPr id="4" name="Text 2"/>
          <p:cNvSpPr/>
          <p:nvPr/>
        </p:nvSpPr>
        <p:spPr>
          <a:xfrm>
            <a:off x="640080" y="1600200"/>
            <a:ext cx="10881360" cy="365760"/>
          </a:xfrm>
          <a:prstGeom prst="rect">
            <a:avLst/>
          </a:prstGeom>
          <a:noFill/>
          <a:ln/>
        </p:spPr>
        <p:txBody>
          <a:bodyPr wrap="square" lIns="0" tIns="0" rIns="0" bIns="0" rtlCol="0" anchor="ctr"/>
          <a:lstStyle/>
          <a:p>
            <a:pPr marL="0" indent="0">
              <a:buNone/>
            </a:pPr>
            <a:r>
              <a:rPr lang="en-US" sz="1400" dirty="0">
                <a:solidFill>
                  <a:srgbClr val="1C1C1C"/>
                </a:solidFill>
                <a:latin typeface="Calibri" pitchFamily="34" charset="0"/>
                <a:ea typeface="Calibri" pitchFamily="34" charset="-122"/>
                <a:cs typeface="Calibri" pitchFamily="34" charset="-120"/>
              </a:rPr>
              <a:t>Every Santali string in Ol Saathi is produced by Bhashini. We queried the ULCA model catalogue and confirmed the full two-way pipeline exists:</a:t>
            </a:r>
            <a:endParaRPr lang="en-US" sz="1400" dirty="0"/>
          </a:p>
        </p:txBody>
      </p:sp>
      <p:sp>
        <p:nvSpPr>
          <p:cNvPr id="5" name="Shape 3"/>
          <p:cNvSpPr/>
          <p:nvPr/>
        </p:nvSpPr>
        <p:spPr>
          <a:xfrm>
            <a:off x="640080" y="2103120"/>
            <a:ext cx="5303520" cy="1371600"/>
          </a:xfrm>
          <a:prstGeom prst="roundRect">
            <a:avLst>
              <a:gd name="adj" fmla="val 5333"/>
            </a:avLst>
          </a:prstGeom>
          <a:solidFill>
            <a:srgbClr val="F7F7F5"/>
          </a:solidFill>
          <a:ln w="9525">
            <a:solidFill>
              <a:srgbClr val="DCDCDC"/>
            </a:solidFill>
            <a:prstDash val="solid"/>
          </a:ln>
        </p:spPr>
      </p:sp>
      <p:sp>
        <p:nvSpPr>
          <p:cNvPr id="6" name="Shape 4"/>
          <p:cNvSpPr/>
          <p:nvPr/>
        </p:nvSpPr>
        <p:spPr>
          <a:xfrm>
            <a:off x="896112" y="2395728"/>
            <a:ext cx="384048" cy="384048"/>
          </a:xfrm>
          <a:prstGeom prst="ellipse">
            <a:avLst/>
          </a:prstGeom>
          <a:solidFill>
            <a:srgbClr val="1B4332"/>
          </a:solidFill>
          <a:ln/>
        </p:spPr>
      </p:sp>
      <p:sp>
        <p:nvSpPr>
          <p:cNvPr id="7" name="Text 5"/>
          <p:cNvSpPr/>
          <p:nvPr/>
        </p:nvSpPr>
        <p:spPr>
          <a:xfrm>
            <a:off x="1417320" y="2304288"/>
            <a:ext cx="4297680" cy="237744"/>
          </a:xfrm>
          <a:prstGeom prst="rect">
            <a:avLst/>
          </a:prstGeom>
          <a:noFill/>
          <a:ln/>
        </p:spPr>
        <p:txBody>
          <a:bodyPr wrap="square" lIns="0" tIns="0" rIns="0" bIns="0" rtlCol="0" anchor="ctr"/>
          <a:lstStyle/>
          <a:p>
            <a:pPr marL="0" indent="0">
              <a:buNone/>
            </a:pPr>
            <a:r>
              <a:rPr lang="en-US" sz="1000" b="1" kern="0" spc="150" dirty="0">
                <a:solidFill>
                  <a:srgbClr val="B85042"/>
                </a:solidFill>
                <a:latin typeface="Calibri" pitchFamily="34" charset="0"/>
                <a:ea typeface="Calibri" pitchFamily="34" charset="-122"/>
                <a:cs typeface="Calibri" pitchFamily="34" charset="-120"/>
              </a:rPr>
              <a:t>TRANSLATION</a:t>
            </a:r>
            <a:endParaRPr lang="en-US" sz="1000" dirty="0"/>
          </a:p>
        </p:txBody>
      </p:sp>
      <p:sp>
        <p:nvSpPr>
          <p:cNvPr id="8" name="Text 6"/>
          <p:cNvSpPr/>
          <p:nvPr/>
        </p:nvSpPr>
        <p:spPr>
          <a:xfrm>
            <a:off x="1417320" y="2523744"/>
            <a:ext cx="4297680" cy="274320"/>
          </a:xfrm>
          <a:prstGeom prst="rect">
            <a:avLst/>
          </a:prstGeom>
          <a:noFill/>
          <a:ln/>
        </p:spPr>
        <p:txBody>
          <a:bodyPr wrap="square" lIns="0" tIns="0" rIns="0" bIns="0" rtlCol="0" anchor="ctr"/>
          <a:lstStyle/>
          <a:p>
            <a:pPr marL="0" indent="0">
              <a:buNone/>
            </a:pPr>
            <a:r>
              <a:rPr lang="en-US" sz="1500" b="1" dirty="0">
                <a:solidFill>
                  <a:srgbClr val="1C1C1C"/>
                </a:solidFill>
                <a:latin typeface="Cambria" pitchFamily="34" charset="0"/>
                <a:ea typeface="Cambria" pitchFamily="34" charset="-122"/>
                <a:cs typeface="Cambria" pitchFamily="34" charset="-120"/>
              </a:rPr>
              <a:t>AI4Bharat IndicTrans-v2</a:t>
            </a:r>
            <a:endParaRPr lang="en-US" sz="1500" dirty="0"/>
          </a:p>
        </p:txBody>
      </p:sp>
      <p:sp>
        <p:nvSpPr>
          <p:cNvPr id="9" name="Text 7"/>
          <p:cNvSpPr/>
          <p:nvPr/>
        </p:nvSpPr>
        <p:spPr>
          <a:xfrm>
            <a:off x="1417320" y="2816352"/>
            <a:ext cx="4297680" cy="548640"/>
          </a:xfrm>
          <a:prstGeom prst="rect">
            <a:avLst/>
          </a:prstGeom>
          <a:noFill/>
          <a:ln/>
        </p:spPr>
        <p:txBody>
          <a:bodyPr wrap="square" lIns="0" tIns="0" rIns="0" bIns="0" rtlCol="0" anchor="t"/>
          <a:lstStyle/>
          <a:p>
            <a:pPr marL="0" indent="0">
              <a:lnSpc>
                <a:spcPts val="1500"/>
              </a:lnSpc>
              <a:buNone/>
            </a:pPr>
            <a:r>
              <a:rPr lang="en-US" sz="1150" dirty="0">
                <a:solidFill>
                  <a:srgbClr val="6B6B6B"/>
                </a:solidFill>
                <a:latin typeface="Calibri" pitchFamily="34" charset="0"/>
                <a:ea typeface="Calibri" pitchFamily="34" charset="-122"/>
                <a:cs typeface="Calibri" pitchFamily="34" charset="-120"/>
              </a:rPr>
              <a:t>Hindi → Santali. Three models offered, including two Bhashaverse variants.</a:t>
            </a:r>
            <a:endParaRPr lang="en-US" sz="1150" dirty="0"/>
          </a:p>
        </p:txBody>
      </p:sp>
      <p:sp>
        <p:nvSpPr>
          <p:cNvPr id="10" name="Shape 8"/>
          <p:cNvSpPr/>
          <p:nvPr/>
        </p:nvSpPr>
        <p:spPr>
          <a:xfrm>
            <a:off x="6217920" y="2103120"/>
            <a:ext cx="5303520" cy="1371600"/>
          </a:xfrm>
          <a:prstGeom prst="roundRect">
            <a:avLst>
              <a:gd name="adj" fmla="val 5333"/>
            </a:avLst>
          </a:prstGeom>
          <a:solidFill>
            <a:srgbClr val="F7F7F5"/>
          </a:solidFill>
          <a:ln w="9525">
            <a:solidFill>
              <a:srgbClr val="DCDCDC"/>
            </a:solidFill>
            <a:prstDash val="solid"/>
          </a:ln>
        </p:spPr>
      </p:sp>
      <p:sp>
        <p:nvSpPr>
          <p:cNvPr id="11" name="Shape 9"/>
          <p:cNvSpPr/>
          <p:nvPr/>
        </p:nvSpPr>
        <p:spPr>
          <a:xfrm>
            <a:off x="6473952" y="2395728"/>
            <a:ext cx="384048" cy="384048"/>
          </a:xfrm>
          <a:prstGeom prst="ellipse">
            <a:avLst/>
          </a:prstGeom>
          <a:solidFill>
            <a:srgbClr val="1B4332"/>
          </a:solidFill>
          <a:ln/>
        </p:spPr>
      </p:sp>
      <p:sp>
        <p:nvSpPr>
          <p:cNvPr id="12" name="Text 10"/>
          <p:cNvSpPr/>
          <p:nvPr/>
        </p:nvSpPr>
        <p:spPr>
          <a:xfrm>
            <a:off x="6995160" y="2304288"/>
            <a:ext cx="4297680" cy="237744"/>
          </a:xfrm>
          <a:prstGeom prst="rect">
            <a:avLst/>
          </a:prstGeom>
          <a:noFill/>
          <a:ln/>
        </p:spPr>
        <p:txBody>
          <a:bodyPr wrap="square" lIns="0" tIns="0" rIns="0" bIns="0" rtlCol="0" anchor="ctr"/>
          <a:lstStyle/>
          <a:p>
            <a:pPr marL="0" indent="0">
              <a:buNone/>
            </a:pPr>
            <a:r>
              <a:rPr lang="en-US" sz="1000" b="1" kern="0" spc="150" dirty="0">
                <a:solidFill>
                  <a:srgbClr val="B85042"/>
                </a:solidFill>
                <a:latin typeface="Calibri" pitchFamily="34" charset="0"/>
                <a:ea typeface="Calibri" pitchFamily="34" charset="-122"/>
                <a:cs typeface="Calibri" pitchFamily="34" charset="-120"/>
              </a:rPr>
              <a:t>TEXT TO SPEECH</a:t>
            </a:r>
            <a:endParaRPr lang="en-US" sz="1000" dirty="0"/>
          </a:p>
        </p:txBody>
      </p:sp>
      <p:sp>
        <p:nvSpPr>
          <p:cNvPr id="13" name="Text 11"/>
          <p:cNvSpPr/>
          <p:nvPr/>
        </p:nvSpPr>
        <p:spPr>
          <a:xfrm>
            <a:off x="6995160" y="2523744"/>
            <a:ext cx="4297680" cy="274320"/>
          </a:xfrm>
          <a:prstGeom prst="rect">
            <a:avLst/>
          </a:prstGeom>
          <a:noFill/>
          <a:ln/>
        </p:spPr>
        <p:txBody>
          <a:bodyPr wrap="square" lIns="0" tIns="0" rIns="0" bIns="0" rtlCol="0" anchor="ctr"/>
          <a:lstStyle/>
          <a:p>
            <a:pPr marL="0" indent="0">
              <a:buNone/>
            </a:pPr>
            <a:r>
              <a:rPr lang="en-US" sz="1500" b="1" dirty="0">
                <a:solidFill>
                  <a:srgbClr val="1C1C1C"/>
                </a:solidFill>
                <a:latin typeface="Cambria" pitchFamily="34" charset="0"/>
                <a:ea typeface="Cambria" pitchFamily="34" charset="-122"/>
                <a:cs typeface="Cambria" pitchFamily="34" charset="-120"/>
              </a:rPr>
              <a:t>Bhashini-IITM TTS for Santali</a:t>
            </a:r>
            <a:endParaRPr lang="en-US" sz="1500" dirty="0"/>
          </a:p>
        </p:txBody>
      </p:sp>
      <p:sp>
        <p:nvSpPr>
          <p:cNvPr id="14" name="Text 12"/>
          <p:cNvSpPr/>
          <p:nvPr/>
        </p:nvSpPr>
        <p:spPr>
          <a:xfrm>
            <a:off x="6995160" y="2816352"/>
            <a:ext cx="4297680" cy="548640"/>
          </a:xfrm>
          <a:prstGeom prst="rect">
            <a:avLst/>
          </a:prstGeom>
          <a:noFill/>
          <a:ln/>
        </p:spPr>
        <p:txBody>
          <a:bodyPr wrap="square" lIns="0" tIns="0" rIns="0" bIns="0" rtlCol="0" anchor="t"/>
          <a:lstStyle/>
          <a:p>
            <a:pPr marL="0" indent="0">
              <a:lnSpc>
                <a:spcPts val="1500"/>
              </a:lnSpc>
              <a:buNone/>
            </a:pPr>
            <a:r>
              <a:rPr lang="en-US" sz="1150" dirty="0">
                <a:solidFill>
                  <a:srgbClr val="6B6B6B"/>
                </a:solidFill>
                <a:latin typeface="Calibri" pitchFamily="34" charset="0"/>
                <a:ea typeface="Calibri" pitchFamily="34" charset="-122"/>
                <a:cs typeface="Calibri" pitchFamily="34" charset="-120"/>
              </a:rPr>
              <a:t>Renders the Santali audio the class hears. Generated once, shipped in the APK.</a:t>
            </a:r>
            <a:endParaRPr lang="en-US" sz="1150" dirty="0"/>
          </a:p>
        </p:txBody>
      </p:sp>
      <p:sp>
        <p:nvSpPr>
          <p:cNvPr id="15" name="Shape 13"/>
          <p:cNvSpPr/>
          <p:nvPr/>
        </p:nvSpPr>
        <p:spPr>
          <a:xfrm>
            <a:off x="640080" y="3675888"/>
            <a:ext cx="5303520" cy="1371600"/>
          </a:xfrm>
          <a:prstGeom prst="roundRect">
            <a:avLst>
              <a:gd name="adj" fmla="val 5333"/>
            </a:avLst>
          </a:prstGeom>
          <a:solidFill>
            <a:srgbClr val="F7F7F5"/>
          </a:solidFill>
          <a:ln w="9525">
            <a:solidFill>
              <a:srgbClr val="DCDCDC"/>
            </a:solidFill>
            <a:prstDash val="solid"/>
          </a:ln>
        </p:spPr>
      </p:sp>
      <p:sp>
        <p:nvSpPr>
          <p:cNvPr id="16" name="Shape 14"/>
          <p:cNvSpPr/>
          <p:nvPr/>
        </p:nvSpPr>
        <p:spPr>
          <a:xfrm>
            <a:off x="896112" y="3968496"/>
            <a:ext cx="384048" cy="384048"/>
          </a:xfrm>
          <a:prstGeom prst="ellipse">
            <a:avLst/>
          </a:prstGeom>
          <a:solidFill>
            <a:srgbClr val="1B4332"/>
          </a:solidFill>
          <a:ln/>
        </p:spPr>
      </p:sp>
      <p:sp>
        <p:nvSpPr>
          <p:cNvPr id="17" name="Text 15"/>
          <p:cNvSpPr/>
          <p:nvPr/>
        </p:nvSpPr>
        <p:spPr>
          <a:xfrm>
            <a:off x="1417320" y="3877056"/>
            <a:ext cx="4297680" cy="237744"/>
          </a:xfrm>
          <a:prstGeom prst="rect">
            <a:avLst/>
          </a:prstGeom>
          <a:noFill/>
          <a:ln/>
        </p:spPr>
        <p:txBody>
          <a:bodyPr wrap="square" lIns="0" tIns="0" rIns="0" bIns="0" rtlCol="0" anchor="ctr"/>
          <a:lstStyle/>
          <a:p>
            <a:pPr marL="0" indent="0">
              <a:buNone/>
            </a:pPr>
            <a:r>
              <a:rPr lang="en-US" sz="1000" b="1" kern="0" spc="150" dirty="0">
                <a:solidFill>
                  <a:srgbClr val="B85042"/>
                </a:solidFill>
                <a:latin typeface="Calibri" pitchFamily="34" charset="0"/>
                <a:ea typeface="Calibri" pitchFamily="34" charset="-122"/>
                <a:cs typeface="Calibri" pitchFamily="34" charset="-120"/>
              </a:rPr>
              <a:t>SPEECH TO TEXT</a:t>
            </a:r>
            <a:endParaRPr lang="en-US" sz="1000" dirty="0"/>
          </a:p>
        </p:txBody>
      </p:sp>
      <p:sp>
        <p:nvSpPr>
          <p:cNvPr id="18" name="Text 16"/>
          <p:cNvSpPr/>
          <p:nvPr/>
        </p:nvSpPr>
        <p:spPr>
          <a:xfrm>
            <a:off x="1417320" y="4096512"/>
            <a:ext cx="4297680" cy="274320"/>
          </a:xfrm>
          <a:prstGeom prst="rect">
            <a:avLst/>
          </a:prstGeom>
          <a:noFill/>
          <a:ln/>
        </p:spPr>
        <p:txBody>
          <a:bodyPr wrap="square" lIns="0" tIns="0" rIns="0" bIns="0" rtlCol="0" anchor="ctr"/>
          <a:lstStyle/>
          <a:p>
            <a:pPr marL="0" indent="0">
              <a:buNone/>
            </a:pPr>
            <a:r>
              <a:rPr lang="en-US" sz="1500" b="1" dirty="0">
                <a:solidFill>
                  <a:srgbClr val="1C1C1C"/>
                </a:solidFill>
                <a:latin typeface="Cambria" pitchFamily="34" charset="0"/>
                <a:ea typeface="Cambria" pitchFamily="34" charset="-122"/>
                <a:cs typeface="Cambria" pitchFamily="34" charset="-120"/>
              </a:rPr>
              <a:t>AI4Bharat Conformer, Hindi</a:t>
            </a:r>
            <a:endParaRPr lang="en-US" sz="1500" dirty="0"/>
          </a:p>
        </p:txBody>
      </p:sp>
      <p:sp>
        <p:nvSpPr>
          <p:cNvPr id="19" name="Text 17"/>
          <p:cNvSpPr/>
          <p:nvPr/>
        </p:nvSpPr>
        <p:spPr>
          <a:xfrm>
            <a:off x="1417320" y="4389120"/>
            <a:ext cx="4297680" cy="548640"/>
          </a:xfrm>
          <a:prstGeom prst="rect">
            <a:avLst/>
          </a:prstGeom>
          <a:noFill/>
          <a:ln/>
        </p:spPr>
        <p:txBody>
          <a:bodyPr wrap="square" lIns="0" tIns="0" rIns="0" bIns="0" rtlCol="0" anchor="t"/>
          <a:lstStyle/>
          <a:p>
            <a:pPr marL="0" indent="0">
              <a:lnSpc>
                <a:spcPts val="1500"/>
              </a:lnSpc>
              <a:buNone/>
            </a:pPr>
            <a:r>
              <a:rPr lang="en-US" sz="1150" dirty="0">
                <a:solidFill>
                  <a:srgbClr val="6B6B6B"/>
                </a:solidFill>
                <a:latin typeface="Calibri" pitchFamily="34" charset="0"/>
                <a:ea typeface="Calibri" pitchFamily="34" charset="-122"/>
                <a:cs typeface="Calibri" pitchFamily="34" charset="-120"/>
              </a:rPr>
              <a:t>Five Hindi models offered. Used to build and validate the phrase set.</a:t>
            </a:r>
            <a:endParaRPr lang="en-US" sz="1150" dirty="0"/>
          </a:p>
        </p:txBody>
      </p:sp>
      <p:sp>
        <p:nvSpPr>
          <p:cNvPr id="20" name="Shape 18"/>
          <p:cNvSpPr/>
          <p:nvPr/>
        </p:nvSpPr>
        <p:spPr>
          <a:xfrm>
            <a:off x="6217920" y="3675888"/>
            <a:ext cx="5303520" cy="1371600"/>
          </a:xfrm>
          <a:prstGeom prst="roundRect">
            <a:avLst>
              <a:gd name="adj" fmla="val 5333"/>
            </a:avLst>
          </a:prstGeom>
          <a:solidFill>
            <a:srgbClr val="F7F7F5"/>
          </a:solidFill>
          <a:ln w="9525">
            <a:solidFill>
              <a:srgbClr val="DCDCDC"/>
            </a:solidFill>
            <a:prstDash val="solid"/>
          </a:ln>
        </p:spPr>
      </p:sp>
      <p:sp>
        <p:nvSpPr>
          <p:cNvPr id="21" name="Shape 19"/>
          <p:cNvSpPr/>
          <p:nvPr/>
        </p:nvSpPr>
        <p:spPr>
          <a:xfrm>
            <a:off x="6473952" y="3968496"/>
            <a:ext cx="384048" cy="384048"/>
          </a:xfrm>
          <a:prstGeom prst="ellipse">
            <a:avLst/>
          </a:prstGeom>
          <a:solidFill>
            <a:srgbClr val="1B4332"/>
          </a:solidFill>
          <a:ln/>
        </p:spPr>
      </p:sp>
      <p:sp>
        <p:nvSpPr>
          <p:cNvPr id="22" name="Text 20"/>
          <p:cNvSpPr/>
          <p:nvPr/>
        </p:nvSpPr>
        <p:spPr>
          <a:xfrm>
            <a:off x="6995160" y="3877056"/>
            <a:ext cx="4297680" cy="237744"/>
          </a:xfrm>
          <a:prstGeom prst="rect">
            <a:avLst/>
          </a:prstGeom>
          <a:noFill/>
          <a:ln/>
        </p:spPr>
        <p:txBody>
          <a:bodyPr wrap="square" lIns="0" tIns="0" rIns="0" bIns="0" rtlCol="0" anchor="ctr"/>
          <a:lstStyle/>
          <a:p>
            <a:pPr marL="0" indent="0">
              <a:buNone/>
            </a:pPr>
            <a:r>
              <a:rPr lang="en-US" sz="1000" b="1" kern="0" spc="150" dirty="0">
                <a:solidFill>
                  <a:srgbClr val="B85042"/>
                </a:solidFill>
                <a:latin typeface="Calibri" pitchFamily="34" charset="0"/>
                <a:ea typeface="Calibri" pitchFamily="34" charset="-122"/>
                <a:cs typeface="Calibri" pitchFamily="34" charset="-120"/>
              </a:rPr>
              <a:t>SPEECH TO TEXT</a:t>
            </a:r>
            <a:endParaRPr lang="en-US" sz="1000" dirty="0"/>
          </a:p>
        </p:txBody>
      </p:sp>
      <p:sp>
        <p:nvSpPr>
          <p:cNvPr id="23" name="Text 21"/>
          <p:cNvSpPr/>
          <p:nvPr/>
        </p:nvSpPr>
        <p:spPr>
          <a:xfrm>
            <a:off x="6995160" y="4096512"/>
            <a:ext cx="4297680" cy="274320"/>
          </a:xfrm>
          <a:prstGeom prst="rect">
            <a:avLst/>
          </a:prstGeom>
          <a:noFill/>
          <a:ln/>
        </p:spPr>
        <p:txBody>
          <a:bodyPr wrap="square" lIns="0" tIns="0" rIns="0" bIns="0" rtlCol="0" anchor="ctr"/>
          <a:lstStyle/>
          <a:p>
            <a:pPr marL="0" indent="0">
              <a:buNone/>
            </a:pPr>
            <a:r>
              <a:rPr lang="en-US" sz="1500" b="1" dirty="0">
                <a:solidFill>
                  <a:srgbClr val="1C1C1C"/>
                </a:solidFill>
                <a:latin typeface="Cambria" pitchFamily="34" charset="0"/>
                <a:ea typeface="Cambria" pitchFamily="34" charset="-122"/>
                <a:cs typeface="Cambria" pitchFamily="34" charset="-120"/>
              </a:rPr>
              <a:t>AI4Bharat Conformer, Santhali</a:t>
            </a:r>
            <a:endParaRPr lang="en-US" sz="1500" dirty="0"/>
          </a:p>
        </p:txBody>
      </p:sp>
      <p:sp>
        <p:nvSpPr>
          <p:cNvPr id="24" name="Text 22"/>
          <p:cNvSpPr/>
          <p:nvPr/>
        </p:nvSpPr>
        <p:spPr>
          <a:xfrm>
            <a:off x="6995160" y="4389120"/>
            <a:ext cx="4297680" cy="548640"/>
          </a:xfrm>
          <a:prstGeom prst="rect">
            <a:avLst/>
          </a:prstGeom>
          <a:noFill/>
          <a:ln/>
        </p:spPr>
        <p:txBody>
          <a:bodyPr wrap="square" lIns="0" tIns="0" rIns="0" bIns="0" rtlCol="0" anchor="t"/>
          <a:lstStyle/>
          <a:p>
            <a:pPr marL="0" indent="0">
              <a:lnSpc>
                <a:spcPts val="1500"/>
              </a:lnSpc>
              <a:buNone/>
            </a:pPr>
            <a:r>
              <a:rPr lang="en-US" sz="1150" dirty="0">
                <a:solidFill>
                  <a:srgbClr val="6B6B6B"/>
                </a:solidFill>
                <a:latin typeface="Calibri" pitchFamily="34" charset="0"/>
                <a:ea typeface="Calibri" pitchFamily="34" charset="-122"/>
                <a:cs typeface="Calibri" pitchFamily="34" charset="-120"/>
              </a:rPr>
              <a:t>Makes the child’s reply legible to the teacher. The return leg of the dialogue.</a:t>
            </a:r>
            <a:endParaRPr lang="en-US" sz="1150" dirty="0"/>
          </a:p>
        </p:txBody>
      </p:sp>
      <p:sp>
        <p:nvSpPr>
          <p:cNvPr id="25" name="Text 23"/>
          <p:cNvSpPr/>
          <p:nvPr/>
        </p:nvSpPr>
        <p:spPr>
          <a:xfrm>
            <a:off x="640080" y="5349240"/>
            <a:ext cx="10881360" cy="685800"/>
          </a:xfrm>
          <a:prstGeom prst="rect">
            <a:avLst/>
          </a:prstGeom>
          <a:noFill/>
          <a:ln/>
        </p:spPr>
        <p:txBody>
          <a:bodyPr wrap="square" lIns="0" tIns="0" rIns="0" bIns="0" rtlCol="0" anchor="ctr"/>
          <a:lstStyle/>
          <a:p>
            <a:pPr marL="0" indent="0">
              <a:lnSpc>
                <a:spcPts val="1900"/>
              </a:lnSpc>
              <a:buNone/>
            </a:pPr>
            <a:r>
              <a:rPr lang="en-US" sz="1300" b="1" dirty="0">
                <a:solidFill>
                  <a:srgbClr val="1B4332"/>
                </a:solidFill>
                <a:latin typeface="Calibri" pitchFamily="34" charset="0"/>
                <a:ea typeface="Calibri" pitchFamily="34" charset="-122"/>
                <a:cs typeface="Calibri" pitchFamily="34" charset="-120"/>
              </a:rPr>
              <a:t>Why this matters for defensibility.  </a:t>
            </a:r>
            <a:r>
              <a:rPr lang="en-US" sz="1300" dirty="0">
                <a:solidFill>
                  <a:srgbClr val="1C1C1C"/>
                </a:solidFill>
                <a:latin typeface="Calibri" pitchFamily="34" charset="0"/>
                <a:ea typeface="Calibri" pitchFamily="34" charset="-122"/>
                <a:cs typeface="Calibri" pitchFamily="34" charset="-120"/>
              </a:rPr>
              <a:t>Our team does not read Santali, so we cannot be the authority on it. Bhashini can. Every entry we ship records the service ID and timestamp that produced it, so any translation can be traced back to the platform.</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411480"/>
            <a:ext cx="10881360" cy="274320"/>
          </a:xfrm>
          <a:prstGeom prst="rect">
            <a:avLst/>
          </a:prstGeom>
          <a:noFill/>
          <a:ln/>
        </p:spPr>
        <p:txBody>
          <a:bodyPr wrap="square" lIns="0" tIns="0" rIns="0" bIns="0" rtlCol="0" anchor="ctr"/>
          <a:lstStyle/>
          <a:p>
            <a:pPr marL="0" indent="0">
              <a:buNone/>
            </a:pPr>
            <a:r>
              <a:rPr lang="en-US" sz="1200" b="1" kern="0" spc="200" dirty="0">
                <a:solidFill>
                  <a:srgbClr val="B85042"/>
                </a:solidFill>
                <a:latin typeface="Calibri" pitchFamily="34" charset="0"/>
                <a:ea typeface="Calibri" pitchFamily="34" charset="-122"/>
                <a:cs typeface="Calibri" pitchFamily="34" charset="-120"/>
              </a:rPr>
              <a:t>ARCHITECTURE</a:t>
            </a:r>
            <a:endParaRPr lang="en-US" sz="1200" dirty="0"/>
          </a:p>
        </p:txBody>
      </p:sp>
      <p:sp>
        <p:nvSpPr>
          <p:cNvPr id="3" name="Text 1"/>
          <p:cNvSpPr/>
          <p:nvPr/>
        </p:nvSpPr>
        <p:spPr>
          <a:xfrm>
            <a:off x="640080" y="713232"/>
            <a:ext cx="10881360" cy="777240"/>
          </a:xfrm>
          <a:prstGeom prst="rect">
            <a:avLst/>
          </a:prstGeom>
          <a:noFill/>
          <a:ln/>
        </p:spPr>
        <p:txBody>
          <a:bodyPr wrap="square" lIns="0" tIns="0" rIns="0" bIns="0" rtlCol="0" anchor="ctr"/>
          <a:lstStyle/>
          <a:p>
            <a:pPr marL="0" indent="0">
              <a:buNone/>
            </a:pPr>
            <a:r>
              <a:rPr lang="en-US" sz="3400" b="1" dirty="0">
                <a:solidFill>
                  <a:srgbClr val="1C1C1C"/>
                </a:solidFill>
                <a:latin typeface="Cambria" pitchFamily="34" charset="0"/>
                <a:ea typeface="Cambria" pitchFamily="34" charset="-122"/>
                <a:cs typeface="Cambria" pitchFamily="34" charset="-120"/>
              </a:rPr>
              <a:t>Translate once online. Run forever offline.</a:t>
            </a:r>
            <a:endParaRPr lang="en-US" sz="3400" dirty="0"/>
          </a:p>
        </p:txBody>
      </p:sp>
      <p:sp>
        <p:nvSpPr>
          <p:cNvPr id="4" name="Text 2"/>
          <p:cNvSpPr/>
          <p:nvPr/>
        </p:nvSpPr>
        <p:spPr>
          <a:xfrm>
            <a:off x="640080" y="1627632"/>
            <a:ext cx="5212080" cy="274320"/>
          </a:xfrm>
          <a:prstGeom prst="rect">
            <a:avLst/>
          </a:prstGeom>
          <a:noFill/>
          <a:ln/>
        </p:spPr>
        <p:txBody>
          <a:bodyPr wrap="square" lIns="0" tIns="0" rIns="0" bIns="0" rtlCol="0" anchor="ctr"/>
          <a:lstStyle/>
          <a:p>
            <a:pPr marL="0" indent="0">
              <a:buNone/>
            </a:pPr>
            <a:r>
              <a:rPr lang="en-US" sz="1100" b="1" kern="0" spc="150" dirty="0">
                <a:solidFill>
                  <a:srgbClr val="B85042"/>
                </a:solidFill>
                <a:latin typeface="Calibri" pitchFamily="34" charset="0"/>
                <a:ea typeface="Calibri" pitchFamily="34" charset="-122"/>
                <a:cs typeface="Calibri" pitchFamily="34" charset="-120"/>
              </a:rPr>
              <a:t>BUILD TIME  ·  once, with a network</a:t>
            </a:r>
            <a:endParaRPr lang="en-US" sz="1100" dirty="0"/>
          </a:p>
        </p:txBody>
      </p:sp>
      <p:sp>
        <p:nvSpPr>
          <p:cNvPr id="5" name="Shape 3"/>
          <p:cNvSpPr/>
          <p:nvPr/>
        </p:nvSpPr>
        <p:spPr>
          <a:xfrm>
            <a:off x="640080" y="1965960"/>
            <a:ext cx="5212080" cy="3017520"/>
          </a:xfrm>
          <a:prstGeom prst="roundRect">
            <a:avLst>
              <a:gd name="adj" fmla="val 2424"/>
            </a:avLst>
          </a:prstGeom>
          <a:solidFill>
            <a:srgbClr val="F7F7F5"/>
          </a:solidFill>
          <a:ln w="9525">
            <a:solidFill>
              <a:srgbClr val="DCDCDC"/>
            </a:solidFill>
            <a:prstDash val="solid"/>
          </a:ln>
        </p:spPr>
      </p:sp>
      <p:sp>
        <p:nvSpPr>
          <p:cNvPr id="6" name="Shape 4"/>
          <p:cNvSpPr/>
          <p:nvPr/>
        </p:nvSpPr>
        <p:spPr>
          <a:xfrm>
            <a:off x="914400" y="2240280"/>
            <a:ext cx="402336" cy="402336"/>
          </a:xfrm>
          <a:prstGeom prst="ellipse">
            <a:avLst/>
          </a:prstGeom>
          <a:solidFill>
            <a:srgbClr val="1B4332"/>
          </a:solidFill>
          <a:ln/>
          <a:effectLst>
            <a:outerShdw blurRad="152400" dist="38100" dir="5400000" algn="bl" rotWithShape="0">
              <a:srgbClr val="000000">
                <a:alpha val="12000"/>
              </a:srgbClr>
            </a:outerShdw>
          </a:effectLst>
        </p:spPr>
      </p:sp>
      <p:sp>
        <p:nvSpPr>
          <p:cNvPr id="7" name="Text 5"/>
          <p:cNvSpPr/>
          <p:nvPr/>
        </p:nvSpPr>
        <p:spPr>
          <a:xfrm>
            <a:off x="914400" y="224028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463040" y="2240280"/>
            <a:ext cx="4114800" cy="731520"/>
          </a:xfrm>
          <a:prstGeom prst="rect">
            <a:avLst/>
          </a:prstGeom>
          <a:noFill/>
          <a:ln/>
        </p:spPr>
        <p:txBody>
          <a:bodyPr wrap="square" lIns="0" tIns="0" rIns="0" bIns="0" rtlCol="0" anchor="t"/>
          <a:lstStyle/>
          <a:p>
            <a:pPr marL="0" indent="0">
              <a:lnSpc>
                <a:spcPts val="1700"/>
              </a:lnSpc>
              <a:buNone/>
            </a:pPr>
            <a:r>
              <a:rPr lang="en-US" sz="1250" dirty="0">
                <a:solidFill>
                  <a:srgbClr val="1C1C1C"/>
                </a:solidFill>
                <a:latin typeface="Calibri" pitchFamily="34" charset="0"/>
                <a:ea typeface="Calibri" pitchFamily="34" charset="-122"/>
                <a:cs typeface="Calibri" pitchFamily="34" charset="-120"/>
              </a:rPr>
              <a:t>Hindi FLN content: 40 classroom phrases plus NCERT Sarangi lesson lines</a:t>
            </a:r>
            <a:endParaRPr lang="en-US" sz="1250" dirty="0"/>
          </a:p>
        </p:txBody>
      </p:sp>
      <p:sp>
        <p:nvSpPr>
          <p:cNvPr id="9" name="Shape 7"/>
          <p:cNvSpPr/>
          <p:nvPr/>
        </p:nvSpPr>
        <p:spPr>
          <a:xfrm>
            <a:off x="914400" y="3154680"/>
            <a:ext cx="402336" cy="402336"/>
          </a:xfrm>
          <a:prstGeom prst="ellipse">
            <a:avLst/>
          </a:prstGeom>
          <a:solidFill>
            <a:srgbClr val="1B4332"/>
          </a:solidFill>
          <a:ln/>
          <a:effectLst>
            <a:outerShdw blurRad="152400" dist="38100" dir="5400000" algn="bl" rotWithShape="0">
              <a:srgbClr val="000000">
                <a:alpha val="12000"/>
              </a:srgbClr>
            </a:outerShdw>
          </a:effectLst>
        </p:spPr>
      </p:sp>
      <p:sp>
        <p:nvSpPr>
          <p:cNvPr id="10" name="Text 8"/>
          <p:cNvSpPr/>
          <p:nvPr/>
        </p:nvSpPr>
        <p:spPr>
          <a:xfrm>
            <a:off x="914400" y="315468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1" name="Text 9"/>
          <p:cNvSpPr/>
          <p:nvPr/>
        </p:nvSpPr>
        <p:spPr>
          <a:xfrm>
            <a:off x="1463040" y="3154680"/>
            <a:ext cx="4114800" cy="731520"/>
          </a:xfrm>
          <a:prstGeom prst="rect">
            <a:avLst/>
          </a:prstGeom>
          <a:noFill/>
          <a:ln/>
        </p:spPr>
        <p:txBody>
          <a:bodyPr wrap="square" lIns="0" tIns="0" rIns="0" bIns="0" rtlCol="0" anchor="t"/>
          <a:lstStyle/>
          <a:p>
            <a:pPr marL="0" indent="0">
              <a:lnSpc>
                <a:spcPts val="1700"/>
              </a:lnSpc>
              <a:buNone/>
            </a:pPr>
            <a:r>
              <a:rPr lang="en-US" sz="1250" dirty="0">
                <a:solidFill>
                  <a:srgbClr val="1C1C1C"/>
                </a:solidFill>
                <a:latin typeface="Calibri" pitchFamily="34" charset="0"/>
                <a:ea typeface="Calibri" pitchFamily="34" charset="-122"/>
                <a:cs typeface="Calibri" pitchFamily="34" charset="-120"/>
              </a:rPr>
              <a:t>Sent to Bhashini translation, then to Bhashini text to speech</a:t>
            </a:r>
            <a:endParaRPr lang="en-US" sz="1250" dirty="0"/>
          </a:p>
        </p:txBody>
      </p:sp>
      <p:sp>
        <p:nvSpPr>
          <p:cNvPr id="12" name="Shape 10"/>
          <p:cNvSpPr/>
          <p:nvPr/>
        </p:nvSpPr>
        <p:spPr>
          <a:xfrm>
            <a:off x="914400" y="4069080"/>
            <a:ext cx="402336" cy="402336"/>
          </a:xfrm>
          <a:prstGeom prst="ellipse">
            <a:avLst/>
          </a:prstGeom>
          <a:solidFill>
            <a:srgbClr val="1B4332"/>
          </a:solidFill>
          <a:ln/>
          <a:effectLst>
            <a:outerShdw blurRad="152400" dist="38100" dir="5400000" algn="bl" rotWithShape="0">
              <a:srgbClr val="000000">
                <a:alpha val="12000"/>
              </a:srgbClr>
            </a:outerShdw>
          </a:effectLst>
        </p:spPr>
      </p:sp>
      <p:sp>
        <p:nvSpPr>
          <p:cNvPr id="13" name="Text 11"/>
          <p:cNvSpPr/>
          <p:nvPr/>
        </p:nvSpPr>
        <p:spPr>
          <a:xfrm>
            <a:off x="914400" y="406908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4" name="Text 12"/>
          <p:cNvSpPr/>
          <p:nvPr/>
        </p:nvSpPr>
        <p:spPr>
          <a:xfrm>
            <a:off x="1463040" y="4069080"/>
            <a:ext cx="4114800" cy="731520"/>
          </a:xfrm>
          <a:prstGeom prst="rect">
            <a:avLst/>
          </a:prstGeom>
          <a:noFill/>
          <a:ln/>
        </p:spPr>
        <p:txBody>
          <a:bodyPr wrap="square" lIns="0" tIns="0" rIns="0" bIns="0" rtlCol="0" anchor="t"/>
          <a:lstStyle/>
          <a:p>
            <a:pPr marL="0" indent="0">
              <a:lnSpc>
                <a:spcPts val="1700"/>
              </a:lnSpc>
              <a:buNone/>
            </a:pPr>
            <a:r>
              <a:rPr lang="en-US" sz="1250" dirty="0">
                <a:solidFill>
                  <a:srgbClr val="1C1C1C"/>
                </a:solidFill>
                <a:latin typeface="Calibri" pitchFamily="34" charset="0"/>
                <a:ea typeface="Calibri" pitchFamily="34" charset="-122"/>
                <a:cs typeface="Calibri" pitchFamily="34" charset="-120"/>
              </a:rPr>
              <a:t>Ol Chiki text and Santali WAV written into the APK, with the service ID for each</a:t>
            </a:r>
            <a:endParaRPr lang="en-US" sz="1250" dirty="0"/>
          </a:p>
        </p:txBody>
      </p:sp>
      <p:sp>
        <p:nvSpPr>
          <p:cNvPr id="15" name="Text 13"/>
          <p:cNvSpPr/>
          <p:nvPr/>
        </p:nvSpPr>
        <p:spPr>
          <a:xfrm>
            <a:off x="5943600" y="3108960"/>
            <a:ext cx="365760" cy="457200"/>
          </a:xfrm>
          <a:prstGeom prst="rect">
            <a:avLst/>
          </a:prstGeom>
          <a:noFill/>
          <a:ln/>
        </p:spPr>
        <p:txBody>
          <a:bodyPr wrap="square" lIns="0" tIns="0" rIns="0" bIns="0" rtlCol="0" anchor="ctr"/>
          <a:lstStyle/>
          <a:p>
            <a:pPr marL="0" indent="0" algn="ctr">
              <a:buNone/>
            </a:pPr>
            <a:r>
              <a:rPr lang="en-US" sz="2800" b="1" dirty="0">
                <a:solidFill>
                  <a:srgbClr val="E9A03B"/>
                </a:solidFill>
                <a:latin typeface="Calibri" pitchFamily="34" charset="0"/>
                <a:ea typeface="Calibri" pitchFamily="34" charset="-122"/>
                <a:cs typeface="Calibri" pitchFamily="34" charset="-120"/>
              </a:rPr>
              <a:t>→</a:t>
            </a:r>
            <a:endParaRPr lang="en-US" sz="2800" dirty="0"/>
          </a:p>
        </p:txBody>
      </p:sp>
      <p:sp>
        <p:nvSpPr>
          <p:cNvPr id="16" name="Text 14"/>
          <p:cNvSpPr/>
          <p:nvPr/>
        </p:nvSpPr>
        <p:spPr>
          <a:xfrm>
            <a:off x="6400800" y="1627632"/>
            <a:ext cx="5120640" cy="274320"/>
          </a:xfrm>
          <a:prstGeom prst="rect">
            <a:avLst/>
          </a:prstGeom>
          <a:noFill/>
          <a:ln/>
        </p:spPr>
        <p:txBody>
          <a:bodyPr wrap="square" lIns="0" tIns="0" rIns="0" bIns="0" rtlCol="0" anchor="ctr"/>
          <a:lstStyle/>
          <a:p>
            <a:pPr marL="0" indent="0">
              <a:buNone/>
            </a:pPr>
            <a:r>
              <a:rPr lang="en-US" sz="1100" b="1" kern="0" spc="150" dirty="0">
                <a:solidFill>
                  <a:srgbClr val="B85042"/>
                </a:solidFill>
                <a:latin typeface="Calibri" pitchFamily="34" charset="0"/>
                <a:ea typeface="Calibri" pitchFamily="34" charset="-122"/>
                <a:cs typeface="Calibri" pitchFamily="34" charset="-120"/>
              </a:rPr>
              <a:t>RUN TIME  ·  in the classroom, no network</a:t>
            </a:r>
            <a:endParaRPr lang="en-US" sz="1100" dirty="0"/>
          </a:p>
        </p:txBody>
      </p:sp>
      <p:sp>
        <p:nvSpPr>
          <p:cNvPr id="17" name="Shape 15"/>
          <p:cNvSpPr/>
          <p:nvPr/>
        </p:nvSpPr>
        <p:spPr>
          <a:xfrm>
            <a:off x="6400800" y="1965960"/>
            <a:ext cx="5120640" cy="3017520"/>
          </a:xfrm>
          <a:prstGeom prst="roundRect">
            <a:avLst>
              <a:gd name="adj" fmla="val 2424"/>
            </a:avLst>
          </a:prstGeom>
          <a:solidFill>
            <a:srgbClr val="F0F5F1"/>
          </a:solidFill>
          <a:ln w="9525">
            <a:solidFill>
              <a:srgbClr val="DCDCDC"/>
            </a:solidFill>
            <a:prstDash val="solid"/>
          </a:ln>
        </p:spPr>
      </p:sp>
      <p:sp>
        <p:nvSpPr>
          <p:cNvPr id="18" name="Shape 16"/>
          <p:cNvSpPr/>
          <p:nvPr/>
        </p:nvSpPr>
        <p:spPr>
          <a:xfrm>
            <a:off x="6675120" y="2240280"/>
            <a:ext cx="402336" cy="402336"/>
          </a:xfrm>
          <a:prstGeom prst="ellipse">
            <a:avLst/>
          </a:prstGeom>
          <a:solidFill>
            <a:srgbClr val="B85042"/>
          </a:solidFill>
          <a:ln/>
          <a:effectLst>
            <a:outerShdw blurRad="152400" dist="38100" dir="5400000" algn="bl" rotWithShape="0">
              <a:srgbClr val="000000">
                <a:alpha val="12000"/>
              </a:srgbClr>
            </a:outerShdw>
          </a:effectLst>
        </p:spPr>
      </p:sp>
      <p:sp>
        <p:nvSpPr>
          <p:cNvPr id="19" name="Text 17"/>
          <p:cNvSpPr/>
          <p:nvPr/>
        </p:nvSpPr>
        <p:spPr>
          <a:xfrm>
            <a:off x="6675120" y="224028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20" name="Text 18"/>
          <p:cNvSpPr/>
          <p:nvPr/>
        </p:nvSpPr>
        <p:spPr>
          <a:xfrm>
            <a:off x="7223760" y="2240280"/>
            <a:ext cx="4023360" cy="731520"/>
          </a:xfrm>
          <a:prstGeom prst="rect">
            <a:avLst/>
          </a:prstGeom>
          <a:noFill/>
          <a:ln/>
        </p:spPr>
        <p:txBody>
          <a:bodyPr wrap="square" lIns="0" tIns="0" rIns="0" bIns="0" rtlCol="0" anchor="t"/>
          <a:lstStyle/>
          <a:p>
            <a:pPr marL="0" indent="0">
              <a:lnSpc>
                <a:spcPts val="1700"/>
              </a:lnSpc>
              <a:buNone/>
            </a:pPr>
            <a:r>
              <a:rPr lang="en-US" sz="1250" dirty="0">
                <a:solidFill>
                  <a:srgbClr val="1C1C1C"/>
                </a:solidFill>
                <a:latin typeface="Calibri" pitchFamily="34" charset="0"/>
                <a:ea typeface="Calibri" pitchFamily="34" charset="-122"/>
                <a:cs typeface="Calibri" pitchFamily="34" charset="-120"/>
              </a:rPr>
              <a:t>Teacher speaks. Android speech recognition, Hindi, on device</a:t>
            </a:r>
            <a:endParaRPr lang="en-US" sz="1250" dirty="0"/>
          </a:p>
        </p:txBody>
      </p:sp>
      <p:sp>
        <p:nvSpPr>
          <p:cNvPr id="21" name="Shape 19"/>
          <p:cNvSpPr/>
          <p:nvPr/>
        </p:nvSpPr>
        <p:spPr>
          <a:xfrm>
            <a:off x="6675120" y="3154680"/>
            <a:ext cx="402336" cy="402336"/>
          </a:xfrm>
          <a:prstGeom prst="ellipse">
            <a:avLst/>
          </a:prstGeom>
          <a:solidFill>
            <a:srgbClr val="B85042"/>
          </a:solidFill>
          <a:ln/>
          <a:effectLst>
            <a:outerShdw blurRad="152400" dist="38100" dir="5400000" algn="bl" rotWithShape="0">
              <a:srgbClr val="000000">
                <a:alpha val="12000"/>
              </a:srgbClr>
            </a:outerShdw>
          </a:effectLst>
        </p:spPr>
      </p:sp>
      <p:sp>
        <p:nvSpPr>
          <p:cNvPr id="22" name="Text 20"/>
          <p:cNvSpPr/>
          <p:nvPr/>
        </p:nvSpPr>
        <p:spPr>
          <a:xfrm>
            <a:off x="6675120" y="315468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23" name="Text 21"/>
          <p:cNvSpPr/>
          <p:nvPr/>
        </p:nvSpPr>
        <p:spPr>
          <a:xfrm>
            <a:off x="7223760" y="3154680"/>
            <a:ext cx="4023360" cy="731520"/>
          </a:xfrm>
          <a:prstGeom prst="rect">
            <a:avLst/>
          </a:prstGeom>
          <a:noFill/>
          <a:ln/>
        </p:spPr>
        <p:txBody>
          <a:bodyPr wrap="square" lIns="0" tIns="0" rIns="0" bIns="0" rtlCol="0" anchor="t"/>
          <a:lstStyle/>
          <a:p>
            <a:pPr marL="0" indent="0">
              <a:lnSpc>
                <a:spcPts val="1700"/>
              </a:lnSpc>
              <a:buNone/>
            </a:pPr>
            <a:r>
              <a:rPr lang="en-US" sz="1250" dirty="0">
                <a:solidFill>
                  <a:srgbClr val="1C1C1C"/>
                </a:solidFill>
                <a:latin typeface="Calibri" pitchFamily="34" charset="0"/>
                <a:ea typeface="Calibri" pitchFamily="34" charset="-122"/>
                <a:cs typeface="Calibri" pitchFamily="34" charset="-120"/>
              </a:rPr>
              <a:t>Hash lookup in the shipped pack. Microseconds, zero network</a:t>
            </a:r>
            <a:endParaRPr lang="en-US" sz="1250" dirty="0"/>
          </a:p>
        </p:txBody>
      </p:sp>
      <p:sp>
        <p:nvSpPr>
          <p:cNvPr id="24" name="Shape 22"/>
          <p:cNvSpPr/>
          <p:nvPr/>
        </p:nvSpPr>
        <p:spPr>
          <a:xfrm>
            <a:off x="6675120" y="4069080"/>
            <a:ext cx="402336" cy="402336"/>
          </a:xfrm>
          <a:prstGeom prst="ellipse">
            <a:avLst/>
          </a:prstGeom>
          <a:solidFill>
            <a:srgbClr val="B85042"/>
          </a:solidFill>
          <a:ln/>
          <a:effectLst>
            <a:outerShdw blurRad="152400" dist="38100" dir="5400000" algn="bl" rotWithShape="0">
              <a:srgbClr val="000000">
                <a:alpha val="12000"/>
              </a:srgbClr>
            </a:outerShdw>
          </a:effectLst>
        </p:spPr>
      </p:sp>
      <p:sp>
        <p:nvSpPr>
          <p:cNvPr id="25" name="Text 23"/>
          <p:cNvSpPr/>
          <p:nvPr/>
        </p:nvSpPr>
        <p:spPr>
          <a:xfrm>
            <a:off x="6675120" y="406908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26" name="Text 24"/>
          <p:cNvSpPr/>
          <p:nvPr/>
        </p:nvSpPr>
        <p:spPr>
          <a:xfrm>
            <a:off x="7223760" y="4069080"/>
            <a:ext cx="4023360" cy="731520"/>
          </a:xfrm>
          <a:prstGeom prst="rect">
            <a:avLst/>
          </a:prstGeom>
          <a:noFill/>
          <a:ln/>
        </p:spPr>
        <p:txBody>
          <a:bodyPr wrap="square" lIns="0" tIns="0" rIns="0" bIns="0" rtlCol="0" anchor="t"/>
          <a:lstStyle/>
          <a:p>
            <a:pPr marL="0" indent="0">
              <a:lnSpc>
                <a:spcPts val="1700"/>
              </a:lnSpc>
              <a:buNone/>
            </a:pPr>
            <a:r>
              <a:rPr lang="en-US" sz="1250" dirty="0">
                <a:solidFill>
                  <a:srgbClr val="1C1C1C"/>
                </a:solidFill>
                <a:latin typeface="Calibri" pitchFamily="34" charset="0"/>
                <a:ea typeface="Calibri" pitchFamily="34" charset="-122"/>
                <a:cs typeface="Calibri" pitchFamily="34" charset="-120"/>
              </a:rPr>
              <a:t>Ol Chiki on screen, Santali WAV played from local storage</a:t>
            </a:r>
            <a:endParaRPr lang="en-US" sz="1250" dirty="0"/>
          </a:p>
        </p:txBody>
      </p:sp>
      <p:sp>
        <p:nvSpPr>
          <p:cNvPr id="27" name="Text 25"/>
          <p:cNvSpPr/>
          <p:nvPr/>
        </p:nvSpPr>
        <p:spPr>
          <a:xfrm>
            <a:off x="640080" y="5212080"/>
            <a:ext cx="10881360" cy="685800"/>
          </a:xfrm>
          <a:prstGeom prst="rect">
            <a:avLst/>
          </a:prstGeom>
          <a:noFill/>
          <a:ln/>
        </p:spPr>
        <p:txBody>
          <a:bodyPr wrap="square" lIns="0" tIns="0" rIns="0" bIns="0" rtlCol="0" anchor="ctr"/>
          <a:lstStyle/>
          <a:p>
            <a:pPr marL="0" indent="0">
              <a:lnSpc>
                <a:spcPts val="1900"/>
              </a:lnSpc>
              <a:buNone/>
            </a:pPr>
            <a:r>
              <a:rPr lang="en-US" sz="1300" b="1" dirty="0">
                <a:solidFill>
                  <a:srgbClr val="1B4332"/>
                </a:solidFill>
                <a:latin typeface="Calibri" pitchFamily="34" charset="0"/>
                <a:ea typeface="Calibri" pitchFamily="34" charset="-122"/>
                <a:cs typeface="Calibri" pitchFamily="34" charset="-120"/>
              </a:rPr>
              <a:t>No machine learning runs on the tablet. </a:t>
            </a:r>
            <a:r>
              <a:rPr lang="en-US" sz="1300" dirty="0">
                <a:solidFill>
                  <a:srgbClr val="1C1C1C"/>
                </a:solidFill>
                <a:latin typeface="Calibri" pitchFamily="34" charset="0"/>
                <a:ea typeface="Calibri" pitchFamily="34" charset="-122"/>
                <a:cs typeface="Calibri" pitchFamily="34" charset="-120"/>
              </a:rPr>
              <a:t>The problem statement requires full offline operation “after initial content synchronisation”, and this is exactly that. It also means nothing can fail on stage: no network, no model load, no variance.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4332"/>
        </a:solidFill>
        <a:effectLst/>
      </p:bgPr>
    </p:bg>
    <p:spTree>
      <p:nvGrpSpPr>
        <p:cNvPr id="1" name=""/>
        <p:cNvGrpSpPr/>
        <p:nvPr/>
      </p:nvGrpSpPr>
      <p:grpSpPr>
        <a:xfrm>
          <a:off x="0" y="0"/>
          <a:ext cx="0" cy="0"/>
          <a:chOff x="0" y="0"/>
          <a:chExt cx="0" cy="0"/>
        </a:xfrm>
      </p:grpSpPr>
      <p:sp>
        <p:nvSpPr>
          <p:cNvPr id="2" name="Text 0"/>
          <p:cNvSpPr/>
          <p:nvPr/>
        </p:nvSpPr>
        <p:spPr>
          <a:xfrm>
            <a:off x="640080" y="411480"/>
            <a:ext cx="10881360" cy="274320"/>
          </a:xfrm>
          <a:prstGeom prst="rect">
            <a:avLst/>
          </a:prstGeom>
          <a:noFill/>
          <a:ln/>
        </p:spPr>
        <p:txBody>
          <a:bodyPr wrap="square" lIns="0" tIns="0" rIns="0" bIns="0" rtlCol="0" anchor="ctr"/>
          <a:lstStyle/>
          <a:p>
            <a:pPr marL="0" indent="0">
              <a:buNone/>
            </a:pPr>
            <a:r>
              <a:rPr lang="en-US" sz="1200" b="1" kern="0" spc="200" dirty="0">
                <a:solidFill>
                  <a:srgbClr val="E9A03B"/>
                </a:solidFill>
                <a:latin typeface="Calibri" pitchFamily="34" charset="0"/>
                <a:ea typeface="Calibri" pitchFamily="34" charset="-122"/>
                <a:cs typeface="Calibri" pitchFamily="34" charset="-120"/>
              </a:rPr>
              <a:t>THE DESIGN RULE WE WILL NOT BREAK</a:t>
            </a:r>
            <a:endParaRPr lang="en-US" sz="1200" dirty="0"/>
          </a:p>
        </p:txBody>
      </p:sp>
      <p:sp>
        <p:nvSpPr>
          <p:cNvPr id="3" name="Text 1"/>
          <p:cNvSpPr/>
          <p:nvPr/>
        </p:nvSpPr>
        <p:spPr>
          <a:xfrm>
            <a:off x="640080" y="713232"/>
            <a:ext cx="10881360" cy="77724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The app never invents a translation</a:t>
            </a:r>
            <a:endParaRPr lang="en-US" sz="3400" dirty="0"/>
          </a:p>
        </p:txBody>
      </p:sp>
      <p:sp>
        <p:nvSpPr>
          <p:cNvPr id="4" name="Text 2"/>
          <p:cNvSpPr/>
          <p:nvPr/>
        </p:nvSpPr>
        <p:spPr>
          <a:xfrm>
            <a:off x="640080" y="1691640"/>
            <a:ext cx="10881360" cy="640080"/>
          </a:xfrm>
          <a:prstGeom prst="rect">
            <a:avLst/>
          </a:prstGeom>
          <a:noFill/>
          <a:ln/>
        </p:spPr>
        <p:txBody>
          <a:bodyPr wrap="square" lIns="0" tIns="0" rIns="0" bIns="0" rtlCol="0" anchor="ctr"/>
          <a:lstStyle/>
          <a:p>
            <a:pPr marL="0" indent="0">
              <a:lnSpc>
                <a:spcPts val="2300"/>
              </a:lnSpc>
              <a:buNone/>
            </a:pPr>
            <a:r>
              <a:rPr lang="en-US" sz="1500" dirty="0">
                <a:solidFill>
                  <a:srgbClr val="CFE0D6"/>
                </a:solidFill>
                <a:latin typeface="Calibri" pitchFamily="34" charset="0"/>
                <a:ea typeface="Calibri" pitchFamily="34" charset="-122"/>
                <a:cs typeface="Calibri" pitchFamily="34" charset="-120"/>
              </a:rPr>
              <a:t>A teacher who does not speak Santali cannot tell a good translation from a bad one. The children can. So every piece of output carries its provenance, shown on screen next to the text.</a:t>
            </a:r>
            <a:endParaRPr lang="en-US" sz="1500" dirty="0"/>
          </a:p>
        </p:txBody>
      </p:sp>
      <p:sp>
        <p:nvSpPr>
          <p:cNvPr id="5" name="Shape 3"/>
          <p:cNvSpPr/>
          <p:nvPr/>
        </p:nvSpPr>
        <p:spPr>
          <a:xfrm>
            <a:off x="640080" y="2514600"/>
            <a:ext cx="3429000" cy="2148840"/>
          </a:xfrm>
          <a:prstGeom prst="roundRect">
            <a:avLst>
              <a:gd name="adj" fmla="val 3404"/>
            </a:avLst>
          </a:prstGeom>
          <a:solidFill>
            <a:srgbClr val="2D6A4F"/>
          </a:solidFill>
          <a:ln w="15875">
            <a:solidFill>
              <a:srgbClr val="52B788"/>
            </a:solidFill>
            <a:prstDash val="solid"/>
          </a:ln>
        </p:spPr>
      </p:sp>
      <p:sp>
        <p:nvSpPr>
          <p:cNvPr id="6" name="Shape 4"/>
          <p:cNvSpPr/>
          <p:nvPr/>
        </p:nvSpPr>
        <p:spPr>
          <a:xfrm>
            <a:off x="914400" y="2761488"/>
            <a:ext cx="237744" cy="237744"/>
          </a:xfrm>
          <a:prstGeom prst="ellipse">
            <a:avLst/>
          </a:prstGeom>
          <a:solidFill>
            <a:srgbClr val="52B788"/>
          </a:solidFill>
          <a:ln/>
        </p:spPr>
      </p:sp>
      <p:sp>
        <p:nvSpPr>
          <p:cNvPr id="7" name="Text 5"/>
          <p:cNvSpPr/>
          <p:nvPr/>
        </p:nvSpPr>
        <p:spPr>
          <a:xfrm>
            <a:off x="1261872" y="2724912"/>
            <a:ext cx="2651760" cy="274320"/>
          </a:xfrm>
          <a:prstGeom prst="rect">
            <a:avLst/>
          </a:prstGeom>
          <a:noFill/>
          <a:ln/>
        </p:spPr>
        <p:txBody>
          <a:bodyPr wrap="square" lIns="0" tIns="0" rIns="0" bIns="0" rtlCol="0" anchor="ctr"/>
          <a:lstStyle/>
          <a:p>
            <a:pPr marL="0" indent="0">
              <a:buNone/>
            </a:pPr>
            <a:r>
              <a:rPr lang="en-US" sz="1150" b="1" kern="0" spc="120" dirty="0">
                <a:solidFill>
                  <a:srgbClr val="52B788"/>
                </a:solidFill>
                <a:latin typeface="Calibri" pitchFamily="34" charset="0"/>
                <a:ea typeface="Calibri" pitchFamily="34" charset="-122"/>
                <a:cs typeface="Calibri" pitchFamily="34" charset="-120"/>
              </a:rPr>
              <a:t>VERIFIED</a:t>
            </a:r>
            <a:endParaRPr lang="en-US" sz="1150" dirty="0"/>
          </a:p>
        </p:txBody>
      </p:sp>
      <p:sp>
        <p:nvSpPr>
          <p:cNvPr id="8" name="Text 6"/>
          <p:cNvSpPr/>
          <p:nvPr/>
        </p:nvSpPr>
        <p:spPr>
          <a:xfrm>
            <a:off x="914400" y="3154680"/>
            <a:ext cx="2880360" cy="1371600"/>
          </a:xfrm>
          <a:prstGeom prst="rect">
            <a:avLst/>
          </a:prstGeom>
          <a:noFill/>
          <a:ln/>
        </p:spPr>
        <p:txBody>
          <a:bodyPr wrap="square" lIns="0" tIns="0" rIns="0" bIns="0" rtlCol="0" anchor="t"/>
          <a:lstStyle/>
          <a:p>
            <a:pPr marL="0" indent="0">
              <a:lnSpc>
                <a:spcPts val="1700"/>
              </a:lnSpc>
              <a:buNone/>
            </a:pPr>
            <a:r>
              <a:rPr lang="en-US" sz="1200" dirty="0">
                <a:solidFill>
                  <a:srgbClr val="D9E6DE"/>
                </a:solidFill>
                <a:latin typeface="Calibri" pitchFamily="34" charset="0"/>
                <a:ea typeface="Calibri" pitchFamily="34" charset="-122"/>
                <a:cs typeface="Calibri" pitchFamily="34" charset="-120"/>
              </a:rPr>
              <a:t>Translated by Bhashini during</a:t>
            </a:r>
            <a:endParaRPr lang="en-US" sz="1200" dirty="0"/>
          </a:p>
          <a:p>
            <a:pPr marL="0" indent="0">
              <a:lnSpc>
                <a:spcPts val="1700"/>
              </a:lnSpc>
              <a:buNone/>
            </a:pPr>
            <a:r>
              <a:rPr lang="en-US" sz="1200" dirty="0">
                <a:solidFill>
                  <a:srgbClr val="D9E6DE"/>
                </a:solidFill>
                <a:latin typeface="Calibri" pitchFamily="34" charset="0"/>
                <a:ea typeface="Calibri" pitchFamily="34" charset="-122"/>
                <a:cs typeface="Calibri" pitchFamily="34" charset="-120"/>
              </a:rPr>
              <a:t>the pack build and shipped</a:t>
            </a:r>
            <a:endParaRPr lang="en-US" sz="1200" dirty="0"/>
          </a:p>
          <a:p>
            <a:pPr marL="0" indent="0">
              <a:lnSpc>
                <a:spcPts val="1700"/>
              </a:lnSpc>
              <a:buNone/>
            </a:pPr>
            <a:r>
              <a:rPr lang="en-US" sz="1200" dirty="0">
                <a:solidFill>
                  <a:srgbClr val="D9E6DE"/>
                </a:solidFill>
                <a:latin typeface="Calibri" pitchFamily="34" charset="0"/>
                <a:ea typeface="Calibri" pitchFamily="34" charset="-122"/>
                <a:cs typeface="Calibri" pitchFamily="34" charset="-120"/>
              </a:rPr>
              <a:t>verbatim. Traceable to a</a:t>
            </a:r>
            <a:endParaRPr lang="en-US" sz="1200" dirty="0"/>
          </a:p>
          <a:p>
            <a:pPr marL="0" indent="0">
              <a:lnSpc>
                <a:spcPts val="1700"/>
              </a:lnSpc>
              <a:buNone/>
            </a:pPr>
            <a:r>
              <a:rPr lang="en-US" sz="1200" dirty="0">
                <a:solidFill>
                  <a:srgbClr val="D9E6DE"/>
                </a:solidFill>
                <a:latin typeface="Calibri" pitchFamily="34" charset="0"/>
                <a:ea typeface="Calibri" pitchFamily="34" charset="-122"/>
                <a:cs typeface="Calibri" pitchFamily="34" charset="-120"/>
              </a:rPr>
              <a:t>service ID.</a:t>
            </a:r>
            <a:endParaRPr lang="en-US" sz="1200" dirty="0"/>
          </a:p>
        </p:txBody>
      </p:sp>
      <p:sp>
        <p:nvSpPr>
          <p:cNvPr id="9" name="Shape 7"/>
          <p:cNvSpPr/>
          <p:nvPr/>
        </p:nvSpPr>
        <p:spPr>
          <a:xfrm>
            <a:off x="4343400" y="2514600"/>
            <a:ext cx="3429000" cy="2148840"/>
          </a:xfrm>
          <a:prstGeom prst="roundRect">
            <a:avLst>
              <a:gd name="adj" fmla="val 3404"/>
            </a:avLst>
          </a:prstGeom>
          <a:solidFill>
            <a:srgbClr val="2D6A4F"/>
          </a:solidFill>
          <a:ln w="15875">
            <a:solidFill>
              <a:srgbClr val="E9A03B"/>
            </a:solidFill>
            <a:prstDash val="solid"/>
          </a:ln>
        </p:spPr>
      </p:sp>
      <p:sp>
        <p:nvSpPr>
          <p:cNvPr id="10" name="Shape 8"/>
          <p:cNvSpPr/>
          <p:nvPr/>
        </p:nvSpPr>
        <p:spPr>
          <a:xfrm>
            <a:off x="4617720" y="2761488"/>
            <a:ext cx="237744" cy="237744"/>
          </a:xfrm>
          <a:prstGeom prst="ellipse">
            <a:avLst/>
          </a:prstGeom>
          <a:solidFill>
            <a:srgbClr val="E9A03B"/>
          </a:solidFill>
          <a:ln/>
        </p:spPr>
      </p:sp>
      <p:sp>
        <p:nvSpPr>
          <p:cNvPr id="11" name="Text 9"/>
          <p:cNvSpPr/>
          <p:nvPr/>
        </p:nvSpPr>
        <p:spPr>
          <a:xfrm>
            <a:off x="4965192" y="2724912"/>
            <a:ext cx="2651760" cy="274320"/>
          </a:xfrm>
          <a:prstGeom prst="rect">
            <a:avLst/>
          </a:prstGeom>
          <a:noFill/>
          <a:ln/>
        </p:spPr>
        <p:txBody>
          <a:bodyPr wrap="square" lIns="0" tIns="0" rIns="0" bIns="0" rtlCol="0" anchor="ctr"/>
          <a:lstStyle/>
          <a:p>
            <a:pPr marL="0" indent="0">
              <a:buNone/>
            </a:pPr>
            <a:r>
              <a:rPr lang="en-US" sz="1150" b="1" kern="0" spc="120" dirty="0">
                <a:solidFill>
                  <a:srgbClr val="E9A03B"/>
                </a:solidFill>
                <a:latin typeface="Calibri" pitchFamily="34" charset="0"/>
                <a:ea typeface="Calibri" pitchFamily="34" charset="-122"/>
                <a:cs typeface="Calibri" pitchFamily="34" charset="-120"/>
              </a:rPr>
              <a:t>SCRIPT CONVERSION</a:t>
            </a:r>
            <a:endParaRPr lang="en-US" sz="1150" dirty="0"/>
          </a:p>
        </p:txBody>
      </p:sp>
      <p:sp>
        <p:nvSpPr>
          <p:cNvPr id="12" name="Text 10"/>
          <p:cNvSpPr/>
          <p:nvPr/>
        </p:nvSpPr>
        <p:spPr>
          <a:xfrm>
            <a:off x="4617720" y="3154680"/>
            <a:ext cx="2880360" cy="1371600"/>
          </a:xfrm>
          <a:prstGeom prst="rect">
            <a:avLst/>
          </a:prstGeom>
          <a:noFill/>
          <a:ln/>
        </p:spPr>
        <p:txBody>
          <a:bodyPr wrap="square" lIns="0" tIns="0" rIns="0" bIns="0" rtlCol="0" anchor="t"/>
          <a:lstStyle/>
          <a:p>
            <a:pPr marL="0" indent="0">
              <a:lnSpc>
                <a:spcPts val="1700"/>
              </a:lnSpc>
              <a:buNone/>
            </a:pPr>
            <a:r>
              <a:rPr lang="en-US" sz="1200" dirty="0">
                <a:solidFill>
                  <a:srgbClr val="D9E6DE"/>
                </a:solidFill>
                <a:latin typeface="Calibri" pitchFamily="34" charset="0"/>
                <a:ea typeface="Calibri" pitchFamily="34" charset="-122"/>
                <a:cs typeface="Calibri" pitchFamily="34" charset="-120"/>
              </a:rPr>
              <a:t>Hindi respelled in Ol Chiki.</a:t>
            </a:r>
            <a:endParaRPr lang="en-US" sz="1200" dirty="0"/>
          </a:p>
          <a:p>
            <a:pPr marL="0" indent="0">
              <a:lnSpc>
                <a:spcPts val="1700"/>
              </a:lnSpc>
              <a:buNone/>
            </a:pPr>
            <a:r>
              <a:rPr lang="en-US" sz="1200" dirty="0">
                <a:solidFill>
                  <a:srgbClr val="D9E6DE"/>
                </a:solidFill>
                <a:latin typeface="Calibri" pitchFamily="34" charset="0"/>
                <a:ea typeface="Calibri" pitchFamily="34" charset="-122"/>
                <a:cs typeface="Calibri" pitchFamily="34" charset="-120"/>
              </a:rPr>
              <a:t>Readable aloud, but it is not</a:t>
            </a:r>
            <a:endParaRPr lang="en-US" sz="1200" dirty="0"/>
          </a:p>
          <a:p>
            <a:pPr marL="0" indent="0">
              <a:lnSpc>
                <a:spcPts val="1700"/>
              </a:lnSpc>
              <a:buNone/>
            </a:pPr>
            <a:r>
              <a:rPr lang="en-US" sz="1200" dirty="0">
                <a:solidFill>
                  <a:srgbClr val="D9E6DE"/>
                </a:solidFill>
                <a:latin typeface="Calibri" pitchFamily="34" charset="0"/>
                <a:ea typeface="Calibri" pitchFamily="34" charset="-122"/>
                <a:cs typeface="Calibri" pitchFamily="34" charset="-120"/>
              </a:rPr>
              <a:t>the language. Always labelled</a:t>
            </a:r>
            <a:endParaRPr lang="en-US" sz="1200" dirty="0"/>
          </a:p>
          <a:p>
            <a:pPr marL="0" indent="0">
              <a:lnSpc>
                <a:spcPts val="1700"/>
              </a:lnSpc>
              <a:buNone/>
            </a:pPr>
            <a:r>
              <a:rPr lang="en-US" sz="1200" dirty="0">
                <a:solidFill>
                  <a:srgbClr val="D9E6DE"/>
                </a:solidFill>
                <a:latin typeface="Calibri" pitchFamily="34" charset="0"/>
                <a:ea typeface="Calibri" pitchFamily="34" charset="-122"/>
                <a:cs typeface="Calibri" pitchFamily="34" charset="-120"/>
              </a:rPr>
              <a:t>as such, never as translation.</a:t>
            </a:r>
            <a:endParaRPr lang="en-US" sz="1200" dirty="0"/>
          </a:p>
        </p:txBody>
      </p:sp>
      <p:sp>
        <p:nvSpPr>
          <p:cNvPr id="13" name="Shape 11"/>
          <p:cNvSpPr/>
          <p:nvPr/>
        </p:nvSpPr>
        <p:spPr>
          <a:xfrm>
            <a:off x="8046720" y="2514600"/>
            <a:ext cx="3429000" cy="2148840"/>
          </a:xfrm>
          <a:prstGeom prst="roundRect">
            <a:avLst>
              <a:gd name="adj" fmla="val 3404"/>
            </a:avLst>
          </a:prstGeom>
          <a:solidFill>
            <a:srgbClr val="2D6A4F"/>
          </a:solidFill>
          <a:ln w="15875">
            <a:solidFill>
              <a:srgbClr val="E07A5F"/>
            </a:solidFill>
            <a:prstDash val="solid"/>
          </a:ln>
        </p:spPr>
      </p:sp>
      <p:sp>
        <p:nvSpPr>
          <p:cNvPr id="14" name="Shape 12"/>
          <p:cNvSpPr/>
          <p:nvPr/>
        </p:nvSpPr>
        <p:spPr>
          <a:xfrm>
            <a:off x="8321040" y="2761488"/>
            <a:ext cx="237744" cy="237744"/>
          </a:xfrm>
          <a:prstGeom prst="ellipse">
            <a:avLst/>
          </a:prstGeom>
          <a:solidFill>
            <a:srgbClr val="E07A5F"/>
          </a:solidFill>
          <a:ln/>
        </p:spPr>
      </p:sp>
      <p:sp>
        <p:nvSpPr>
          <p:cNvPr id="15" name="Text 13"/>
          <p:cNvSpPr/>
          <p:nvPr/>
        </p:nvSpPr>
        <p:spPr>
          <a:xfrm>
            <a:off x="8668512" y="2724912"/>
            <a:ext cx="2651760" cy="274320"/>
          </a:xfrm>
          <a:prstGeom prst="rect">
            <a:avLst/>
          </a:prstGeom>
          <a:noFill/>
          <a:ln/>
        </p:spPr>
        <p:txBody>
          <a:bodyPr wrap="square" lIns="0" tIns="0" rIns="0" bIns="0" rtlCol="0" anchor="ctr"/>
          <a:lstStyle/>
          <a:p>
            <a:pPr marL="0" indent="0">
              <a:buNone/>
            </a:pPr>
            <a:r>
              <a:rPr lang="en-US" sz="1150" b="1" kern="0" spc="120" dirty="0">
                <a:solidFill>
                  <a:srgbClr val="E07A5F"/>
                </a:solidFill>
                <a:latin typeface="Calibri" pitchFamily="34" charset="0"/>
                <a:ea typeface="Calibri" pitchFamily="34" charset="-122"/>
                <a:cs typeface="Calibri" pitchFamily="34" charset="-120"/>
              </a:rPr>
              <a:t>UNAVAILABLE</a:t>
            </a:r>
            <a:endParaRPr lang="en-US" sz="1150" dirty="0"/>
          </a:p>
        </p:txBody>
      </p:sp>
      <p:sp>
        <p:nvSpPr>
          <p:cNvPr id="16" name="Text 14"/>
          <p:cNvSpPr/>
          <p:nvPr/>
        </p:nvSpPr>
        <p:spPr>
          <a:xfrm>
            <a:off x="8321040" y="3154680"/>
            <a:ext cx="2880360" cy="1371600"/>
          </a:xfrm>
          <a:prstGeom prst="rect">
            <a:avLst/>
          </a:prstGeom>
          <a:noFill/>
          <a:ln/>
        </p:spPr>
        <p:txBody>
          <a:bodyPr wrap="square" lIns="0" tIns="0" rIns="0" bIns="0" rtlCol="0" anchor="t"/>
          <a:lstStyle/>
          <a:p>
            <a:pPr marL="0" indent="0">
              <a:lnSpc>
                <a:spcPts val="1700"/>
              </a:lnSpc>
              <a:buNone/>
            </a:pPr>
            <a:r>
              <a:rPr lang="en-US" sz="1200" dirty="0">
                <a:solidFill>
                  <a:srgbClr val="D9E6DE"/>
                </a:solidFill>
                <a:latin typeface="Calibri" pitchFamily="34" charset="0"/>
                <a:ea typeface="Calibri" pitchFamily="34" charset="-122"/>
                <a:cs typeface="Calibri" pitchFamily="34" charset="-120"/>
              </a:rPr>
              <a:t>Nothing verified for this input.</a:t>
            </a:r>
            <a:endParaRPr lang="en-US" sz="1200" dirty="0"/>
          </a:p>
          <a:p>
            <a:pPr marL="0" indent="0">
              <a:lnSpc>
                <a:spcPts val="1700"/>
              </a:lnSpc>
              <a:buNone/>
            </a:pPr>
            <a:r>
              <a:rPr lang="en-US" sz="1200" dirty="0">
                <a:solidFill>
                  <a:srgbClr val="D9E6DE"/>
                </a:solidFill>
                <a:latin typeface="Calibri" pitchFamily="34" charset="0"/>
                <a:ea typeface="Calibri" pitchFamily="34" charset="-122"/>
                <a:cs typeface="Calibri" pitchFamily="34" charset="-120"/>
              </a:rPr>
              <a:t>The app says so and shows</a:t>
            </a:r>
            <a:endParaRPr lang="en-US" sz="1200" dirty="0"/>
          </a:p>
          <a:p>
            <a:pPr marL="0" indent="0">
              <a:lnSpc>
                <a:spcPts val="1700"/>
              </a:lnSpc>
              <a:buNone/>
            </a:pPr>
            <a:r>
              <a:rPr lang="en-US" sz="1200" dirty="0">
                <a:solidFill>
                  <a:srgbClr val="D9E6DE"/>
                </a:solidFill>
                <a:latin typeface="Calibri" pitchFamily="34" charset="0"/>
                <a:ea typeface="Calibri" pitchFamily="34" charset="-122"/>
                <a:cs typeface="Calibri" pitchFamily="34" charset="-120"/>
              </a:rPr>
              <a:t>nothing, rather than offering</a:t>
            </a:r>
            <a:endParaRPr lang="en-US" sz="1200" dirty="0"/>
          </a:p>
          <a:p>
            <a:pPr marL="0" indent="0">
              <a:lnSpc>
                <a:spcPts val="1700"/>
              </a:lnSpc>
              <a:buNone/>
            </a:pPr>
            <a:r>
              <a:rPr lang="en-US" sz="1200" dirty="0">
                <a:solidFill>
                  <a:srgbClr val="D9E6DE"/>
                </a:solidFill>
                <a:latin typeface="Calibri" pitchFamily="34" charset="0"/>
                <a:ea typeface="Calibri" pitchFamily="34" charset="-122"/>
                <a:cs typeface="Calibri" pitchFamily="34" charset="-120"/>
              </a:rPr>
              <a:t>a plausible guess.</a:t>
            </a:r>
            <a:endParaRPr lang="en-US" sz="1200" dirty="0"/>
          </a:p>
        </p:txBody>
      </p:sp>
      <p:sp>
        <p:nvSpPr>
          <p:cNvPr id="17" name="Text 15"/>
          <p:cNvSpPr/>
          <p:nvPr/>
        </p:nvSpPr>
        <p:spPr>
          <a:xfrm>
            <a:off x="640080" y="4983480"/>
            <a:ext cx="10881360" cy="731520"/>
          </a:xfrm>
          <a:prstGeom prst="rect">
            <a:avLst/>
          </a:prstGeom>
          <a:noFill/>
          <a:ln/>
        </p:spPr>
        <p:txBody>
          <a:bodyPr wrap="square" lIns="0" tIns="0" rIns="0" bIns="0" rtlCol="0" anchor="ctr"/>
          <a:lstStyle/>
          <a:p>
            <a:pPr marL="0" indent="0">
              <a:lnSpc>
                <a:spcPts val="2000"/>
              </a:lnSpc>
              <a:buNone/>
            </a:pPr>
            <a:r>
              <a:rPr lang="en-US" sz="1350" i="1" dirty="0">
                <a:solidFill>
                  <a:srgbClr val="E9A03B"/>
                </a:solidFill>
                <a:latin typeface="Calibri" pitchFamily="34" charset="0"/>
                <a:ea typeface="Calibri" pitchFamily="34" charset="-122"/>
                <a:cs typeface="Calibri" pitchFamily="34" charset="-120"/>
              </a:rPr>
              <a:t>This is not caution for its own sake. Output that looks plausible and is wrong is the single failure mode that would discredit the whole project in a Jharkhand classroom, and it is invisible to everyone in the room except the children.</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411480"/>
            <a:ext cx="10881360" cy="274320"/>
          </a:xfrm>
          <a:prstGeom prst="rect">
            <a:avLst/>
          </a:prstGeom>
          <a:noFill/>
          <a:ln/>
        </p:spPr>
        <p:txBody>
          <a:bodyPr wrap="square" lIns="0" tIns="0" rIns="0" bIns="0" rtlCol="0" anchor="ctr"/>
          <a:lstStyle/>
          <a:p>
            <a:pPr marL="0" indent="0">
              <a:buNone/>
            </a:pPr>
            <a:r>
              <a:rPr lang="en-US" sz="1200" b="1" kern="0" spc="200" dirty="0">
                <a:solidFill>
                  <a:srgbClr val="B85042"/>
                </a:solidFill>
                <a:latin typeface="Calibri" pitchFamily="34" charset="0"/>
                <a:ea typeface="Calibri" pitchFamily="34" charset="-122"/>
                <a:cs typeface="Calibri" pitchFamily="34" charset="-120"/>
              </a:rPr>
              <a:t>AGAINST THE PROBLEM STATEMENT</a:t>
            </a:r>
            <a:endParaRPr lang="en-US" sz="1200" dirty="0"/>
          </a:p>
        </p:txBody>
      </p:sp>
      <p:sp>
        <p:nvSpPr>
          <p:cNvPr id="3" name="Text 1"/>
          <p:cNvSpPr/>
          <p:nvPr/>
        </p:nvSpPr>
        <p:spPr>
          <a:xfrm>
            <a:off x="640080" y="713232"/>
            <a:ext cx="10881360" cy="777240"/>
          </a:xfrm>
          <a:prstGeom prst="rect">
            <a:avLst/>
          </a:prstGeom>
          <a:noFill/>
          <a:ln/>
        </p:spPr>
        <p:txBody>
          <a:bodyPr wrap="square" lIns="0" tIns="0" rIns="0" bIns="0" rtlCol="0" anchor="ctr"/>
          <a:lstStyle/>
          <a:p>
            <a:pPr marL="0" indent="0">
              <a:buNone/>
            </a:pPr>
            <a:r>
              <a:rPr lang="en-US" sz="3400" b="1" dirty="0">
                <a:solidFill>
                  <a:srgbClr val="1C1C1C"/>
                </a:solidFill>
                <a:latin typeface="Cambria" pitchFamily="34" charset="0"/>
                <a:ea typeface="Cambria" pitchFamily="34" charset="-122"/>
                <a:cs typeface="Cambria" pitchFamily="34" charset="-120"/>
              </a:rPr>
              <a:t>The four things it asks us to deliver</a:t>
            </a:r>
            <a:endParaRPr lang="en-US" sz="3400" dirty="0"/>
          </a:p>
        </p:txBody>
      </p:sp>
      <p:sp>
        <p:nvSpPr>
          <p:cNvPr id="4" name="Shape 2"/>
          <p:cNvSpPr/>
          <p:nvPr/>
        </p:nvSpPr>
        <p:spPr>
          <a:xfrm>
            <a:off x="640080" y="1691640"/>
            <a:ext cx="10881360" cy="914400"/>
          </a:xfrm>
          <a:prstGeom prst="roundRect">
            <a:avLst>
              <a:gd name="adj" fmla="val 6000"/>
            </a:avLst>
          </a:prstGeom>
          <a:solidFill>
            <a:srgbClr val="FFFFFF"/>
          </a:solidFill>
          <a:ln w="9525">
            <a:solidFill>
              <a:srgbClr val="DCDCDC"/>
            </a:solidFill>
            <a:prstDash val="solid"/>
          </a:ln>
        </p:spPr>
      </p:sp>
      <p:sp>
        <p:nvSpPr>
          <p:cNvPr id="5" name="Shape 3"/>
          <p:cNvSpPr/>
          <p:nvPr/>
        </p:nvSpPr>
        <p:spPr>
          <a:xfrm>
            <a:off x="896112" y="1947672"/>
            <a:ext cx="402336" cy="402336"/>
          </a:xfrm>
          <a:prstGeom prst="ellipse">
            <a:avLst/>
          </a:prstGeom>
          <a:solidFill>
            <a:srgbClr val="1B4332"/>
          </a:solidFill>
          <a:ln/>
          <a:effectLst>
            <a:outerShdw blurRad="152400" dist="38100" dir="5400000" algn="bl" rotWithShape="0">
              <a:srgbClr val="000000">
                <a:alpha val="12000"/>
              </a:srgbClr>
            </a:outerShdw>
          </a:effectLst>
        </p:spPr>
      </p:sp>
      <p:sp>
        <p:nvSpPr>
          <p:cNvPr id="6" name="Text 4"/>
          <p:cNvSpPr/>
          <p:nvPr/>
        </p:nvSpPr>
        <p:spPr>
          <a:xfrm>
            <a:off x="896112" y="1947672"/>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463040" y="1837944"/>
            <a:ext cx="3017520" cy="640080"/>
          </a:xfrm>
          <a:prstGeom prst="rect">
            <a:avLst/>
          </a:prstGeom>
          <a:noFill/>
          <a:ln/>
        </p:spPr>
        <p:txBody>
          <a:bodyPr wrap="square" lIns="0" tIns="0" rIns="0" bIns="0" rtlCol="0" anchor="ctr"/>
          <a:lstStyle/>
          <a:p>
            <a:pPr marL="0" indent="0">
              <a:lnSpc>
                <a:spcPts val="1700"/>
              </a:lnSpc>
              <a:buNone/>
            </a:pPr>
            <a:r>
              <a:rPr lang="en-US" sz="1350" b="1" dirty="0">
                <a:solidFill>
                  <a:srgbClr val="1C1C1C"/>
                </a:solidFill>
                <a:latin typeface="Cambria" pitchFamily="34" charset="0"/>
                <a:ea typeface="Cambria" pitchFamily="34" charset="-122"/>
                <a:cs typeface="Cambria" pitchFamily="34" charset="-120"/>
              </a:rPr>
              <a:t>Hindi to tribal language,</a:t>
            </a:r>
            <a:endParaRPr lang="en-US" sz="1350" dirty="0"/>
          </a:p>
          <a:p>
            <a:pPr marL="0" indent="0">
              <a:lnSpc>
                <a:spcPts val="1700"/>
              </a:lnSpc>
              <a:buNone/>
            </a:pPr>
            <a:r>
              <a:rPr lang="en-US" sz="1350" b="1" dirty="0">
                <a:solidFill>
                  <a:srgbClr val="1C1C1C"/>
                </a:solidFill>
                <a:latin typeface="Cambria" pitchFamily="34" charset="0"/>
                <a:ea typeface="Cambria" pitchFamily="34" charset="-122"/>
                <a:cs typeface="Cambria" pitchFamily="34" charset="-120"/>
              </a:rPr>
              <a:t>minimum one language</a:t>
            </a:r>
            <a:endParaRPr lang="en-US" sz="1350" dirty="0"/>
          </a:p>
        </p:txBody>
      </p:sp>
      <p:sp>
        <p:nvSpPr>
          <p:cNvPr id="8" name="Text 6"/>
          <p:cNvSpPr/>
          <p:nvPr/>
        </p:nvSpPr>
        <p:spPr>
          <a:xfrm>
            <a:off x="4663440" y="1874520"/>
            <a:ext cx="6675120" cy="594360"/>
          </a:xfrm>
          <a:prstGeom prst="rect">
            <a:avLst/>
          </a:prstGeom>
          <a:noFill/>
          <a:ln/>
        </p:spPr>
        <p:txBody>
          <a:bodyPr wrap="square" lIns="0" tIns="0" rIns="0" bIns="0" rtlCol="0" anchor="t"/>
          <a:lstStyle/>
          <a:p>
            <a:pPr marL="0" indent="0">
              <a:lnSpc>
                <a:spcPts val="1700"/>
              </a:lnSpc>
              <a:buNone/>
            </a:pPr>
            <a:r>
              <a:rPr lang="en-US" sz="1250" dirty="0">
                <a:solidFill>
                  <a:srgbClr val="6B6B6B"/>
                </a:solidFill>
                <a:latin typeface="Calibri" pitchFamily="34" charset="0"/>
                <a:ea typeface="Calibri" pitchFamily="34" charset="-122"/>
                <a:cs typeface="Calibri" pitchFamily="34" charset="-120"/>
              </a:rPr>
              <a:t>Santali, via Bhashini IndicTrans-v2. Ho and Mundari are in the picker as the declared next step.</a:t>
            </a:r>
            <a:endParaRPr lang="en-US" sz="1250" dirty="0"/>
          </a:p>
        </p:txBody>
      </p:sp>
      <p:sp>
        <p:nvSpPr>
          <p:cNvPr id="9" name="Shape 7"/>
          <p:cNvSpPr/>
          <p:nvPr/>
        </p:nvSpPr>
        <p:spPr>
          <a:xfrm>
            <a:off x="640080" y="2715768"/>
            <a:ext cx="10881360" cy="914400"/>
          </a:xfrm>
          <a:prstGeom prst="roundRect">
            <a:avLst>
              <a:gd name="adj" fmla="val 6000"/>
            </a:avLst>
          </a:prstGeom>
          <a:solidFill>
            <a:srgbClr val="F7F7F5"/>
          </a:solidFill>
          <a:ln w="9525">
            <a:solidFill>
              <a:srgbClr val="DCDCDC"/>
            </a:solidFill>
            <a:prstDash val="solid"/>
          </a:ln>
        </p:spPr>
      </p:sp>
      <p:sp>
        <p:nvSpPr>
          <p:cNvPr id="10" name="Shape 8"/>
          <p:cNvSpPr/>
          <p:nvPr/>
        </p:nvSpPr>
        <p:spPr>
          <a:xfrm>
            <a:off x="896112" y="2971800"/>
            <a:ext cx="402336" cy="402336"/>
          </a:xfrm>
          <a:prstGeom prst="ellipse">
            <a:avLst/>
          </a:prstGeom>
          <a:solidFill>
            <a:srgbClr val="1B4332"/>
          </a:solidFill>
          <a:ln/>
          <a:effectLst>
            <a:outerShdw blurRad="152400" dist="38100" dir="5400000" algn="bl" rotWithShape="0">
              <a:srgbClr val="000000">
                <a:alpha val="12000"/>
              </a:srgbClr>
            </a:outerShdw>
          </a:effectLst>
        </p:spPr>
      </p:sp>
      <p:sp>
        <p:nvSpPr>
          <p:cNvPr id="11" name="Text 9"/>
          <p:cNvSpPr/>
          <p:nvPr/>
        </p:nvSpPr>
        <p:spPr>
          <a:xfrm>
            <a:off x="896112" y="297180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p:nvPr/>
        </p:nvSpPr>
        <p:spPr>
          <a:xfrm>
            <a:off x="1463040" y="2862072"/>
            <a:ext cx="3017520" cy="640080"/>
          </a:xfrm>
          <a:prstGeom prst="rect">
            <a:avLst/>
          </a:prstGeom>
          <a:noFill/>
          <a:ln/>
        </p:spPr>
        <p:txBody>
          <a:bodyPr wrap="square" lIns="0" tIns="0" rIns="0" bIns="0" rtlCol="0" anchor="ctr"/>
          <a:lstStyle/>
          <a:p>
            <a:pPr marL="0" indent="0">
              <a:lnSpc>
                <a:spcPts val="1700"/>
              </a:lnSpc>
              <a:buNone/>
            </a:pPr>
            <a:r>
              <a:rPr lang="en-US" sz="1350" b="1" dirty="0">
                <a:solidFill>
                  <a:srgbClr val="1C1C1C"/>
                </a:solidFill>
                <a:latin typeface="Cambria" pitchFamily="34" charset="0"/>
                <a:ea typeface="Cambria" pitchFamily="34" charset="-122"/>
                <a:cs typeface="Cambria" pitchFamily="34" charset="-120"/>
              </a:rPr>
              <a:t>Real-time voice translation,</a:t>
            </a:r>
            <a:endParaRPr lang="en-US" sz="1350" dirty="0"/>
          </a:p>
          <a:p>
            <a:pPr marL="0" indent="0">
              <a:lnSpc>
                <a:spcPts val="1700"/>
              </a:lnSpc>
              <a:buNone/>
            </a:pPr>
            <a:r>
              <a:rPr lang="en-US" sz="1350" b="1" dirty="0">
                <a:solidFill>
                  <a:srgbClr val="1C1C1C"/>
                </a:solidFill>
                <a:latin typeface="Cambria" pitchFamily="34" charset="0"/>
                <a:ea typeface="Cambria" pitchFamily="34" charset="-122"/>
                <a:cs typeface="Cambria" pitchFamily="34" charset="-120"/>
              </a:rPr>
              <a:t>under three seconds</a:t>
            </a:r>
            <a:endParaRPr lang="en-US" sz="1350" dirty="0"/>
          </a:p>
        </p:txBody>
      </p:sp>
      <p:sp>
        <p:nvSpPr>
          <p:cNvPr id="13" name="Text 11"/>
          <p:cNvSpPr/>
          <p:nvPr/>
        </p:nvSpPr>
        <p:spPr>
          <a:xfrm>
            <a:off x="4663440" y="2898648"/>
            <a:ext cx="6675120" cy="594360"/>
          </a:xfrm>
          <a:prstGeom prst="rect">
            <a:avLst/>
          </a:prstGeom>
          <a:noFill/>
          <a:ln/>
        </p:spPr>
        <p:txBody>
          <a:bodyPr wrap="square" lIns="0" tIns="0" rIns="0" bIns="0" rtlCol="0" anchor="t"/>
          <a:lstStyle/>
          <a:p>
            <a:pPr marL="0" indent="0">
              <a:lnSpc>
                <a:spcPts val="1700"/>
              </a:lnSpc>
              <a:buNone/>
            </a:pPr>
            <a:r>
              <a:rPr lang="en-US" sz="1250" dirty="0">
                <a:solidFill>
                  <a:srgbClr val="6B6B6B"/>
                </a:solidFill>
                <a:latin typeface="Calibri" pitchFamily="34" charset="0"/>
                <a:ea typeface="Calibri" pitchFamily="34" charset="-122"/>
                <a:cs typeface="Calibri" pitchFamily="34" charset="-120"/>
              </a:rPr>
              <a:t>Android on-device speech recognition plus a local lookup. Target ~200 ms, measured on a real tablet and published.</a:t>
            </a:r>
            <a:endParaRPr lang="en-US" sz="1250" dirty="0"/>
          </a:p>
        </p:txBody>
      </p:sp>
      <p:sp>
        <p:nvSpPr>
          <p:cNvPr id="14" name="Shape 12"/>
          <p:cNvSpPr/>
          <p:nvPr/>
        </p:nvSpPr>
        <p:spPr>
          <a:xfrm>
            <a:off x="640080" y="3739896"/>
            <a:ext cx="10881360" cy="914400"/>
          </a:xfrm>
          <a:prstGeom prst="roundRect">
            <a:avLst>
              <a:gd name="adj" fmla="val 6000"/>
            </a:avLst>
          </a:prstGeom>
          <a:solidFill>
            <a:srgbClr val="FFFFFF"/>
          </a:solidFill>
          <a:ln w="9525">
            <a:solidFill>
              <a:srgbClr val="DCDCDC"/>
            </a:solidFill>
            <a:prstDash val="solid"/>
          </a:ln>
        </p:spPr>
      </p:sp>
      <p:sp>
        <p:nvSpPr>
          <p:cNvPr id="15" name="Shape 13"/>
          <p:cNvSpPr/>
          <p:nvPr/>
        </p:nvSpPr>
        <p:spPr>
          <a:xfrm>
            <a:off x="896112" y="3995928"/>
            <a:ext cx="402336" cy="402336"/>
          </a:xfrm>
          <a:prstGeom prst="ellipse">
            <a:avLst/>
          </a:prstGeom>
          <a:solidFill>
            <a:srgbClr val="1B4332"/>
          </a:solidFill>
          <a:ln/>
          <a:effectLst>
            <a:outerShdw blurRad="152400" dist="38100" dir="5400000" algn="bl" rotWithShape="0">
              <a:srgbClr val="000000">
                <a:alpha val="12000"/>
              </a:srgbClr>
            </a:outerShdw>
          </a:effectLst>
        </p:spPr>
      </p:sp>
      <p:sp>
        <p:nvSpPr>
          <p:cNvPr id="16" name="Text 14"/>
          <p:cNvSpPr/>
          <p:nvPr/>
        </p:nvSpPr>
        <p:spPr>
          <a:xfrm>
            <a:off x="896112" y="399592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p:nvPr/>
        </p:nvSpPr>
        <p:spPr>
          <a:xfrm>
            <a:off x="1463040" y="3886200"/>
            <a:ext cx="3017520" cy="640080"/>
          </a:xfrm>
          <a:prstGeom prst="rect">
            <a:avLst/>
          </a:prstGeom>
          <a:noFill/>
          <a:ln/>
        </p:spPr>
        <p:txBody>
          <a:bodyPr wrap="square" lIns="0" tIns="0" rIns="0" bIns="0" rtlCol="0" anchor="ctr"/>
          <a:lstStyle/>
          <a:p>
            <a:pPr marL="0" indent="0">
              <a:lnSpc>
                <a:spcPts val="1700"/>
              </a:lnSpc>
              <a:buNone/>
            </a:pPr>
            <a:r>
              <a:rPr lang="en-US" sz="1350" b="1" dirty="0">
                <a:solidFill>
                  <a:srgbClr val="1C1C1C"/>
                </a:solidFill>
                <a:latin typeface="Cambria" pitchFamily="34" charset="0"/>
                <a:ea typeface="Cambria" pitchFamily="34" charset="-122"/>
                <a:cs typeface="Cambria" pitchFamily="34" charset="-120"/>
              </a:rPr>
              <a:t>Auto-generated bilingual</a:t>
            </a:r>
            <a:endParaRPr lang="en-US" sz="1350" dirty="0"/>
          </a:p>
          <a:p>
            <a:pPr marL="0" indent="0">
              <a:lnSpc>
                <a:spcPts val="1700"/>
              </a:lnSpc>
              <a:buNone/>
            </a:pPr>
            <a:r>
              <a:rPr lang="en-US" sz="1350" b="1" dirty="0">
                <a:solidFill>
                  <a:srgbClr val="1C1C1C"/>
                </a:solidFill>
                <a:latin typeface="Cambria" pitchFamily="34" charset="0"/>
                <a:ea typeface="Cambria" pitchFamily="34" charset="-122"/>
                <a:cs typeface="Cambria" pitchFamily="34" charset="-120"/>
              </a:rPr>
              <a:t>worksheet output</a:t>
            </a:r>
            <a:endParaRPr lang="en-US" sz="1350" dirty="0"/>
          </a:p>
        </p:txBody>
      </p:sp>
      <p:sp>
        <p:nvSpPr>
          <p:cNvPr id="18" name="Text 16"/>
          <p:cNvSpPr/>
          <p:nvPr/>
        </p:nvSpPr>
        <p:spPr>
          <a:xfrm>
            <a:off x="4663440" y="3922776"/>
            <a:ext cx="6675120" cy="594360"/>
          </a:xfrm>
          <a:prstGeom prst="rect">
            <a:avLst/>
          </a:prstGeom>
          <a:noFill/>
          <a:ln/>
        </p:spPr>
        <p:txBody>
          <a:bodyPr wrap="square" lIns="0" tIns="0" rIns="0" bIns="0" rtlCol="0" anchor="t"/>
          <a:lstStyle/>
          <a:p>
            <a:pPr marL="0" indent="0">
              <a:lnSpc>
                <a:spcPts val="1700"/>
              </a:lnSpc>
              <a:buNone/>
            </a:pPr>
            <a:r>
              <a:rPr lang="en-US" sz="1250" dirty="0">
                <a:solidFill>
                  <a:srgbClr val="6B6B6B"/>
                </a:solidFill>
                <a:latin typeface="Calibri" pitchFamily="34" charset="0"/>
                <a:ea typeface="Calibri" pitchFamily="34" charset="-122"/>
                <a:cs typeface="Calibri" pitchFamily="34" charset="-120"/>
              </a:rPr>
              <a:t>A4 PDF from the same pack: Hindi line, Ol Chiki line, NIPUN Bharat outcome code in the footer.</a:t>
            </a:r>
            <a:endParaRPr lang="en-US" sz="1250" dirty="0"/>
          </a:p>
        </p:txBody>
      </p:sp>
      <p:sp>
        <p:nvSpPr>
          <p:cNvPr id="19" name="Shape 17"/>
          <p:cNvSpPr/>
          <p:nvPr/>
        </p:nvSpPr>
        <p:spPr>
          <a:xfrm>
            <a:off x="640080" y="4764024"/>
            <a:ext cx="10881360" cy="914400"/>
          </a:xfrm>
          <a:prstGeom prst="roundRect">
            <a:avLst>
              <a:gd name="adj" fmla="val 6000"/>
            </a:avLst>
          </a:prstGeom>
          <a:solidFill>
            <a:srgbClr val="F7F7F5"/>
          </a:solidFill>
          <a:ln w="9525">
            <a:solidFill>
              <a:srgbClr val="DCDCDC"/>
            </a:solidFill>
            <a:prstDash val="solid"/>
          </a:ln>
        </p:spPr>
      </p:sp>
      <p:sp>
        <p:nvSpPr>
          <p:cNvPr id="20" name="Shape 18"/>
          <p:cNvSpPr/>
          <p:nvPr/>
        </p:nvSpPr>
        <p:spPr>
          <a:xfrm>
            <a:off x="896112" y="5020056"/>
            <a:ext cx="402336" cy="402336"/>
          </a:xfrm>
          <a:prstGeom prst="ellipse">
            <a:avLst/>
          </a:prstGeom>
          <a:solidFill>
            <a:srgbClr val="1B4332"/>
          </a:solidFill>
          <a:ln/>
          <a:effectLst>
            <a:outerShdw blurRad="152400" dist="38100" dir="5400000" algn="bl" rotWithShape="0">
              <a:srgbClr val="000000">
                <a:alpha val="12000"/>
              </a:srgbClr>
            </a:outerShdw>
          </a:effectLst>
        </p:spPr>
      </p:sp>
      <p:sp>
        <p:nvSpPr>
          <p:cNvPr id="21" name="Text 19"/>
          <p:cNvSpPr/>
          <p:nvPr/>
        </p:nvSpPr>
        <p:spPr>
          <a:xfrm>
            <a:off x="896112" y="502005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2" name="Text 20"/>
          <p:cNvSpPr/>
          <p:nvPr/>
        </p:nvSpPr>
        <p:spPr>
          <a:xfrm>
            <a:off x="1463040" y="4910328"/>
            <a:ext cx="3017520" cy="640080"/>
          </a:xfrm>
          <a:prstGeom prst="rect">
            <a:avLst/>
          </a:prstGeom>
          <a:noFill/>
          <a:ln/>
        </p:spPr>
        <p:txBody>
          <a:bodyPr wrap="square" lIns="0" tIns="0" rIns="0" bIns="0" rtlCol="0" anchor="ctr"/>
          <a:lstStyle/>
          <a:p>
            <a:pPr marL="0" indent="0">
              <a:lnSpc>
                <a:spcPts val="1700"/>
              </a:lnSpc>
              <a:buNone/>
            </a:pPr>
            <a:r>
              <a:rPr lang="en-US" sz="1350" b="1" dirty="0">
                <a:solidFill>
                  <a:srgbClr val="1C1C1C"/>
                </a:solidFill>
                <a:latin typeface="Cambria" pitchFamily="34" charset="0"/>
                <a:ea typeface="Cambria" pitchFamily="34" charset="-122"/>
                <a:cs typeface="Cambria" pitchFamily="34" charset="-120"/>
              </a:rPr>
              <a:t>Full offline operation on a</a:t>
            </a:r>
            <a:endParaRPr lang="en-US" sz="1350" dirty="0"/>
          </a:p>
          <a:p>
            <a:pPr marL="0" indent="0">
              <a:lnSpc>
                <a:spcPts val="1700"/>
              </a:lnSpc>
              <a:buNone/>
            </a:pPr>
            <a:r>
              <a:rPr lang="en-US" sz="1350" b="1" dirty="0">
                <a:solidFill>
                  <a:srgbClr val="1C1C1C"/>
                </a:solidFill>
                <a:latin typeface="Cambria" pitchFamily="34" charset="0"/>
                <a:ea typeface="Cambria" pitchFamily="34" charset="-122"/>
                <a:cs typeface="Cambria" pitchFamily="34" charset="-120"/>
              </a:rPr>
              <a:t>low-end Android tablet</a:t>
            </a:r>
            <a:endParaRPr lang="en-US" sz="1350" dirty="0"/>
          </a:p>
        </p:txBody>
      </p:sp>
      <p:sp>
        <p:nvSpPr>
          <p:cNvPr id="23" name="Text 21"/>
          <p:cNvSpPr/>
          <p:nvPr/>
        </p:nvSpPr>
        <p:spPr>
          <a:xfrm>
            <a:off x="4663440" y="4946904"/>
            <a:ext cx="6675120" cy="594360"/>
          </a:xfrm>
          <a:prstGeom prst="rect">
            <a:avLst/>
          </a:prstGeom>
          <a:noFill/>
          <a:ln/>
        </p:spPr>
        <p:txBody>
          <a:bodyPr wrap="square" lIns="0" tIns="0" rIns="0" bIns="0" rtlCol="0" anchor="t"/>
          <a:lstStyle/>
          <a:p>
            <a:pPr marL="0" indent="0">
              <a:lnSpc>
                <a:spcPts val="1700"/>
              </a:lnSpc>
              <a:buNone/>
            </a:pPr>
            <a:r>
              <a:rPr lang="en-US" sz="1250" dirty="0">
                <a:solidFill>
                  <a:srgbClr val="6B6B6B"/>
                </a:solidFill>
                <a:latin typeface="Calibri" pitchFamily="34" charset="0"/>
                <a:ea typeface="Calibri" pitchFamily="34" charset="-122"/>
                <a:cs typeface="Calibri" pitchFamily="34" charset="-120"/>
              </a:rPr>
              <a:t>minSdk 28, 2 GB RAM target, zero network calls at run time. Demonstrated in aeroplane mode.</a:t>
            </a:r>
            <a:endParaRPr lang="en-US" sz="1250" dirty="0"/>
          </a:p>
        </p:txBody>
      </p:sp>
      <p:sp>
        <p:nvSpPr>
          <p:cNvPr id="24" name="Text 22"/>
          <p:cNvSpPr/>
          <p:nvPr/>
        </p:nvSpPr>
        <p:spPr>
          <a:xfrm>
            <a:off x="640080" y="5943600"/>
            <a:ext cx="10881360" cy="365760"/>
          </a:xfrm>
          <a:prstGeom prst="rect">
            <a:avLst/>
          </a:prstGeom>
          <a:noFill/>
          <a:ln/>
        </p:spPr>
        <p:txBody>
          <a:bodyPr wrap="square" lIns="0" tIns="0" rIns="0" bIns="0" rtlCol="0" anchor="ctr"/>
          <a:lstStyle/>
          <a:p>
            <a:pPr marL="0" indent="0">
              <a:buNone/>
            </a:pPr>
            <a:r>
              <a:rPr lang="en-US" sz="1200" i="1" dirty="0">
                <a:solidFill>
                  <a:srgbClr val="6B6B6B"/>
                </a:solidFill>
                <a:latin typeface="Calibri" pitchFamily="34" charset="0"/>
                <a:ea typeface="Calibri" pitchFamily="34" charset="-122"/>
                <a:cs typeface="Calibri" pitchFamily="34" charset="-120"/>
              </a:rPr>
              <a:t>Also required at submission: a demo video and a public GitHub repository. Both are planned into the build schedule.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411480"/>
            <a:ext cx="10881360" cy="274320"/>
          </a:xfrm>
          <a:prstGeom prst="rect">
            <a:avLst/>
          </a:prstGeom>
          <a:noFill/>
          <a:ln/>
        </p:spPr>
        <p:txBody>
          <a:bodyPr wrap="square" lIns="0" tIns="0" rIns="0" bIns="0" rtlCol="0" anchor="ctr"/>
          <a:lstStyle/>
          <a:p>
            <a:pPr marL="0" indent="0">
              <a:buNone/>
            </a:pPr>
            <a:r>
              <a:rPr lang="en-US" sz="1200" b="1" kern="0" spc="200" dirty="0">
                <a:solidFill>
                  <a:srgbClr val="B85042"/>
                </a:solidFill>
                <a:latin typeface="Calibri" pitchFamily="34" charset="0"/>
                <a:ea typeface="Calibri" pitchFamily="34" charset="-122"/>
                <a:cs typeface="Calibri" pitchFamily="34" charset="-120"/>
              </a:rPr>
              <a:t>TECHNICAL STACK</a:t>
            </a:r>
            <a:endParaRPr lang="en-US" sz="1200" dirty="0"/>
          </a:p>
        </p:txBody>
      </p:sp>
      <p:sp>
        <p:nvSpPr>
          <p:cNvPr id="3" name="Text 1"/>
          <p:cNvSpPr/>
          <p:nvPr/>
        </p:nvSpPr>
        <p:spPr>
          <a:xfrm>
            <a:off x="640080" y="713232"/>
            <a:ext cx="10881360" cy="777240"/>
          </a:xfrm>
          <a:prstGeom prst="rect">
            <a:avLst/>
          </a:prstGeom>
          <a:noFill/>
          <a:ln/>
        </p:spPr>
        <p:txBody>
          <a:bodyPr wrap="square" lIns="0" tIns="0" rIns="0" bIns="0" rtlCol="0" anchor="ctr"/>
          <a:lstStyle/>
          <a:p>
            <a:pPr marL="0" indent="0">
              <a:buNone/>
            </a:pPr>
            <a:r>
              <a:rPr lang="en-US" sz="3400" b="1" dirty="0">
                <a:solidFill>
                  <a:srgbClr val="1C1C1C"/>
                </a:solidFill>
                <a:latin typeface="Cambria" pitchFamily="34" charset="0"/>
                <a:ea typeface="Cambria" pitchFamily="34" charset="-122"/>
                <a:cs typeface="Cambria" pitchFamily="34" charset="-120"/>
              </a:rPr>
              <a:t>Deliberately small</a:t>
            </a:r>
            <a:endParaRPr lang="en-US" sz="3400" dirty="0"/>
          </a:p>
        </p:txBody>
      </p:sp>
      <p:sp>
        <p:nvSpPr>
          <p:cNvPr id="4" name="Shape 2"/>
          <p:cNvSpPr/>
          <p:nvPr/>
        </p:nvSpPr>
        <p:spPr>
          <a:xfrm>
            <a:off x="640080" y="1783080"/>
            <a:ext cx="3429000" cy="2788920"/>
          </a:xfrm>
          <a:prstGeom prst="roundRect">
            <a:avLst>
              <a:gd name="adj" fmla="val 2623"/>
            </a:avLst>
          </a:prstGeom>
          <a:solidFill>
            <a:srgbClr val="F7F7F5"/>
          </a:solidFill>
          <a:ln w="9525">
            <a:solidFill>
              <a:srgbClr val="DCDCDC"/>
            </a:solidFill>
            <a:prstDash val="solid"/>
          </a:ln>
        </p:spPr>
      </p:sp>
      <p:sp>
        <p:nvSpPr>
          <p:cNvPr id="5" name="Shape 3"/>
          <p:cNvSpPr/>
          <p:nvPr/>
        </p:nvSpPr>
        <p:spPr>
          <a:xfrm>
            <a:off x="914400" y="2057400"/>
            <a:ext cx="274320" cy="274320"/>
          </a:xfrm>
          <a:prstGeom prst="ellipse">
            <a:avLst/>
          </a:prstGeom>
          <a:solidFill>
            <a:srgbClr val="1B4332"/>
          </a:solidFill>
          <a:ln/>
        </p:spPr>
      </p:sp>
      <p:sp>
        <p:nvSpPr>
          <p:cNvPr id="6" name="Text 4"/>
          <p:cNvSpPr/>
          <p:nvPr/>
        </p:nvSpPr>
        <p:spPr>
          <a:xfrm>
            <a:off x="1298448" y="2002536"/>
            <a:ext cx="2606040" cy="384048"/>
          </a:xfrm>
          <a:prstGeom prst="rect">
            <a:avLst/>
          </a:prstGeom>
          <a:noFill/>
          <a:ln/>
        </p:spPr>
        <p:txBody>
          <a:bodyPr wrap="square" lIns="0" tIns="0" rIns="0" bIns="0" rtlCol="0" anchor="ctr"/>
          <a:lstStyle/>
          <a:p>
            <a:pPr marL="0" indent="0">
              <a:buNone/>
            </a:pPr>
            <a:r>
              <a:rPr lang="en-US" sz="1450" b="1" dirty="0">
                <a:solidFill>
                  <a:srgbClr val="1C1C1C"/>
                </a:solidFill>
                <a:latin typeface="Cambria" pitchFamily="34" charset="0"/>
                <a:ea typeface="Cambria" pitchFamily="34" charset="-122"/>
                <a:cs typeface="Cambria" pitchFamily="34" charset="-120"/>
              </a:rPr>
              <a:t>Bhashini, at build time</a:t>
            </a:r>
            <a:endParaRPr lang="en-US" sz="1450" dirty="0"/>
          </a:p>
        </p:txBody>
      </p:sp>
      <p:sp>
        <p:nvSpPr>
          <p:cNvPr id="7" name="Text 5"/>
          <p:cNvSpPr/>
          <p:nvPr/>
        </p:nvSpPr>
        <p:spPr>
          <a:xfrm>
            <a:off x="932688" y="2487168"/>
            <a:ext cx="2880360" cy="1965960"/>
          </a:xfrm>
          <a:prstGeom prst="rect">
            <a:avLst/>
          </a:prstGeom>
          <a:noFill/>
          <a:ln/>
        </p:spPr>
        <p:txBody>
          <a:bodyPr wrap="square" lIns="0" tIns="0" rIns="0" bIns="0" rtlCol="0" anchor="t"/>
          <a:lstStyle/>
          <a:p>
            <a:pPr marL="342900" indent="-342900">
              <a:lnSpc>
                <a:spcPts val="1600"/>
              </a:lnSpc>
              <a:spcAft>
                <a:spcPts val="800"/>
              </a:spcAft>
              <a:buSzPct val="100000"/>
              <a:buChar char="•"/>
            </a:pPr>
            <a:r>
              <a:rPr lang="en-US" sz="1150" dirty="0">
                <a:solidFill>
                  <a:srgbClr val="6B6B6B"/>
                </a:solidFill>
                <a:latin typeface="Calibri" pitchFamily="34" charset="0"/>
                <a:ea typeface="Calibri" pitchFamily="34" charset="-122"/>
                <a:cs typeface="Calibri" pitchFamily="34" charset="-120"/>
              </a:rPr>
              <a:t>ULCA getModelsPipeline then compute</a:t>
            </a:r>
            <a:endParaRPr lang="en-US" sz="1150" dirty="0"/>
          </a:p>
          <a:p>
            <a:pPr marL="342900" indent="-342900">
              <a:lnSpc>
                <a:spcPts val="1600"/>
              </a:lnSpc>
              <a:spcAft>
                <a:spcPts val="800"/>
              </a:spcAft>
              <a:buSzPct val="100000"/>
              <a:buChar char="•"/>
            </a:pPr>
            <a:r>
              <a:rPr lang="en-US" sz="1150" dirty="0">
                <a:solidFill>
                  <a:srgbClr val="6B6B6B"/>
                </a:solidFill>
                <a:latin typeface="Calibri" pitchFamily="34" charset="0"/>
                <a:ea typeface="Calibri" pitchFamily="34" charset="-122"/>
                <a:cs typeface="Calibri" pitchFamily="34" charset="-120"/>
              </a:rPr>
              <a:t>IndicTrans-v2 Hindi to Santali</a:t>
            </a:r>
            <a:endParaRPr lang="en-US" sz="1150" dirty="0"/>
          </a:p>
          <a:p>
            <a:pPr marL="342900" indent="-342900">
              <a:lnSpc>
                <a:spcPts val="1600"/>
              </a:lnSpc>
              <a:spcAft>
                <a:spcPts val="800"/>
              </a:spcAft>
              <a:buSzPct val="100000"/>
              <a:buChar char="•"/>
            </a:pPr>
            <a:r>
              <a:rPr lang="en-US" sz="1150" dirty="0">
                <a:solidFill>
                  <a:srgbClr val="6B6B6B"/>
                </a:solidFill>
                <a:latin typeface="Calibri" pitchFamily="34" charset="0"/>
                <a:ea typeface="Calibri" pitchFamily="34" charset="-122"/>
                <a:cs typeface="Calibri" pitchFamily="34" charset="-120"/>
              </a:rPr>
              <a:t>Bhashini-IITM Santali text to speech</a:t>
            </a:r>
            <a:endParaRPr lang="en-US" sz="1150" dirty="0"/>
          </a:p>
          <a:p>
            <a:pPr marL="342900" indent="-342900">
              <a:lnSpc>
                <a:spcPts val="1600"/>
              </a:lnSpc>
              <a:spcAft>
                <a:spcPts val="800"/>
              </a:spcAft>
              <a:buSzPct val="100000"/>
              <a:buChar char="•"/>
            </a:pPr>
            <a:r>
              <a:rPr lang="en-US" sz="1150" dirty="0">
                <a:solidFill>
                  <a:srgbClr val="6B6B6B"/>
                </a:solidFill>
                <a:latin typeface="Calibri" pitchFamily="34" charset="0"/>
                <a:ea typeface="Calibri" pitchFamily="34" charset="-122"/>
                <a:cs typeface="Calibri" pitchFamily="34" charset="-120"/>
              </a:rPr>
              <a:t>AI4Bharat Conformer ASR, both languages</a:t>
            </a:r>
            <a:endParaRPr lang="en-US" sz="1150" dirty="0"/>
          </a:p>
        </p:txBody>
      </p:sp>
      <p:sp>
        <p:nvSpPr>
          <p:cNvPr id="8" name="Shape 6"/>
          <p:cNvSpPr/>
          <p:nvPr/>
        </p:nvSpPr>
        <p:spPr>
          <a:xfrm>
            <a:off x="4343400" y="1783080"/>
            <a:ext cx="3429000" cy="2788920"/>
          </a:xfrm>
          <a:prstGeom prst="roundRect">
            <a:avLst>
              <a:gd name="adj" fmla="val 2623"/>
            </a:avLst>
          </a:prstGeom>
          <a:solidFill>
            <a:srgbClr val="F7F7F5"/>
          </a:solidFill>
          <a:ln w="9525">
            <a:solidFill>
              <a:srgbClr val="DCDCDC"/>
            </a:solidFill>
            <a:prstDash val="solid"/>
          </a:ln>
        </p:spPr>
      </p:sp>
      <p:sp>
        <p:nvSpPr>
          <p:cNvPr id="9" name="Shape 7"/>
          <p:cNvSpPr/>
          <p:nvPr/>
        </p:nvSpPr>
        <p:spPr>
          <a:xfrm>
            <a:off x="4617720" y="2057400"/>
            <a:ext cx="274320" cy="274320"/>
          </a:xfrm>
          <a:prstGeom prst="ellipse">
            <a:avLst/>
          </a:prstGeom>
          <a:solidFill>
            <a:srgbClr val="B85042"/>
          </a:solidFill>
          <a:ln/>
        </p:spPr>
      </p:sp>
      <p:sp>
        <p:nvSpPr>
          <p:cNvPr id="10" name="Text 8"/>
          <p:cNvSpPr/>
          <p:nvPr/>
        </p:nvSpPr>
        <p:spPr>
          <a:xfrm>
            <a:off x="5001768" y="2002536"/>
            <a:ext cx="2606040" cy="384048"/>
          </a:xfrm>
          <a:prstGeom prst="rect">
            <a:avLst/>
          </a:prstGeom>
          <a:noFill/>
          <a:ln/>
        </p:spPr>
        <p:txBody>
          <a:bodyPr wrap="square" lIns="0" tIns="0" rIns="0" bIns="0" rtlCol="0" anchor="ctr"/>
          <a:lstStyle/>
          <a:p>
            <a:pPr marL="0" indent="0">
              <a:buNone/>
            </a:pPr>
            <a:r>
              <a:rPr lang="en-US" sz="1450" b="1" dirty="0">
                <a:solidFill>
                  <a:srgbClr val="1C1C1C"/>
                </a:solidFill>
                <a:latin typeface="Cambria" pitchFamily="34" charset="0"/>
                <a:ea typeface="Cambria" pitchFamily="34" charset="-122"/>
                <a:cs typeface="Cambria" pitchFamily="34" charset="-120"/>
              </a:rPr>
              <a:t>Android application</a:t>
            </a:r>
            <a:endParaRPr lang="en-US" sz="1450" dirty="0"/>
          </a:p>
        </p:txBody>
      </p:sp>
      <p:sp>
        <p:nvSpPr>
          <p:cNvPr id="11" name="Text 9"/>
          <p:cNvSpPr/>
          <p:nvPr/>
        </p:nvSpPr>
        <p:spPr>
          <a:xfrm>
            <a:off x="4636008" y="2487168"/>
            <a:ext cx="2880360" cy="1965960"/>
          </a:xfrm>
          <a:prstGeom prst="rect">
            <a:avLst/>
          </a:prstGeom>
          <a:noFill/>
          <a:ln/>
        </p:spPr>
        <p:txBody>
          <a:bodyPr wrap="square" lIns="0" tIns="0" rIns="0" bIns="0" rtlCol="0" anchor="t"/>
          <a:lstStyle/>
          <a:p>
            <a:pPr marL="342900" indent="-342900">
              <a:lnSpc>
                <a:spcPts val="1600"/>
              </a:lnSpc>
              <a:spcAft>
                <a:spcPts val="800"/>
              </a:spcAft>
              <a:buSzPct val="100000"/>
              <a:buChar char="•"/>
            </a:pPr>
            <a:r>
              <a:rPr lang="en-US" sz="1150" dirty="0">
                <a:solidFill>
                  <a:srgbClr val="6B6B6B"/>
                </a:solidFill>
                <a:latin typeface="Calibri" pitchFamily="34" charset="0"/>
                <a:ea typeface="Calibri" pitchFamily="34" charset="-122"/>
                <a:cs typeface="Calibri" pitchFamily="34" charset="-120"/>
              </a:rPr>
              <a:t>Kotlin, minSdk 28, targets 2 GB tablets</a:t>
            </a:r>
            <a:endParaRPr lang="en-US" sz="1150" dirty="0"/>
          </a:p>
          <a:p>
            <a:pPr marL="342900" indent="-342900">
              <a:lnSpc>
                <a:spcPts val="1600"/>
              </a:lnSpc>
              <a:spcAft>
                <a:spcPts val="800"/>
              </a:spcAft>
              <a:buSzPct val="100000"/>
              <a:buChar char="•"/>
            </a:pPr>
            <a:r>
              <a:rPr lang="en-US" sz="1150" dirty="0">
                <a:solidFill>
                  <a:srgbClr val="6B6B6B"/>
                </a:solidFill>
                <a:latin typeface="Calibri" pitchFamily="34" charset="0"/>
                <a:ea typeface="Calibri" pitchFamily="34" charset="-122"/>
                <a:cs typeface="Calibri" pitchFamily="34" charset="-120"/>
              </a:rPr>
              <a:t>Android SpeechRecognizer, hi-IN, offline</a:t>
            </a:r>
            <a:endParaRPr lang="en-US" sz="1150" dirty="0"/>
          </a:p>
          <a:p>
            <a:pPr marL="342900" indent="-342900">
              <a:lnSpc>
                <a:spcPts val="1600"/>
              </a:lnSpc>
              <a:spcAft>
                <a:spcPts val="800"/>
              </a:spcAft>
              <a:buSzPct val="100000"/>
              <a:buChar char="•"/>
            </a:pPr>
            <a:r>
              <a:rPr lang="en-US" sz="1150" dirty="0">
                <a:solidFill>
                  <a:srgbClr val="6B6B6B"/>
                </a:solidFill>
                <a:latin typeface="Calibri" pitchFamily="34" charset="0"/>
                <a:ea typeface="Calibri" pitchFamily="34" charset="-122"/>
                <a:cs typeface="Calibri" pitchFamily="34" charset="-120"/>
              </a:rPr>
              <a:t>PdfDocument for the bilingual worksheet</a:t>
            </a:r>
            <a:endParaRPr lang="en-US" sz="1150" dirty="0"/>
          </a:p>
          <a:p>
            <a:pPr marL="342900" indent="-342900">
              <a:lnSpc>
                <a:spcPts val="1600"/>
              </a:lnSpc>
              <a:spcAft>
                <a:spcPts val="800"/>
              </a:spcAft>
              <a:buSzPct val="100000"/>
              <a:buChar char="•"/>
            </a:pPr>
            <a:r>
              <a:rPr lang="en-US" sz="1150" dirty="0">
                <a:solidFill>
                  <a:srgbClr val="6B6B6B"/>
                </a:solidFill>
                <a:latin typeface="Calibri" pitchFamily="34" charset="0"/>
                <a:ea typeface="Calibri" pitchFamily="34" charset="-122"/>
                <a:cs typeface="Calibri" pitchFamily="34" charset="-120"/>
              </a:rPr>
              <a:t>Noto Sans Ol Chiki and Devanagari bundled</a:t>
            </a:r>
            <a:endParaRPr lang="en-US" sz="1150" dirty="0"/>
          </a:p>
        </p:txBody>
      </p:sp>
      <p:sp>
        <p:nvSpPr>
          <p:cNvPr id="12" name="Shape 10"/>
          <p:cNvSpPr/>
          <p:nvPr/>
        </p:nvSpPr>
        <p:spPr>
          <a:xfrm>
            <a:off x="8046720" y="1783080"/>
            <a:ext cx="3429000" cy="2788920"/>
          </a:xfrm>
          <a:prstGeom prst="roundRect">
            <a:avLst>
              <a:gd name="adj" fmla="val 2623"/>
            </a:avLst>
          </a:prstGeom>
          <a:solidFill>
            <a:srgbClr val="F7F7F5"/>
          </a:solidFill>
          <a:ln w="9525">
            <a:solidFill>
              <a:srgbClr val="DCDCDC"/>
            </a:solidFill>
            <a:prstDash val="solid"/>
          </a:ln>
        </p:spPr>
      </p:sp>
      <p:sp>
        <p:nvSpPr>
          <p:cNvPr id="13" name="Shape 11"/>
          <p:cNvSpPr/>
          <p:nvPr/>
        </p:nvSpPr>
        <p:spPr>
          <a:xfrm>
            <a:off x="8321040" y="2057400"/>
            <a:ext cx="274320" cy="274320"/>
          </a:xfrm>
          <a:prstGeom prst="ellipse">
            <a:avLst/>
          </a:prstGeom>
          <a:solidFill>
            <a:srgbClr val="E9A03B"/>
          </a:solidFill>
          <a:ln/>
        </p:spPr>
      </p:sp>
      <p:sp>
        <p:nvSpPr>
          <p:cNvPr id="14" name="Text 12"/>
          <p:cNvSpPr/>
          <p:nvPr/>
        </p:nvSpPr>
        <p:spPr>
          <a:xfrm>
            <a:off x="8705088" y="2002536"/>
            <a:ext cx="2606040" cy="384048"/>
          </a:xfrm>
          <a:prstGeom prst="rect">
            <a:avLst/>
          </a:prstGeom>
          <a:noFill/>
          <a:ln/>
        </p:spPr>
        <p:txBody>
          <a:bodyPr wrap="square" lIns="0" tIns="0" rIns="0" bIns="0" rtlCol="0" anchor="ctr"/>
          <a:lstStyle/>
          <a:p>
            <a:pPr marL="0" indent="0">
              <a:buNone/>
            </a:pPr>
            <a:r>
              <a:rPr lang="en-US" sz="1450" b="1" dirty="0">
                <a:solidFill>
                  <a:srgbClr val="1C1C1C"/>
                </a:solidFill>
                <a:latin typeface="Cambria" pitchFamily="34" charset="0"/>
                <a:ea typeface="Cambria" pitchFamily="34" charset="-122"/>
                <a:cs typeface="Cambria" pitchFamily="34" charset="-120"/>
              </a:rPr>
              <a:t>Content and assurance</a:t>
            </a:r>
            <a:endParaRPr lang="en-US" sz="1450" dirty="0"/>
          </a:p>
        </p:txBody>
      </p:sp>
      <p:sp>
        <p:nvSpPr>
          <p:cNvPr id="15" name="Text 13"/>
          <p:cNvSpPr/>
          <p:nvPr/>
        </p:nvSpPr>
        <p:spPr>
          <a:xfrm>
            <a:off x="8339328" y="2487168"/>
            <a:ext cx="2880360" cy="1965960"/>
          </a:xfrm>
          <a:prstGeom prst="rect">
            <a:avLst/>
          </a:prstGeom>
          <a:noFill/>
          <a:ln/>
        </p:spPr>
        <p:txBody>
          <a:bodyPr wrap="square" lIns="0" tIns="0" rIns="0" bIns="0" rtlCol="0" anchor="t"/>
          <a:lstStyle/>
          <a:p>
            <a:pPr marL="342900" indent="-342900">
              <a:lnSpc>
                <a:spcPts val="1600"/>
              </a:lnSpc>
              <a:spcAft>
                <a:spcPts val="800"/>
              </a:spcAft>
              <a:buSzPct val="100000"/>
              <a:buChar char="•"/>
            </a:pPr>
            <a:r>
              <a:rPr lang="en-US" sz="1150" dirty="0">
                <a:solidFill>
                  <a:srgbClr val="6B6B6B"/>
                </a:solidFill>
                <a:latin typeface="Calibri" pitchFamily="34" charset="0"/>
                <a:ea typeface="Calibri" pitchFamily="34" charset="-122"/>
                <a:cs typeface="Calibri" pitchFamily="34" charset="-120"/>
              </a:rPr>
              <a:t>NCERT Sarangi Class 2 Hindi, hand-checked</a:t>
            </a:r>
            <a:endParaRPr lang="en-US" sz="1150" dirty="0"/>
          </a:p>
          <a:p>
            <a:pPr marL="342900" indent="-342900">
              <a:lnSpc>
                <a:spcPts val="1600"/>
              </a:lnSpc>
              <a:spcAft>
                <a:spcPts val="800"/>
              </a:spcAft>
              <a:buSzPct val="100000"/>
              <a:buChar char="•"/>
            </a:pPr>
            <a:r>
              <a:rPr lang="en-US" sz="1150" dirty="0">
                <a:solidFill>
                  <a:srgbClr val="6B6B6B"/>
                </a:solidFill>
                <a:latin typeface="Calibri" pitchFamily="34" charset="0"/>
                <a:ea typeface="Calibri" pitchFamily="34" charset="-122"/>
                <a:cs typeface="Calibri" pitchFamily="34" charset="-120"/>
              </a:rPr>
              <a:t>NIPUN Bharat outcome codes on every item</a:t>
            </a:r>
            <a:endParaRPr lang="en-US" sz="1150" dirty="0"/>
          </a:p>
          <a:p>
            <a:pPr marL="342900" indent="-342900">
              <a:lnSpc>
                <a:spcPts val="1600"/>
              </a:lnSpc>
              <a:spcAft>
                <a:spcPts val="800"/>
              </a:spcAft>
              <a:buSzPct val="100000"/>
              <a:buChar char="•"/>
            </a:pPr>
            <a:r>
              <a:rPr lang="en-US" sz="1150" dirty="0">
                <a:solidFill>
                  <a:srgbClr val="6B6B6B"/>
                </a:solidFill>
                <a:latin typeface="Calibri" pitchFamily="34" charset="0"/>
                <a:ea typeface="Calibri" pitchFamily="34" charset="-122"/>
                <a:cs typeface="Calibri" pitchFamily="34" charset="-120"/>
              </a:rPr>
              <a:t>Node pack generator, resumable, provenance</a:t>
            </a:r>
            <a:endParaRPr lang="en-US" sz="1150" dirty="0"/>
          </a:p>
          <a:p>
            <a:pPr marL="342900" indent="-342900">
              <a:lnSpc>
                <a:spcPts val="1600"/>
              </a:lnSpc>
              <a:spcAft>
                <a:spcPts val="800"/>
              </a:spcAft>
              <a:buSzPct val="100000"/>
              <a:buChar char="•"/>
            </a:pPr>
            <a:r>
              <a:rPr lang="en-US" sz="1150" dirty="0">
                <a:solidFill>
                  <a:srgbClr val="6B6B6B"/>
                </a:solidFill>
                <a:latin typeface="Calibri" pitchFamily="34" charset="0"/>
                <a:ea typeface="Calibri" pitchFamily="34" charset="-122"/>
                <a:cs typeface="Calibri" pitchFamily="34" charset="-120"/>
              </a:rPr>
              <a:t>CI checks assets are real, not placeholders</a:t>
            </a:r>
            <a:endParaRPr lang="en-US" sz="1150" dirty="0"/>
          </a:p>
        </p:txBody>
      </p:sp>
      <p:sp>
        <p:nvSpPr>
          <p:cNvPr id="16" name="Text 14"/>
          <p:cNvSpPr/>
          <p:nvPr/>
        </p:nvSpPr>
        <p:spPr>
          <a:xfrm>
            <a:off x="640080" y="5120640"/>
            <a:ext cx="10881360" cy="822960"/>
          </a:xfrm>
          <a:prstGeom prst="rect">
            <a:avLst/>
          </a:prstGeom>
          <a:noFill/>
          <a:ln/>
        </p:spPr>
        <p:txBody>
          <a:bodyPr wrap="square" lIns="0" tIns="0" rIns="0" bIns="0" rtlCol="0" anchor="ctr"/>
          <a:lstStyle/>
          <a:p>
            <a:pPr marL="0" indent="0">
              <a:lnSpc>
                <a:spcPts val="1900"/>
              </a:lnSpc>
              <a:buNone/>
            </a:pPr>
            <a:r>
              <a:rPr lang="en-US" sz="1300" b="1" dirty="0">
                <a:solidFill>
                  <a:srgbClr val="B85042"/>
                </a:solidFill>
                <a:latin typeface="Calibri" pitchFamily="34" charset="0"/>
                <a:ea typeface="Calibri" pitchFamily="34" charset="-122"/>
                <a:cs typeface="Calibri" pitchFamily="34" charset="-120"/>
              </a:rPr>
              <a:t>What we are deliberately not building:  </a:t>
            </a:r>
            <a:r>
              <a:rPr lang="en-US" sz="1300" dirty="0">
                <a:solidFill>
                  <a:srgbClr val="1C1C1C"/>
                </a:solidFill>
                <a:latin typeface="Calibri" pitchFamily="34" charset="0"/>
                <a:ea typeface="Calibri" pitchFamily="34" charset="-122"/>
                <a:cs typeface="Calibri" pitchFamily="34" charset="-120"/>
              </a:rPr>
              <a:t>on-device neural translation, vector search, OCR, mesh sync, a custom keyboard. Hindi and Santali are from different language families, so on-device character mapping cannot produce meaning, and the rest is scope that does not serve the four requirements.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4332"/>
        </a:solidFill>
        <a:effectLst/>
      </p:bgPr>
    </p:bg>
    <p:spTree>
      <p:nvGrpSpPr>
        <p:cNvPr id="1" name=""/>
        <p:cNvGrpSpPr/>
        <p:nvPr/>
      </p:nvGrpSpPr>
      <p:grpSpPr>
        <a:xfrm>
          <a:off x="0" y="0"/>
          <a:ext cx="0" cy="0"/>
          <a:chOff x="0" y="0"/>
          <a:chExt cx="0" cy="0"/>
        </a:xfrm>
      </p:grpSpPr>
      <p:sp>
        <p:nvSpPr>
          <p:cNvPr id="2" name="Shape 0"/>
          <p:cNvSpPr/>
          <p:nvPr/>
        </p:nvSpPr>
        <p:spPr>
          <a:xfrm>
            <a:off x="-2194560" y="4663440"/>
            <a:ext cx="4023360" cy="4023360"/>
          </a:xfrm>
          <a:prstGeom prst="ellipse">
            <a:avLst/>
          </a:prstGeom>
          <a:solidFill>
            <a:srgbClr val="2D6A4F"/>
          </a:solidFill>
          <a:ln/>
        </p:spPr>
      </p:sp>
      <p:sp>
        <p:nvSpPr>
          <p:cNvPr id="3" name="Shape 1"/>
          <p:cNvSpPr/>
          <p:nvPr/>
        </p:nvSpPr>
        <p:spPr>
          <a:xfrm>
            <a:off x="10424160" y="-1005840"/>
            <a:ext cx="3108960" cy="3108960"/>
          </a:xfrm>
          <a:prstGeom prst="ellipse">
            <a:avLst/>
          </a:prstGeom>
          <a:solidFill>
            <a:srgbClr val="B85042"/>
          </a:solidFill>
          <a:ln/>
        </p:spPr>
      </p:sp>
      <p:sp>
        <p:nvSpPr>
          <p:cNvPr id="4" name="Text 2"/>
          <p:cNvSpPr/>
          <p:nvPr/>
        </p:nvSpPr>
        <p:spPr>
          <a:xfrm>
            <a:off x="822960" y="1143000"/>
            <a:ext cx="10058400" cy="54864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What we are asking Bhashini for</a:t>
            </a:r>
            <a:endParaRPr lang="en-US" sz="3200" dirty="0"/>
          </a:p>
        </p:txBody>
      </p:sp>
      <p:sp>
        <p:nvSpPr>
          <p:cNvPr id="5" name="Text 3"/>
          <p:cNvSpPr/>
          <p:nvPr/>
        </p:nvSpPr>
        <p:spPr>
          <a:xfrm>
            <a:off x="822960" y="1828800"/>
            <a:ext cx="9692640" cy="731520"/>
          </a:xfrm>
          <a:prstGeom prst="rect">
            <a:avLst/>
          </a:prstGeom>
          <a:noFill/>
          <a:ln/>
        </p:spPr>
        <p:txBody>
          <a:bodyPr wrap="square" lIns="0" tIns="0" rIns="0" bIns="0" rtlCol="0" anchor="ctr"/>
          <a:lstStyle/>
          <a:p>
            <a:pPr marL="0" indent="0">
              <a:lnSpc>
                <a:spcPts val="2300"/>
              </a:lnSpc>
              <a:buNone/>
            </a:pPr>
            <a:r>
              <a:rPr lang="en-US" sz="1500" dirty="0">
                <a:solidFill>
                  <a:srgbClr val="CFE0D6"/>
                </a:solidFill>
                <a:latin typeface="Calibri" pitchFamily="34" charset="0"/>
                <a:ea typeface="Calibri" pitchFamily="34" charset="-122"/>
                <a:cs typeface="Calibri" pitchFamily="34" charset="-120"/>
              </a:rPr>
              <a:t>API access to the translation and text-to-speech pipelines for Santali, so we can generate the verified content pack. That is the only external dependency in the entire project.</a:t>
            </a:r>
            <a:endParaRPr lang="en-US" sz="1500" dirty="0"/>
          </a:p>
        </p:txBody>
      </p:sp>
      <p:sp>
        <p:nvSpPr>
          <p:cNvPr id="6" name="Shape 4"/>
          <p:cNvSpPr/>
          <p:nvPr/>
        </p:nvSpPr>
        <p:spPr>
          <a:xfrm>
            <a:off x="822960" y="2834640"/>
            <a:ext cx="3291840" cy="1417320"/>
          </a:xfrm>
          <a:prstGeom prst="roundRect">
            <a:avLst>
              <a:gd name="adj" fmla="val 5161"/>
            </a:avLst>
          </a:prstGeom>
          <a:solidFill>
            <a:srgbClr val="2D6A4F"/>
          </a:solidFill>
          <a:ln w="12700">
            <a:solidFill>
              <a:srgbClr val="3F8768"/>
            </a:solidFill>
            <a:prstDash val="solid"/>
          </a:ln>
        </p:spPr>
      </p:sp>
      <p:sp>
        <p:nvSpPr>
          <p:cNvPr id="7" name="Text 5"/>
          <p:cNvSpPr/>
          <p:nvPr/>
        </p:nvSpPr>
        <p:spPr>
          <a:xfrm>
            <a:off x="1078992" y="3035808"/>
            <a:ext cx="2788920" cy="320040"/>
          </a:xfrm>
          <a:prstGeom prst="rect">
            <a:avLst/>
          </a:prstGeom>
          <a:noFill/>
          <a:ln/>
        </p:spPr>
        <p:txBody>
          <a:bodyPr wrap="square" lIns="0" tIns="0" rIns="0" bIns="0" rtlCol="0" anchor="ctr"/>
          <a:lstStyle/>
          <a:p>
            <a:pPr marL="0" indent="0">
              <a:buNone/>
            </a:pPr>
            <a:r>
              <a:rPr lang="en-US" sz="1500" b="1" dirty="0">
                <a:solidFill>
                  <a:srgbClr val="E9A03B"/>
                </a:solidFill>
                <a:latin typeface="Cambria" pitchFamily="34" charset="0"/>
                <a:ea typeface="Cambria" pitchFamily="34" charset="-122"/>
                <a:cs typeface="Cambria" pitchFamily="34" charset="-120"/>
              </a:rPr>
              <a:t>Santali first</a:t>
            </a:r>
            <a:endParaRPr lang="en-US" sz="1500" dirty="0"/>
          </a:p>
        </p:txBody>
      </p:sp>
      <p:sp>
        <p:nvSpPr>
          <p:cNvPr id="8" name="Text 6"/>
          <p:cNvSpPr/>
          <p:nvPr/>
        </p:nvSpPr>
        <p:spPr>
          <a:xfrm>
            <a:off x="1078992" y="3401568"/>
            <a:ext cx="2788920" cy="731520"/>
          </a:xfrm>
          <a:prstGeom prst="rect">
            <a:avLst/>
          </a:prstGeom>
          <a:noFill/>
          <a:ln/>
        </p:spPr>
        <p:txBody>
          <a:bodyPr wrap="square" lIns="0" tIns="0" rIns="0" bIns="0" rtlCol="0" anchor="t"/>
          <a:lstStyle/>
          <a:p>
            <a:pPr marL="0" indent="0">
              <a:lnSpc>
                <a:spcPts val="1600"/>
              </a:lnSpc>
              <a:buNone/>
            </a:pPr>
            <a:r>
              <a:rPr lang="en-US" sz="1150" dirty="0">
                <a:solidFill>
                  <a:srgbClr val="D9E6DE"/>
                </a:solidFill>
                <a:latin typeface="Calibri" pitchFamily="34" charset="0"/>
                <a:ea typeface="Calibri" pitchFamily="34" charset="-122"/>
                <a:cs typeface="Calibri" pitchFamily="34" charset="-120"/>
              </a:rPr>
              <a:t>One language, done properly, with audio and a printed worksheet.</a:t>
            </a:r>
            <a:endParaRPr lang="en-US" sz="1150" dirty="0"/>
          </a:p>
        </p:txBody>
      </p:sp>
      <p:sp>
        <p:nvSpPr>
          <p:cNvPr id="9" name="Shape 7"/>
          <p:cNvSpPr/>
          <p:nvPr/>
        </p:nvSpPr>
        <p:spPr>
          <a:xfrm>
            <a:off x="4434840" y="2834640"/>
            <a:ext cx="3291840" cy="1417320"/>
          </a:xfrm>
          <a:prstGeom prst="roundRect">
            <a:avLst>
              <a:gd name="adj" fmla="val 5161"/>
            </a:avLst>
          </a:prstGeom>
          <a:solidFill>
            <a:srgbClr val="2D6A4F"/>
          </a:solidFill>
          <a:ln w="12700">
            <a:solidFill>
              <a:srgbClr val="3F8768"/>
            </a:solidFill>
            <a:prstDash val="solid"/>
          </a:ln>
        </p:spPr>
      </p:sp>
      <p:sp>
        <p:nvSpPr>
          <p:cNvPr id="10" name="Text 8"/>
          <p:cNvSpPr/>
          <p:nvPr/>
        </p:nvSpPr>
        <p:spPr>
          <a:xfrm>
            <a:off x="4690872" y="3035808"/>
            <a:ext cx="2788920" cy="320040"/>
          </a:xfrm>
          <a:prstGeom prst="rect">
            <a:avLst/>
          </a:prstGeom>
          <a:noFill/>
          <a:ln/>
        </p:spPr>
        <p:txBody>
          <a:bodyPr wrap="square" lIns="0" tIns="0" rIns="0" bIns="0" rtlCol="0" anchor="ctr"/>
          <a:lstStyle/>
          <a:p>
            <a:pPr marL="0" indent="0">
              <a:buNone/>
            </a:pPr>
            <a:r>
              <a:rPr lang="en-US" sz="1500" b="1" dirty="0">
                <a:solidFill>
                  <a:srgbClr val="E9A03B"/>
                </a:solidFill>
                <a:latin typeface="Cambria" pitchFamily="34" charset="0"/>
                <a:ea typeface="Cambria" pitchFamily="34" charset="-122"/>
                <a:cs typeface="Cambria" pitchFamily="34" charset="-120"/>
              </a:rPr>
              <a:t>Ho and Mundari next</a:t>
            </a:r>
            <a:endParaRPr lang="en-US" sz="1500" dirty="0"/>
          </a:p>
        </p:txBody>
      </p:sp>
      <p:sp>
        <p:nvSpPr>
          <p:cNvPr id="11" name="Text 9"/>
          <p:cNvSpPr/>
          <p:nvPr/>
        </p:nvSpPr>
        <p:spPr>
          <a:xfrm>
            <a:off x="4690872" y="3401568"/>
            <a:ext cx="2788920" cy="731520"/>
          </a:xfrm>
          <a:prstGeom prst="rect">
            <a:avLst/>
          </a:prstGeom>
          <a:noFill/>
          <a:ln/>
        </p:spPr>
        <p:txBody>
          <a:bodyPr wrap="square" lIns="0" tIns="0" rIns="0" bIns="0" rtlCol="0" anchor="t"/>
          <a:lstStyle/>
          <a:p>
            <a:pPr marL="0" indent="0">
              <a:lnSpc>
                <a:spcPts val="1600"/>
              </a:lnSpc>
              <a:buNone/>
            </a:pPr>
            <a:r>
              <a:rPr lang="en-US" sz="1150" dirty="0">
                <a:solidFill>
                  <a:srgbClr val="D9E6DE"/>
                </a:solidFill>
                <a:latin typeface="Calibri" pitchFamily="34" charset="0"/>
                <a:ea typeface="Calibri" pitchFamily="34" charset="-122"/>
                <a:cs typeface="Calibri" pitchFamily="34" charset="-120"/>
              </a:rPr>
              <a:t>The architecture takes a new language the day the models exist.</a:t>
            </a:r>
            <a:endParaRPr lang="en-US" sz="1150" dirty="0"/>
          </a:p>
        </p:txBody>
      </p:sp>
      <p:sp>
        <p:nvSpPr>
          <p:cNvPr id="12" name="Shape 10"/>
          <p:cNvSpPr/>
          <p:nvPr/>
        </p:nvSpPr>
        <p:spPr>
          <a:xfrm>
            <a:off x="8046720" y="2834640"/>
            <a:ext cx="3291840" cy="1417320"/>
          </a:xfrm>
          <a:prstGeom prst="roundRect">
            <a:avLst>
              <a:gd name="adj" fmla="val 5161"/>
            </a:avLst>
          </a:prstGeom>
          <a:solidFill>
            <a:srgbClr val="2D6A4F"/>
          </a:solidFill>
          <a:ln w="12700">
            <a:solidFill>
              <a:srgbClr val="3F8768"/>
            </a:solidFill>
            <a:prstDash val="solid"/>
          </a:ln>
        </p:spPr>
      </p:sp>
      <p:sp>
        <p:nvSpPr>
          <p:cNvPr id="13" name="Text 11"/>
          <p:cNvSpPr/>
          <p:nvPr/>
        </p:nvSpPr>
        <p:spPr>
          <a:xfrm>
            <a:off x="8302752" y="3035808"/>
            <a:ext cx="2788920" cy="320040"/>
          </a:xfrm>
          <a:prstGeom prst="rect">
            <a:avLst/>
          </a:prstGeom>
          <a:noFill/>
          <a:ln/>
        </p:spPr>
        <p:txBody>
          <a:bodyPr wrap="square" lIns="0" tIns="0" rIns="0" bIns="0" rtlCol="0" anchor="ctr"/>
          <a:lstStyle/>
          <a:p>
            <a:pPr marL="0" indent="0">
              <a:buNone/>
            </a:pPr>
            <a:r>
              <a:rPr lang="en-US" sz="1500" b="1" dirty="0">
                <a:solidFill>
                  <a:srgbClr val="E9A03B"/>
                </a:solidFill>
                <a:latin typeface="Cambria" pitchFamily="34" charset="0"/>
                <a:ea typeface="Cambria" pitchFamily="34" charset="-122"/>
                <a:cs typeface="Cambria" pitchFamily="34" charset="-120"/>
              </a:rPr>
              <a:t>Beyond Jharkhand</a:t>
            </a:r>
            <a:endParaRPr lang="en-US" sz="1500" dirty="0"/>
          </a:p>
        </p:txBody>
      </p:sp>
      <p:sp>
        <p:nvSpPr>
          <p:cNvPr id="14" name="Text 12"/>
          <p:cNvSpPr/>
          <p:nvPr/>
        </p:nvSpPr>
        <p:spPr>
          <a:xfrm>
            <a:off x="8302752" y="3401568"/>
            <a:ext cx="2788920" cy="731520"/>
          </a:xfrm>
          <a:prstGeom prst="rect">
            <a:avLst/>
          </a:prstGeom>
          <a:noFill/>
          <a:ln/>
        </p:spPr>
        <p:txBody>
          <a:bodyPr wrap="square" lIns="0" tIns="0" rIns="0" bIns="0" rtlCol="0" anchor="t"/>
          <a:lstStyle/>
          <a:p>
            <a:pPr marL="0" indent="0">
              <a:lnSpc>
                <a:spcPts val="1600"/>
              </a:lnSpc>
              <a:buNone/>
            </a:pPr>
            <a:r>
              <a:rPr lang="en-US" sz="1150" dirty="0">
                <a:solidFill>
                  <a:srgbClr val="D9E6DE"/>
                </a:solidFill>
                <a:latin typeface="Calibri" pitchFamily="34" charset="0"/>
                <a:ea typeface="Calibri" pitchFamily="34" charset="-122"/>
                <a:cs typeface="Calibri" pitchFamily="34" charset="-120"/>
              </a:rPr>
              <a:t>Any of Bhashini’s scheduled languages, same pack, same app.</a:t>
            </a:r>
            <a:endParaRPr lang="en-US" sz="1150" dirty="0"/>
          </a:p>
        </p:txBody>
      </p:sp>
      <p:sp>
        <p:nvSpPr>
          <p:cNvPr id="15" name="Shape 13"/>
          <p:cNvSpPr/>
          <p:nvPr/>
        </p:nvSpPr>
        <p:spPr>
          <a:xfrm>
            <a:off x="822960" y="4800600"/>
            <a:ext cx="2926080" cy="0"/>
          </a:xfrm>
          <a:prstGeom prst="line">
            <a:avLst/>
          </a:prstGeom>
          <a:noFill/>
          <a:ln w="25400">
            <a:solidFill>
              <a:srgbClr val="E9A03B"/>
            </a:solidFill>
            <a:prstDash val="solid"/>
          </a:ln>
        </p:spPr>
      </p:sp>
      <p:sp>
        <p:nvSpPr>
          <p:cNvPr id="16" name="Text 14"/>
          <p:cNvSpPr/>
          <p:nvPr/>
        </p:nvSpPr>
        <p:spPr>
          <a:xfrm>
            <a:off x="822960" y="5029200"/>
            <a:ext cx="6400800" cy="41148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ea typeface="Cambria" pitchFamily="34" charset="-122"/>
                <a:cs typeface="Cambria" pitchFamily="34" charset="-120"/>
              </a:rPr>
              <a:t>Ol Saathi  ·  ओल साथी</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1467</Words>
  <Application>Microsoft Office PowerPoint</Application>
  <PresentationFormat>Widescreen</PresentationFormat>
  <Paragraphs>167</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Ol Saathi — SIH26042</dc:title>
  <dc:subject>PptxGenJS Presentation</dc:subject>
  <dc:creator>Team INNOV8</dc:creator>
  <cp:lastModifiedBy>Jonathan John</cp:lastModifiedBy>
  <cp:revision>2</cp:revision>
  <dcterms:created xsi:type="dcterms:W3CDTF">2026-08-25T08:21:28Z</dcterms:created>
  <dcterms:modified xsi:type="dcterms:W3CDTF">2026-08-25T08:23:30Z</dcterms:modified>
</cp:coreProperties>
</file>