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 Saathi. "Ol" is Santali for write, and opens the name of Ol Chiki, the script Raghunath Murmu created for Santali in 1925. "Saathi" is Hindi for companion. Half Santali, half Hindi, like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chip is the whole argument. Anyone can put Ol Chiki on a screen. Saying where it came from, and refusing to show anything you cannot source, is the part nobody else will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Bhashini API access for Santali translation and TTS. Everything else we build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9418320" y="-1371600"/>
            <a:ext cx="4754880" cy="4754880"/>
          </a:xfrm>
          <a:prstGeom prst="ellipse">
            <a:avLst/>
          </a:prstGeom>
          <a:solidFill>
            <a:srgbClr val="2D6A4F"/>
          </a:solidFill>
          <a:ln/>
        </p:spPr>
      </p:sp>
      <p:sp>
        <p:nvSpPr>
          <p:cNvPr id="3" name="Shape 1"/>
          <p:cNvSpPr/>
          <p:nvPr/>
        </p:nvSpPr>
        <p:spPr>
          <a:xfrm>
            <a:off x="10881360" y="4480560"/>
            <a:ext cx="2377440" cy="2377440"/>
          </a:xfrm>
          <a:prstGeom prst="ellipse">
            <a:avLst/>
          </a:prstGeom>
          <a:solidFill>
            <a:srgbClr val="B85042"/>
          </a:solidFill>
          <a:ln/>
        </p:spPr>
      </p:sp>
      <p:sp>
        <p:nvSpPr>
          <p:cNvPr id="4" name="Text 2"/>
          <p:cNvSpPr/>
          <p:nvPr/>
        </p:nvSpPr>
        <p:spPr>
          <a:xfrm>
            <a:off x="822960" y="1828800"/>
            <a:ext cx="8229600" cy="118872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Ol Saathi</a:t>
            </a:r>
            <a:endParaRPr lang="en-US" sz="6600" dirty="0"/>
          </a:p>
        </p:txBody>
      </p:sp>
      <p:sp>
        <p:nvSpPr>
          <p:cNvPr id="5" name="Text 3"/>
          <p:cNvSpPr/>
          <p:nvPr/>
        </p:nvSpPr>
        <p:spPr>
          <a:xfrm>
            <a:off x="868680" y="2971800"/>
            <a:ext cx="8229600" cy="548640"/>
          </a:xfrm>
          <a:prstGeom prst="rect">
            <a:avLst/>
          </a:prstGeom>
          <a:noFill/>
          <a:ln/>
        </p:spPr>
        <p:txBody>
          <a:bodyPr wrap="square" lIns="0" tIns="0" rIns="0" bIns="0" rtlCol="0" anchor="ctr"/>
          <a:lstStyle/>
          <a:p>
            <a:pPr indent="0" marL="0">
              <a:buNone/>
            </a:pPr>
            <a:r>
              <a:rPr lang="en-US" sz="2600" dirty="0">
                <a:solidFill>
                  <a:srgbClr val="E9A03B"/>
                </a:solidFill>
                <a:latin typeface="Calibri" pitchFamily="34" charset="0"/>
                <a:ea typeface="Calibri" pitchFamily="34" charset="-122"/>
                <a:cs typeface="Calibri" pitchFamily="34" charset="-120"/>
              </a:rPr>
              <a:t>ओल साथी</a:t>
            </a:r>
            <a:endParaRPr lang="en-US" sz="2600" dirty="0"/>
          </a:p>
        </p:txBody>
      </p:sp>
      <p:sp>
        <p:nvSpPr>
          <p:cNvPr id="6" name="Text 4"/>
          <p:cNvSpPr/>
          <p:nvPr/>
        </p:nvSpPr>
        <p:spPr>
          <a:xfrm>
            <a:off x="868680" y="3657600"/>
            <a:ext cx="6583680" cy="822960"/>
          </a:xfrm>
          <a:prstGeom prst="rect">
            <a:avLst/>
          </a:prstGeom>
          <a:noFill/>
          <a:ln/>
        </p:spPr>
        <p:txBody>
          <a:bodyPr wrap="square" lIns="0" tIns="0" rIns="0" bIns="0" rtlCol="0" anchor="ctr"/>
          <a:lstStyle/>
          <a:p>
            <a:pPr indent="0" marL="0">
              <a:lnSpc>
                <a:spcPts val="2600"/>
              </a:lnSpc>
              <a:buNone/>
            </a:pPr>
            <a:r>
              <a:rPr lang="en-US" sz="1700" dirty="0">
                <a:solidFill>
                  <a:srgbClr val="CFE0D6"/>
                </a:solidFill>
                <a:latin typeface="Calibri" pitchFamily="34" charset="0"/>
                <a:ea typeface="Calibri" pitchFamily="34" charset="-122"/>
                <a:cs typeface="Calibri" pitchFamily="34" charset="-120"/>
              </a:rPr>
              <a:t>A teacher speaks Hindi. A child hears her mother tongue. With no internet.</a:t>
            </a:r>
            <a:endParaRPr lang="en-US" sz="1700" dirty="0"/>
          </a:p>
        </p:txBody>
      </p:sp>
      <p:pic>
        <p:nvPicPr>
          <p:cNvPr id="7" name="Image 0" descr="olchiki-name.png">    </p:cNvPr>
          <p:cNvPicPr>
            <a:picLocks noChangeAspect="1"/>
          </p:cNvPicPr>
          <p:nvPr/>
        </p:nvPicPr>
        <p:blipFill>
          <a:blip r:embed="rId1"/>
          <a:stretch>
            <a:fillRect/>
          </a:stretch>
        </p:blipFill>
        <p:spPr>
          <a:xfrm>
            <a:off x="7635240" y="3200400"/>
            <a:ext cx="3566160" cy="960120"/>
          </a:xfrm>
          <a:prstGeom prst="rect">
            <a:avLst/>
          </a:prstGeom>
        </p:spPr>
      </p:pic>
      <p:sp>
        <p:nvSpPr>
          <p:cNvPr id="8" name="Shape 5"/>
          <p:cNvSpPr/>
          <p:nvPr/>
        </p:nvSpPr>
        <p:spPr>
          <a:xfrm>
            <a:off x="868680" y="4709160"/>
            <a:ext cx="2926080" cy="0"/>
          </a:xfrm>
          <a:prstGeom prst="line">
            <a:avLst/>
          </a:prstGeom>
          <a:noFill/>
          <a:ln w="25400">
            <a:solidFill>
              <a:srgbClr val="E9A03B"/>
            </a:solidFill>
            <a:prstDash val="solid"/>
          </a:ln>
        </p:spPr>
      </p:sp>
      <p:sp>
        <p:nvSpPr>
          <p:cNvPr id="9" name="Text 6"/>
          <p:cNvSpPr/>
          <p:nvPr/>
        </p:nvSpPr>
        <p:spPr>
          <a:xfrm>
            <a:off x="868680" y="4983480"/>
            <a:ext cx="8686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SIH26042</a:t>
            </a:r>
            <a:pPr indent="0" marL="0">
              <a:buNone/>
            </a:pPr>
            <a:r>
              <a:rPr lang="en-US" sz="1300" dirty="0">
                <a:solidFill>
                  <a:srgbClr val="A8C3B4"/>
                </a:solidFill>
                <a:latin typeface="Calibri" pitchFamily="34" charset="0"/>
                <a:ea typeface="Calibri" pitchFamily="34" charset="-122"/>
                <a:cs typeface="Calibri" pitchFamily="34" charset="-120"/>
              </a:rPr>
              <a:t>   Government of Jharkhand, Dept of Higher &amp; Technical Education</a:t>
            </a:r>
            <a:endParaRPr lang="en-US" sz="1300" dirty="0"/>
          </a:p>
        </p:txBody>
      </p:sp>
      <p:sp>
        <p:nvSpPr>
          <p:cNvPr id="10" name="Text 7"/>
          <p:cNvSpPr/>
          <p:nvPr/>
        </p:nvSpPr>
        <p:spPr>
          <a:xfrm>
            <a:off x="868680" y="5321808"/>
            <a:ext cx="8686800" cy="292608"/>
          </a:xfrm>
          <a:prstGeom prst="rect">
            <a:avLst/>
          </a:prstGeom>
          <a:noFill/>
          <a:ln/>
        </p:spPr>
        <p:txBody>
          <a:bodyPr wrap="square" lIns="0" tIns="0" rIns="0" bIns="0" rtlCol="0" anchor="ctr"/>
          <a:lstStyle/>
          <a:p>
            <a:pPr indent="0" marL="0">
              <a:buNone/>
            </a:pPr>
            <a:r>
              <a:rPr lang="en-US" sz="1300" dirty="0">
                <a:solidFill>
                  <a:srgbClr val="A8C3B4"/>
                </a:solidFill>
                <a:latin typeface="Calibri" pitchFamily="34" charset="0"/>
                <a:ea typeface="Calibri" pitchFamily="34" charset="-122"/>
                <a:cs typeface="Calibri" pitchFamily="34" charset="-120"/>
              </a:rPr>
              <a:t>Team INNOV8   ·   JAIN Deemed-to-be University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THE PROBLEM</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PALASH works. It cannot scale.</a:t>
            </a:r>
            <a:endParaRPr lang="en-US" sz="3400" dirty="0"/>
          </a:p>
        </p:txBody>
      </p:sp>
      <p:sp>
        <p:nvSpPr>
          <p:cNvPr id="4" name="Shape 2"/>
          <p:cNvSpPr/>
          <p:nvPr/>
        </p:nvSpPr>
        <p:spPr>
          <a:xfrm>
            <a:off x="640080" y="1828800"/>
            <a:ext cx="3429000" cy="2286000"/>
          </a:xfrm>
          <a:prstGeom prst="roundRect">
            <a:avLst>
              <a:gd name="adj" fmla="val 3200"/>
            </a:avLst>
          </a:prstGeom>
          <a:solidFill>
            <a:srgbClr val="F7F7F5"/>
          </a:solidFill>
          <a:ln w="9525">
            <a:solidFill>
              <a:srgbClr val="DCDCDC"/>
            </a:solidFill>
            <a:prstDash val="solid"/>
          </a:ln>
        </p:spPr>
      </p:sp>
      <p:sp>
        <p:nvSpPr>
          <p:cNvPr id="5" name="Text 3"/>
          <p:cNvSpPr/>
          <p:nvPr/>
        </p:nvSpPr>
        <p:spPr>
          <a:xfrm>
            <a:off x="896112" y="2011680"/>
            <a:ext cx="2926080" cy="777240"/>
          </a:xfrm>
          <a:prstGeom prst="rect">
            <a:avLst/>
          </a:prstGeom>
          <a:noFill/>
          <a:ln/>
        </p:spPr>
        <p:txBody>
          <a:bodyPr wrap="square" lIns="0" tIns="0" rIns="0" bIns="0" rtlCol="0" anchor="ctr"/>
          <a:lstStyle/>
          <a:p>
            <a:pPr indent="0" marL="0">
              <a:buNone/>
            </a:pPr>
            <a:r>
              <a:rPr lang="en-US" sz="4600" b="1" dirty="0">
                <a:solidFill>
                  <a:srgbClr val="B85042"/>
                </a:solidFill>
                <a:latin typeface="Cambria" pitchFamily="34" charset="0"/>
                <a:ea typeface="Cambria" pitchFamily="34" charset="-122"/>
                <a:cs typeface="Cambria" pitchFamily="34" charset="-120"/>
              </a:rPr>
              <a:t>5,000+</a:t>
            </a:r>
            <a:endParaRPr lang="en-US" sz="4600" dirty="0"/>
          </a:p>
        </p:txBody>
      </p:sp>
      <p:sp>
        <p:nvSpPr>
          <p:cNvPr id="6" name="Text 4"/>
          <p:cNvSpPr/>
          <p:nvPr/>
        </p:nvSpPr>
        <p:spPr>
          <a:xfrm>
            <a:off x="896112" y="2834640"/>
            <a:ext cx="2926080" cy="1143000"/>
          </a:xfrm>
          <a:prstGeom prst="rect">
            <a:avLst/>
          </a:prstGeom>
          <a:noFill/>
          <a:ln/>
        </p:spPr>
        <p:txBody>
          <a:bodyPr wrap="square" lIns="0" tIns="0" rIns="0" bIns="0" rtlCol="0" anchor="t"/>
          <a:lstStyle/>
          <a:p>
            <a:pPr indent="0" marL="0">
              <a:lnSpc>
                <a:spcPts val="1800"/>
              </a:lnSpc>
              <a:buNone/>
            </a:pPr>
            <a:r>
              <a:rPr lang="en-US" sz="1300" dirty="0">
                <a:solidFill>
                  <a:srgbClr val="6B6B6B"/>
                </a:solidFill>
                <a:latin typeface="Calibri" pitchFamily="34" charset="0"/>
                <a:ea typeface="Calibri" pitchFamily="34" charset="-122"/>
                <a:cs typeface="Calibri" pitchFamily="34" charset="-120"/>
              </a:rPr>
              <a:t>tribal-area primary schools where children are taught in a language they do not speak at home</a:t>
            </a:r>
            <a:endParaRPr lang="en-US" sz="1300" dirty="0"/>
          </a:p>
        </p:txBody>
      </p:sp>
      <p:sp>
        <p:nvSpPr>
          <p:cNvPr id="7" name="Shape 5"/>
          <p:cNvSpPr/>
          <p:nvPr/>
        </p:nvSpPr>
        <p:spPr>
          <a:xfrm>
            <a:off x="4343400" y="1828800"/>
            <a:ext cx="3429000" cy="2286000"/>
          </a:xfrm>
          <a:prstGeom prst="roundRect">
            <a:avLst>
              <a:gd name="adj" fmla="val 3200"/>
            </a:avLst>
          </a:prstGeom>
          <a:solidFill>
            <a:srgbClr val="F7F7F5"/>
          </a:solidFill>
          <a:ln w="9525">
            <a:solidFill>
              <a:srgbClr val="DCDCDC"/>
            </a:solidFill>
            <a:prstDash val="solid"/>
          </a:ln>
        </p:spPr>
      </p:sp>
      <p:sp>
        <p:nvSpPr>
          <p:cNvPr id="8" name="Text 6"/>
          <p:cNvSpPr/>
          <p:nvPr/>
        </p:nvSpPr>
        <p:spPr>
          <a:xfrm>
            <a:off x="4599432" y="2011680"/>
            <a:ext cx="2926080" cy="777240"/>
          </a:xfrm>
          <a:prstGeom prst="rect">
            <a:avLst/>
          </a:prstGeom>
          <a:noFill/>
          <a:ln/>
        </p:spPr>
        <p:txBody>
          <a:bodyPr wrap="square" lIns="0" tIns="0" rIns="0" bIns="0" rtlCol="0" anchor="ctr"/>
          <a:lstStyle/>
          <a:p>
            <a:pPr indent="0" marL="0">
              <a:buNone/>
            </a:pPr>
            <a:r>
              <a:rPr lang="en-US" sz="4600" b="1" dirty="0">
                <a:solidFill>
                  <a:srgbClr val="B85042"/>
                </a:solidFill>
                <a:latin typeface="Cambria" pitchFamily="34" charset="0"/>
                <a:ea typeface="Cambria" pitchFamily="34" charset="-122"/>
                <a:cs typeface="Cambria" pitchFamily="34" charset="-120"/>
              </a:rPr>
              <a:t>3</a:t>
            </a:r>
            <a:endParaRPr lang="en-US" sz="4600" dirty="0"/>
          </a:p>
        </p:txBody>
      </p:sp>
      <p:sp>
        <p:nvSpPr>
          <p:cNvPr id="9" name="Text 7"/>
          <p:cNvSpPr/>
          <p:nvPr/>
        </p:nvSpPr>
        <p:spPr>
          <a:xfrm>
            <a:off x="4599432" y="2834640"/>
            <a:ext cx="2926080" cy="1143000"/>
          </a:xfrm>
          <a:prstGeom prst="rect">
            <a:avLst/>
          </a:prstGeom>
          <a:noFill/>
          <a:ln/>
        </p:spPr>
        <p:txBody>
          <a:bodyPr wrap="square" lIns="0" tIns="0" rIns="0" bIns="0" rtlCol="0" anchor="t"/>
          <a:lstStyle/>
          <a:p>
            <a:pPr indent="0" marL="0">
              <a:lnSpc>
                <a:spcPts val="1800"/>
              </a:lnSpc>
              <a:buNone/>
            </a:pPr>
            <a:r>
              <a:rPr lang="en-US" sz="1300" dirty="0">
                <a:solidFill>
                  <a:srgbClr val="6B6B6B"/>
                </a:solidFill>
                <a:latin typeface="Calibri" pitchFamily="34" charset="0"/>
                <a:ea typeface="Calibri" pitchFamily="34" charset="-122"/>
                <a:cs typeface="Calibri" pitchFamily="34" charset="-120"/>
              </a:rPr>
              <a:t>languages the state needs: Ho, Mundari and Santali, all Austroasiatic, all low-resource</a:t>
            </a:r>
            <a:endParaRPr lang="en-US" sz="1300" dirty="0"/>
          </a:p>
        </p:txBody>
      </p:sp>
      <p:sp>
        <p:nvSpPr>
          <p:cNvPr id="10" name="Shape 8"/>
          <p:cNvSpPr/>
          <p:nvPr/>
        </p:nvSpPr>
        <p:spPr>
          <a:xfrm>
            <a:off x="8046720" y="1828800"/>
            <a:ext cx="3429000" cy="2286000"/>
          </a:xfrm>
          <a:prstGeom prst="roundRect">
            <a:avLst>
              <a:gd name="adj" fmla="val 3200"/>
            </a:avLst>
          </a:prstGeom>
          <a:solidFill>
            <a:srgbClr val="F7F7F5"/>
          </a:solidFill>
          <a:ln w="9525">
            <a:solidFill>
              <a:srgbClr val="DCDCDC"/>
            </a:solidFill>
            <a:prstDash val="solid"/>
          </a:ln>
        </p:spPr>
      </p:sp>
      <p:sp>
        <p:nvSpPr>
          <p:cNvPr id="11" name="Text 9"/>
          <p:cNvSpPr/>
          <p:nvPr/>
        </p:nvSpPr>
        <p:spPr>
          <a:xfrm>
            <a:off x="8302752" y="2011680"/>
            <a:ext cx="2926080" cy="777240"/>
          </a:xfrm>
          <a:prstGeom prst="rect">
            <a:avLst/>
          </a:prstGeom>
          <a:noFill/>
          <a:ln/>
        </p:spPr>
        <p:txBody>
          <a:bodyPr wrap="square" lIns="0" tIns="0" rIns="0" bIns="0" rtlCol="0" anchor="ctr"/>
          <a:lstStyle/>
          <a:p>
            <a:pPr indent="0" marL="0">
              <a:buNone/>
            </a:pPr>
            <a:r>
              <a:rPr lang="en-US" sz="4600" b="1" dirty="0">
                <a:solidFill>
                  <a:srgbClr val="B85042"/>
                </a:solidFill>
                <a:latin typeface="Cambria" pitchFamily="34" charset="0"/>
                <a:ea typeface="Cambria" pitchFamily="34" charset="-122"/>
                <a:cs typeface="Cambria" pitchFamily="34" charset="-120"/>
              </a:rPr>
              <a:t>~0</a:t>
            </a:r>
            <a:endParaRPr lang="en-US" sz="4600" dirty="0"/>
          </a:p>
        </p:txBody>
      </p:sp>
      <p:sp>
        <p:nvSpPr>
          <p:cNvPr id="12" name="Text 10"/>
          <p:cNvSpPr/>
          <p:nvPr/>
        </p:nvSpPr>
        <p:spPr>
          <a:xfrm>
            <a:off x="8302752" y="2834640"/>
            <a:ext cx="2926080" cy="1143000"/>
          </a:xfrm>
          <a:prstGeom prst="rect">
            <a:avLst/>
          </a:prstGeom>
          <a:noFill/>
          <a:ln/>
        </p:spPr>
        <p:txBody>
          <a:bodyPr wrap="square" lIns="0" tIns="0" rIns="0" bIns="0" rtlCol="0" anchor="t"/>
          <a:lstStyle/>
          <a:p>
            <a:pPr indent="0" marL="0">
              <a:lnSpc>
                <a:spcPts val="1800"/>
              </a:lnSpc>
              <a:buNone/>
            </a:pPr>
            <a:r>
              <a:rPr lang="en-US" sz="1300" dirty="0">
                <a:solidFill>
                  <a:srgbClr val="6B6B6B"/>
                </a:solidFill>
                <a:latin typeface="Calibri" pitchFamily="34" charset="0"/>
                <a:ea typeface="Calibri" pitchFamily="34" charset="-122"/>
                <a:cs typeface="Calibri" pitchFamily="34" charset="-120"/>
              </a:rPr>
              <a:t>teachers posted there who speak them. Almost every one was trained in Hindi</a:t>
            </a:r>
            <a:endParaRPr lang="en-US" sz="1300" dirty="0"/>
          </a:p>
        </p:txBody>
      </p:sp>
      <p:sp>
        <p:nvSpPr>
          <p:cNvPr id="13" name="Text 11"/>
          <p:cNvSpPr/>
          <p:nvPr/>
        </p:nvSpPr>
        <p:spPr>
          <a:xfrm>
            <a:off x="640080" y="4434840"/>
            <a:ext cx="10881360" cy="914400"/>
          </a:xfrm>
          <a:prstGeom prst="rect">
            <a:avLst/>
          </a:prstGeom>
          <a:noFill/>
          <a:ln/>
        </p:spPr>
        <p:txBody>
          <a:bodyPr wrap="square" lIns="0" tIns="0" rIns="0" bIns="0" rtlCol="0" anchor="ctr"/>
          <a:lstStyle/>
          <a:p>
            <a:pPr indent="0" marL="0">
              <a:lnSpc>
                <a:spcPts val="2400"/>
              </a:lnSpc>
              <a:buNone/>
            </a:pPr>
            <a:r>
              <a:rPr lang="en-US" sz="1500" dirty="0">
                <a:solidFill>
                  <a:srgbClr val="1C1C1C"/>
                </a:solidFill>
                <a:latin typeface="Calibri" pitchFamily="34" charset="0"/>
                <a:ea typeface="Calibri" pitchFamily="34" charset="-122"/>
                <a:cs typeface="Calibri" pitchFamily="34" charset="-120"/>
              </a:rPr>
              <a:t>Jharkhand’s PALASH programme has measurably improved foundational literacy by teaching in the mother tongue. The bottleneck is not method or funding. It is that there is no one in the room who speaks the language, and training a generation of teachers is a decade of work.</a:t>
            </a:r>
            <a:endParaRPr lang="en-US" sz="1500" dirty="0"/>
          </a:p>
        </p:txBody>
      </p:sp>
      <p:sp>
        <p:nvSpPr>
          <p:cNvPr id="14" name="Text 12"/>
          <p:cNvSpPr/>
          <p:nvPr/>
        </p:nvSpPr>
        <p:spPr>
          <a:xfrm>
            <a:off x="640080" y="5440680"/>
            <a:ext cx="10881360" cy="411480"/>
          </a:xfrm>
          <a:prstGeom prst="rect">
            <a:avLst/>
          </a:prstGeom>
          <a:noFill/>
          <a:ln/>
        </p:spPr>
        <p:txBody>
          <a:bodyPr wrap="square" lIns="0" tIns="0" rIns="0" bIns="0" rtlCol="0" anchor="ctr"/>
          <a:lstStyle/>
          <a:p>
            <a:pPr indent="0" marL="0">
              <a:buNone/>
            </a:pPr>
            <a:r>
              <a:rPr lang="en-US" sz="1500" b="1" i="1" dirty="0">
                <a:solidFill>
                  <a:srgbClr val="1B4332"/>
                </a:solidFill>
                <a:latin typeface="Calibri" pitchFamily="34" charset="0"/>
                <a:ea typeface="Calibri" pitchFamily="34" charset="-122"/>
                <a:cs typeface="Calibri" pitchFamily="34" charset="-120"/>
              </a:rPr>
              <a:t>Ol Saathi puts the language in the room today, on a tablet the school already has.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THE NINETY-SECOND DEMO</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What a teacher actually does</a:t>
            </a:r>
            <a:endParaRPr lang="en-US" sz="3400" dirty="0"/>
          </a:p>
        </p:txBody>
      </p:sp>
      <p:sp>
        <p:nvSpPr>
          <p:cNvPr id="4" name="Shape 2"/>
          <p:cNvSpPr/>
          <p:nvPr/>
        </p:nvSpPr>
        <p:spPr>
          <a:xfrm>
            <a:off x="640080" y="1874520"/>
            <a:ext cx="2560320" cy="2880360"/>
          </a:xfrm>
          <a:prstGeom prst="roundRect">
            <a:avLst>
              <a:gd name="adj" fmla="val 2857"/>
            </a:avLst>
          </a:prstGeom>
          <a:solidFill>
            <a:srgbClr val="F7F7F5"/>
          </a:solidFill>
          <a:ln w="9525">
            <a:solidFill>
              <a:srgbClr val="DCDCDC"/>
            </a:solidFill>
            <a:prstDash val="solid"/>
          </a:ln>
        </p:spPr>
      </p:sp>
      <p:sp>
        <p:nvSpPr>
          <p:cNvPr id="5" name="Shape 3"/>
          <p:cNvSpPr/>
          <p:nvPr/>
        </p:nvSpPr>
        <p:spPr>
          <a:xfrm>
            <a:off x="868680" y="2103120"/>
            <a:ext cx="566928" cy="566928"/>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6" name="Text 4"/>
          <p:cNvSpPr/>
          <p:nvPr/>
        </p:nvSpPr>
        <p:spPr>
          <a:xfrm>
            <a:off x="868680"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868680" y="2816352"/>
            <a:ext cx="2121408" cy="54864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Teacher speaks Hindi</a:t>
            </a:r>
            <a:endParaRPr lang="en-US" sz="1500" dirty="0"/>
          </a:p>
        </p:txBody>
      </p:sp>
      <p:sp>
        <p:nvSpPr>
          <p:cNvPr id="8" name="Text 6"/>
          <p:cNvSpPr/>
          <p:nvPr/>
        </p:nvSpPr>
        <p:spPr>
          <a:xfrm>
            <a:off x="868680" y="3364992"/>
            <a:ext cx="2121408" cy="1234440"/>
          </a:xfrm>
          <a:prstGeom prst="rect">
            <a:avLst/>
          </a:prstGeom>
          <a:noFill/>
          <a:ln/>
        </p:spPr>
        <p:txBody>
          <a:bodyPr wrap="square" lIns="0" tIns="0" rIns="0" bIns="0" rtlCol="0" anchor="t"/>
          <a:lstStyle/>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She presses to talk and says</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“जोहार बच्चों”. No typing, no</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language setting to choose.</a:t>
            </a:r>
            <a:endParaRPr lang="en-US" sz="1150" dirty="0"/>
          </a:p>
        </p:txBody>
      </p:sp>
      <p:sp>
        <p:nvSpPr>
          <p:cNvPr id="9" name="Text 7"/>
          <p:cNvSpPr/>
          <p:nvPr/>
        </p:nvSpPr>
        <p:spPr>
          <a:xfrm>
            <a:off x="3218688" y="3063240"/>
            <a:ext cx="219456" cy="365760"/>
          </a:xfrm>
          <a:prstGeom prst="rect">
            <a:avLst/>
          </a:prstGeom>
          <a:noFill/>
          <a:ln/>
        </p:spPr>
        <p:txBody>
          <a:bodyPr wrap="square" lIns="0" tIns="0" rIns="0" bIns="0" rtlCol="0" anchor="ctr"/>
          <a:lstStyle/>
          <a:p>
            <a:pPr algn="ctr" indent="0" marL="0">
              <a:buNone/>
            </a:pPr>
            <a:r>
              <a:rPr lang="en-US" sz="2400" b="1" dirty="0">
                <a:solidFill>
                  <a:srgbClr val="E9A03B"/>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429000" y="1874520"/>
            <a:ext cx="2560320" cy="2880360"/>
          </a:xfrm>
          <a:prstGeom prst="roundRect">
            <a:avLst>
              <a:gd name="adj" fmla="val 2857"/>
            </a:avLst>
          </a:prstGeom>
          <a:solidFill>
            <a:srgbClr val="F7F7F5"/>
          </a:solidFill>
          <a:ln w="9525">
            <a:solidFill>
              <a:srgbClr val="DCDCDC"/>
            </a:solidFill>
            <a:prstDash val="solid"/>
          </a:ln>
        </p:spPr>
      </p:sp>
      <p:sp>
        <p:nvSpPr>
          <p:cNvPr id="11" name="Shape 9"/>
          <p:cNvSpPr/>
          <p:nvPr/>
        </p:nvSpPr>
        <p:spPr>
          <a:xfrm>
            <a:off x="3657600" y="2103120"/>
            <a:ext cx="566928" cy="566928"/>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12" name="Text 10"/>
          <p:cNvSpPr/>
          <p:nvPr/>
        </p:nvSpPr>
        <p:spPr>
          <a:xfrm>
            <a:off x="3657600"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3657600" y="2816352"/>
            <a:ext cx="2121408" cy="54864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Santali appears</a:t>
            </a:r>
            <a:endParaRPr lang="en-US" sz="1500" dirty="0"/>
          </a:p>
        </p:txBody>
      </p:sp>
      <p:sp>
        <p:nvSpPr>
          <p:cNvPr id="14" name="Text 12"/>
          <p:cNvSpPr/>
          <p:nvPr/>
        </p:nvSpPr>
        <p:spPr>
          <a:xfrm>
            <a:off x="3657600" y="3364992"/>
            <a:ext cx="2121408" cy="1234440"/>
          </a:xfrm>
          <a:prstGeom prst="rect">
            <a:avLst/>
          </a:prstGeom>
          <a:noFill/>
          <a:ln/>
        </p:spPr>
        <p:txBody>
          <a:bodyPr wrap="square" lIns="0" tIns="0" rIns="0" bIns="0" rtlCol="0" anchor="t"/>
          <a:lstStyle/>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The sentence shows in Ol Chiki</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script, labelled Machine</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translation, with the Hindi</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kept above it.</a:t>
            </a:r>
            <a:endParaRPr lang="en-US" sz="1150" dirty="0"/>
          </a:p>
        </p:txBody>
      </p:sp>
      <p:sp>
        <p:nvSpPr>
          <p:cNvPr id="15" name="Text 13"/>
          <p:cNvSpPr/>
          <p:nvPr/>
        </p:nvSpPr>
        <p:spPr>
          <a:xfrm>
            <a:off x="6007608" y="3063240"/>
            <a:ext cx="219456" cy="365760"/>
          </a:xfrm>
          <a:prstGeom prst="rect">
            <a:avLst/>
          </a:prstGeom>
          <a:noFill/>
          <a:ln/>
        </p:spPr>
        <p:txBody>
          <a:bodyPr wrap="square" lIns="0" tIns="0" rIns="0" bIns="0" rtlCol="0" anchor="ctr"/>
          <a:lstStyle/>
          <a:p>
            <a:pPr algn="ctr" indent="0" marL="0">
              <a:buNone/>
            </a:pPr>
            <a:r>
              <a:rPr lang="en-US" sz="2400" b="1" dirty="0">
                <a:solidFill>
                  <a:srgbClr val="E9A03B"/>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6217920" y="1874520"/>
            <a:ext cx="2560320" cy="2880360"/>
          </a:xfrm>
          <a:prstGeom prst="roundRect">
            <a:avLst>
              <a:gd name="adj" fmla="val 2857"/>
            </a:avLst>
          </a:prstGeom>
          <a:solidFill>
            <a:srgbClr val="F7F7F5"/>
          </a:solidFill>
          <a:ln w="9525">
            <a:solidFill>
              <a:srgbClr val="DCDCDC"/>
            </a:solidFill>
            <a:prstDash val="solid"/>
          </a:ln>
        </p:spPr>
      </p:sp>
      <p:sp>
        <p:nvSpPr>
          <p:cNvPr id="17" name="Shape 15"/>
          <p:cNvSpPr/>
          <p:nvPr/>
        </p:nvSpPr>
        <p:spPr>
          <a:xfrm>
            <a:off x="6446520" y="2103120"/>
            <a:ext cx="566928" cy="566928"/>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18" name="Text 16"/>
          <p:cNvSpPr/>
          <p:nvPr/>
        </p:nvSpPr>
        <p:spPr>
          <a:xfrm>
            <a:off x="6446520"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9" name="Text 17"/>
          <p:cNvSpPr/>
          <p:nvPr/>
        </p:nvSpPr>
        <p:spPr>
          <a:xfrm>
            <a:off x="6446520" y="2816352"/>
            <a:ext cx="2121408" cy="54864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The class hears it</a:t>
            </a:r>
            <a:endParaRPr lang="en-US" sz="1500" dirty="0"/>
          </a:p>
        </p:txBody>
      </p:sp>
      <p:sp>
        <p:nvSpPr>
          <p:cNvPr id="20" name="Text 18"/>
          <p:cNvSpPr/>
          <p:nvPr/>
        </p:nvSpPr>
        <p:spPr>
          <a:xfrm>
            <a:off x="6446520" y="3364992"/>
            <a:ext cx="2121408" cy="1234440"/>
          </a:xfrm>
          <a:prstGeom prst="rect">
            <a:avLst/>
          </a:prstGeom>
          <a:noFill/>
          <a:ln/>
        </p:spPr>
        <p:txBody>
          <a:bodyPr wrap="square" lIns="0" tIns="0" rIns="0" bIns="0" rtlCol="0" anchor="t"/>
          <a:lstStyle/>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Pre-rendered audio plays from</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the device. No network, no</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waiting, no model loading.</a:t>
            </a:r>
            <a:endParaRPr lang="en-US" sz="1150" dirty="0"/>
          </a:p>
        </p:txBody>
      </p:sp>
      <p:sp>
        <p:nvSpPr>
          <p:cNvPr id="21" name="Text 19"/>
          <p:cNvSpPr/>
          <p:nvPr/>
        </p:nvSpPr>
        <p:spPr>
          <a:xfrm>
            <a:off x="8796528" y="3063240"/>
            <a:ext cx="219456" cy="365760"/>
          </a:xfrm>
          <a:prstGeom prst="rect">
            <a:avLst/>
          </a:prstGeom>
          <a:noFill/>
          <a:ln/>
        </p:spPr>
        <p:txBody>
          <a:bodyPr wrap="square" lIns="0" tIns="0" rIns="0" bIns="0" rtlCol="0" anchor="ctr"/>
          <a:lstStyle/>
          <a:p>
            <a:pPr algn="ctr" indent="0" marL="0">
              <a:buNone/>
            </a:pPr>
            <a:r>
              <a:rPr lang="en-US" sz="2400" b="1" dirty="0">
                <a:solidFill>
                  <a:srgbClr val="E9A03B"/>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9006840" y="1874520"/>
            <a:ext cx="2560320" cy="2880360"/>
          </a:xfrm>
          <a:prstGeom prst="roundRect">
            <a:avLst>
              <a:gd name="adj" fmla="val 2857"/>
            </a:avLst>
          </a:prstGeom>
          <a:solidFill>
            <a:srgbClr val="F7F7F5"/>
          </a:solidFill>
          <a:ln w="9525">
            <a:solidFill>
              <a:srgbClr val="DCDCDC"/>
            </a:solidFill>
            <a:prstDash val="solid"/>
          </a:ln>
        </p:spPr>
      </p:sp>
      <p:sp>
        <p:nvSpPr>
          <p:cNvPr id="23" name="Shape 21"/>
          <p:cNvSpPr/>
          <p:nvPr/>
        </p:nvSpPr>
        <p:spPr>
          <a:xfrm>
            <a:off x="9235440" y="2103120"/>
            <a:ext cx="566928" cy="566928"/>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24" name="Text 22"/>
          <p:cNvSpPr/>
          <p:nvPr/>
        </p:nvSpPr>
        <p:spPr>
          <a:xfrm>
            <a:off x="9235440" y="210312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5" name="Text 23"/>
          <p:cNvSpPr/>
          <p:nvPr/>
        </p:nvSpPr>
        <p:spPr>
          <a:xfrm>
            <a:off x="9235440" y="2816352"/>
            <a:ext cx="2121408" cy="54864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It goes home on paper</a:t>
            </a:r>
            <a:endParaRPr lang="en-US" sz="1500" dirty="0"/>
          </a:p>
        </p:txBody>
      </p:sp>
      <p:sp>
        <p:nvSpPr>
          <p:cNvPr id="26" name="Text 24"/>
          <p:cNvSpPr/>
          <p:nvPr/>
        </p:nvSpPr>
        <p:spPr>
          <a:xfrm>
            <a:off x="9235440" y="3364992"/>
            <a:ext cx="2121408" cy="1234440"/>
          </a:xfrm>
          <a:prstGeom prst="rect">
            <a:avLst/>
          </a:prstGeom>
          <a:noFill/>
          <a:ln/>
        </p:spPr>
        <p:txBody>
          <a:bodyPr wrap="square" lIns="0" tIns="0" rIns="0" bIns="0" rtlCol="0" anchor="t"/>
          <a:lstStyle/>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The same lines print as a</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bilingual worksheet and</a:t>
            </a:r>
            <a:endParaRPr lang="en-US" sz="1150" dirty="0"/>
          </a:p>
          <a:p>
            <a:pPr indent="0" marL="0">
              <a:lnSpc>
                <a:spcPts val="1600"/>
              </a:lnSpc>
              <a:buNone/>
            </a:pPr>
            <a:r>
              <a:rPr lang="en-US" sz="1150" dirty="0">
                <a:solidFill>
                  <a:srgbClr val="6B6B6B"/>
                </a:solidFill>
                <a:latin typeface="Calibri" pitchFamily="34" charset="0"/>
                <a:ea typeface="Calibri" pitchFamily="34" charset="-122"/>
                <a:cs typeface="Calibri" pitchFamily="34" charset="-120"/>
              </a:rPr>
              <a:t>flashcards, NIPUN coded.</a:t>
            </a:r>
            <a:endParaRPr lang="en-US" sz="1150" dirty="0"/>
          </a:p>
        </p:txBody>
      </p:sp>
      <p:sp>
        <p:nvSpPr>
          <p:cNvPr id="27" name="Shape 25"/>
          <p:cNvSpPr/>
          <p:nvPr/>
        </p:nvSpPr>
        <p:spPr>
          <a:xfrm>
            <a:off x="640080" y="5074920"/>
            <a:ext cx="10881360" cy="777240"/>
          </a:xfrm>
          <a:prstGeom prst="roundRect">
            <a:avLst>
              <a:gd name="adj" fmla="val 7059"/>
            </a:avLst>
          </a:prstGeom>
          <a:solidFill>
            <a:srgbClr val="F0F5F1"/>
          </a:solidFill>
          <a:ln w="9525">
            <a:solidFill>
              <a:srgbClr val="CFE0D6"/>
            </a:solidFill>
            <a:prstDash val="solid"/>
          </a:ln>
        </p:spPr>
      </p:sp>
      <p:sp>
        <p:nvSpPr>
          <p:cNvPr id="28" name="Text 26"/>
          <p:cNvSpPr/>
          <p:nvPr/>
        </p:nvSpPr>
        <p:spPr>
          <a:xfrm>
            <a:off x="914400" y="5239512"/>
            <a:ext cx="10332720" cy="457200"/>
          </a:xfrm>
          <a:prstGeom prst="rect">
            <a:avLst/>
          </a:prstGeom>
          <a:noFill/>
          <a:ln/>
        </p:spPr>
        <p:txBody>
          <a:bodyPr wrap="square" lIns="0" tIns="0" rIns="0" bIns="0" rtlCol="0" anchor="ctr"/>
          <a:lstStyle/>
          <a:p>
            <a:pPr indent="0" marL="0">
              <a:lnSpc>
                <a:spcPts val="1900"/>
              </a:lnSpc>
              <a:buNone/>
            </a:pPr>
            <a:r>
              <a:rPr lang="en-US" sz="1300" b="1" dirty="0">
                <a:solidFill>
                  <a:srgbClr val="1B4332"/>
                </a:solidFill>
                <a:latin typeface="Calibri" pitchFamily="34" charset="0"/>
                <a:ea typeface="Calibri" pitchFamily="34" charset="-122"/>
                <a:cs typeface="Calibri" pitchFamily="34" charset="-120"/>
              </a:rPr>
              <a:t>Measured, not budgeted.  </a:t>
            </a:r>
            <a:pPr indent="0" marL="0">
              <a:lnSpc>
                <a:spcPts val="1900"/>
              </a:lnSpc>
              <a:buNone/>
            </a:pPr>
            <a:r>
              <a:rPr lang="en-US" sz="1300" dirty="0">
                <a:solidFill>
                  <a:srgbClr val="1C1C1C"/>
                </a:solidFill>
                <a:latin typeface="Calibri" pitchFamily="34" charset="0"/>
                <a:ea typeface="Calibri" pitchFamily="34" charset="-122"/>
                <a:cs typeface="Calibri" pitchFamily="34" charset="-120"/>
              </a:rPr>
              <a:t>Median 98 ms from speech result to first sound, over seven phrases with the network off, against a 3,000 ms ceiling. Recognition time is not in that figure, and the app shows its own measurements on the Check and Proof screen.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THE PRODUCT</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One screen, and one promise on it</a:t>
            </a:r>
            <a:endParaRPr lang="en-US" sz="3400" dirty="0"/>
          </a:p>
        </p:txBody>
      </p:sp>
      <p:pic>
        <p:nvPicPr>
          <p:cNvPr id="4" name="Image 0" descr="mock-screen.png">    </p:cNvPr>
          <p:cNvPicPr>
            <a:picLocks noChangeAspect="1"/>
          </p:cNvPicPr>
          <p:nvPr/>
        </p:nvPicPr>
        <p:blipFill>
          <a:blip r:embed="rId1"/>
          <a:stretch>
            <a:fillRect/>
          </a:stretch>
        </p:blipFill>
        <p:spPr>
          <a:xfrm>
            <a:off x="777240" y="1691640"/>
            <a:ext cx="3246120" cy="3977640"/>
          </a:xfrm>
          <a:prstGeom prst="rect">
            <a:avLst/>
          </a:prstGeom>
        </p:spPr>
      </p:pic>
      <p:sp>
        <p:nvSpPr>
          <p:cNvPr id="5" name="Shape 2"/>
          <p:cNvSpPr/>
          <p:nvPr/>
        </p:nvSpPr>
        <p:spPr>
          <a:xfrm>
            <a:off x="4572000" y="1828800"/>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6" name="Text 3"/>
          <p:cNvSpPr/>
          <p:nvPr/>
        </p:nvSpPr>
        <p:spPr>
          <a:xfrm>
            <a:off x="4572000" y="1828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4"/>
          <p:cNvSpPr/>
          <p:nvPr/>
        </p:nvSpPr>
        <p:spPr>
          <a:xfrm>
            <a:off x="5138928" y="1783080"/>
            <a:ext cx="6400800" cy="292608"/>
          </a:xfrm>
          <a:prstGeom prst="rect">
            <a:avLst/>
          </a:prstGeom>
          <a:noFill/>
          <a:ln/>
        </p:spPr>
        <p:txBody>
          <a:bodyPr wrap="square" lIns="0" tIns="0" rIns="0" bIns="0" rtlCol="0" anchor="t"/>
          <a:lstStyle/>
          <a:p>
            <a:pPr indent="0" marL="0">
              <a:buNone/>
            </a:pPr>
            <a:r>
              <a:rPr lang="en-US" sz="1500" b="1" dirty="0">
                <a:solidFill>
                  <a:srgbClr val="1C1C1C"/>
                </a:solidFill>
                <a:latin typeface="Cambria" pitchFamily="34" charset="0"/>
                <a:ea typeface="Cambria" pitchFamily="34" charset="-122"/>
                <a:cs typeface="Cambria" pitchFamily="34" charset="-120"/>
              </a:rPr>
              <a:t>Hindi stays on screen</a:t>
            </a:r>
            <a:endParaRPr lang="en-US" sz="1500" dirty="0"/>
          </a:p>
        </p:txBody>
      </p:sp>
      <p:sp>
        <p:nvSpPr>
          <p:cNvPr id="8" name="Text 5"/>
          <p:cNvSpPr/>
          <p:nvPr/>
        </p:nvSpPr>
        <p:spPr>
          <a:xfrm>
            <a:off x="5138928" y="2093976"/>
            <a:ext cx="6400800" cy="621792"/>
          </a:xfrm>
          <a:prstGeom prst="rect">
            <a:avLst/>
          </a:prstGeom>
          <a:noFill/>
          <a:ln/>
        </p:spPr>
        <p:txBody>
          <a:bodyPr wrap="square" lIns="0" tIns="0" rIns="0" bIns="0" rtlCol="0" anchor="t"/>
          <a:lstStyle/>
          <a:p>
            <a:pPr indent="0" marL="0">
              <a:lnSpc>
                <a:spcPts val="1600"/>
              </a:lnSpc>
              <a:buNone/>
            </a:pPr>
            <a:r>
              <a:rPr lang="en-US" sz="1200" dirty="0">
                <a:solidFill>
                  <a:srgbClr val="6B6B6B"/>
                </a:solidFill>
                <a:latin typeface="Calibri" pitchFamily="34" charset="0"/>
                <a:ea typeface="Calibri" pitchFamily="34" charset="-122"/>
                <a:cs typeface="Calibri" pitchFamily="34" charset="-120"/>
              </a:rPr>
              <a:t>The teacher keeps her own words in view, so she always knows what was sent.</a:t>
            </a:r>
            <a:endParaRPr lang="en-US" sz="1200" dirty="0"/>
          </a:p>
        </p:txBody>
      </p:sp>
      <p:sp>
        <p:nvSpPr>
          <p:cNvPr id="9" name="Shape 6"/>
          <p:cNvSpPr/>
          <p:nvPr/>
        </p:nvSpPr>
        <p:spPr>
          <a:xfrm>
            <a:off x="4572000" y="2816352"/>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0" name="Text 7"/>
          <p:cNvSpPr/>
          <p:nvPr/>
        </p:nvSpPr>
        <p:spPr>
          <a:xfrm>
            <a:off x="4572000" y="2816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8"/>
          <p:cNvSpPr/>
          <p:nvPr/>
        </p:nvSpPr>
        <p:spPr>
          <a:xfrm>
            <a:off x="5138928" y="2770632"/>
            <a:ext cx="6400800" cy="292608"/>
          </a:xfrm>
          <a:prstGeom prst="rect">
            <a:avLst/>
          </a:prstGeom>
          <a:noFill/>
          <a:ln/>
        </p:spPr>
        <p:txBody>
          <a:bodyPr wrap="square" lIns="0" tIns="0" rIns="0" bIns="0" rtlCol="0" anchor="t"/>
          <a:lstStyle/>
          <a:p>
            <a:pPr indent="0" marL="0">
              <a:buNone/>
            </a:pPr>
            <a:r>
              <a:rPr lang="en-US" sz="1500" b="1" dirty="0">
                <a:solidFill>
                  <a:srgbClr val="1C1C1C"/>
                </a:solidFill>
                <a:latin typeface="Cambria" pitchFamily="34" charset="0"/>
                <a:ea typeface="Cambria" pitchFamily="34" charset="-122"/>
                <a:cs typeface="Cambria" pitchFamily="34" charset="-120"/>
              </a:rPr>
              <a:t>Ol Chiki, in the real script</a:t>
            </a:r>
            <a:endParaRPr lang="en-US" sz="1500" dirty="0"/>
          </a:p>
        </p:txBody>
      </p:sp>
      <p:sp>
        <p:nvSpPr>
          <p:cNvPr id="12" name="Text 9"/>
          <p:cNvSpPr/>
          <p:nvPr/>
        </p:nvSpPr>
        <p:spPr>
          <a:xfrm>
            <a:off x="5138928" y="3081528"/>
            <a:ext cx="6400800" cy="621792"/>
          </a:xfrm>
          <a:prstGeom prst="rect">
            <a:avLst/>
          </a:prstGeom>
          <a:noFill/>
          <a:ln/>
        </p:spPr>
        <p:txBody>
          <a:bodyPr wrap="square" lIns="0" tIns="0" rIns="0" bIns="0" rtlCol="0" anchor="t"/>
          <a:lstStyle/>
          <a:p>
            <a:pPr indent="0" marL="0">
              <a:lnSpc>
                <a:spcPts val="1600"/>
              </a:lnSpc>
              <a:buNone/>
            </a:pPr>
            <a:r>
              <a:rPr lang="en-US" sz="1200" dirty="0">
                <a:solidFill>
                  <a:srgbClr val="6B6B6B"/>
                </a:solidFill>
                <a:latin typeface="Calibri" pitchFamily="34" charset="0"/>
                <a:ea typeface="Calibri" pitchFamily="34" charset="-122"/>
                <a:cs typeface="Calibri" pitchFamily="34" charset="-120"/>
              </a:rPr>
              <a:t>Rendered with Noto Sans Ol Chiki, bundled in the APK. Android ships no Ol Chiki font, so without it every character would be an empty box.</a:t>
            </a:r>
            <a:endParaRPr lang="en-US" sz="1200" dirty="0"/>
          </a:p>
        </p:txBody>
      </p:sp>
      <p:sp>
        <p:nvSpPr>
          <p:cNvPr id="13" name="Shape 10"/>
          <p:cNvSpPr/>
          <p:nvPr/>
        </p:nvSpPr>
        <p:spPr>
          <a:xfrm>
            <a:off x="4572000" y="3803904"/>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4" name="Text 11"/>
          <p:cNvSpPr/>
          <p:nvPr/>
        </p:nvSpPr>
        <p:spPr>
          <a:xfrm>
            <a:off x="457200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2"/>
          <p:cNvSpPr/>
          <p:nvPr/>
        </p:nvSpPr>
        <p:spPr>
          <a:xfrm>
            <a:off x="5138928" y="3758184"/>
            <a:ext cx="6400800" cy="292608"/>
          </a:xfrm>
          <a:prstGeom prst="rect">
            <a:avLst/>
          </a:prstGeom>
          <a:noFill/>
          <a:ln/>
        </p:spPr>
        <p:txBody>
          <a:bodyPr wrap="square" lIns="0" tIns="0" rIns="0" bIns="0" rtlCol="0" anchor="t"/>
          <a:lstStyle/>
          <a:p>
            <a:pPr indent="0" marL="0">
              <a:buNone/>
            </a:pPr>
            <a:r>
              <a:rPr lang="en-US" sz="1500" b="1" dirty="0">
                <a:solidFill>
                  <a:srgbClr val="1C1C1C"/>
                </a:solidFill>
                <a:latin typeface="Cambria" pitchFamily="34" charset="0"/>
                <a:ea typeface="Cambria" pitchFamily="34" charset="-122"/>
                <a:cs typeface="Cambria" pitchFamily="34" charset="-120"/>
              </a:rPr>
              <a:t>The provenance chip</a:t>
            </a:r>
            <a:endParaRPr lang="en-US" sz="1500" dirty="0"/>
          </a:p>
        </p:txBody>
      </p:sp>
      <p:sp>
        <p:nvSpPr>
          <p:cNvPr id="16" name="Text 13"/>
          <p:cNvSpPr/>
          <p:nvPr/>
        </p:nvSpPr>
        <p:spPr>
          <a:xfrm>
            <a:off x="5138928" y="4069080"/>
            <a:ext cx="6400800" cy="621792"/>
          </a:xfrm>
          <a:prstGeom prst="rect">
            <a:avLst/>
          </a:prstGeom>
          <a:noFill/>
          <a:ln/>
        </p:spPr>
        <p:txBody>
          <a:bodyPr wrap="square" lIns="0" tIns="0" rIns="0" bIns="0" rtlCol="0" anchor="t"/>
          <a:lstStyle/>
          <a:p>
            <a:pPr indent="0" marL="0">
              <a:lnSpc>
                <a:spcPts val="1600"/>
              </a:lnSpc>
              <a:buNone/>
            </a:pPr>
            <a:r>
              <a:rPr lang="en-US" sz="1200" dirty="0">
                <a:solidFill>
                  <a:srgbClr val="6B6B6B"/>
                </a:solidFill>
                <a:latin typeface="Calibri" pitchFamily="34" charset="0"/>
                <a:ea typeface="Calibri" pitchFamily="34" charset="-122"/>
                <a:cs typeface="Calibri" pitchFamily="34" charset="-120"/>
              </a:rPr>
              <a:t>Says what produced the line and who, if anyone, has checked it. Machine output says machine output. It is the first thing we built and the last thing we would remove.</a:t>
            </a:r>
            <a:endParaRPr lang="en-US" sz="1200" dirty="0"/>
          </a:p>
        </p:txBody>
      </p:sp>
      <p:sp>
        <p:nvSpPr>
          <p:cNvPr id="17" name="Shape 14"/>
          <p:cNvSpPr/>
          <p:nvPr/>
        </p:nvSpPr>
        <p:spPr>
          <a:xfrm>
            <a:off x="4572000" y="4791456"/>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8" name="Text 15"/>
          <p:cNvSpPr/>
          <p:nvPr/>
        </p:nvSpPr>
        <p:spPr>
          <a:xfrm>
            <a:off x="4572000" y="47914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6"/>
          <p:cNvSpPr/>
          <p:nvPr/>
        </p:nvSpPr>
        <p:spPr>
          <a:xfrm>
            <a:off x="5138928" y="4745736"/>
            <a:ext cx="6400800" cy="292608"/>
          </a:xfrm>
          <a:prstGeom prst="rect">
            <a:avLst/>
          </a:prstGeom>
          <a:noFill/>
          <a:ln/>
        </p:spPr>
        <p:txBody>
          <a:bodyPr wrap="square" lIns="0" tIns="0" rIns="0" bIns="0" rtlCol="0" anchor="t"/>
          <a:lstStyle/>
          <a:p>
            <a:pPr indent="0" marL="0">
              <a:buNone/>
            </a:pPr>
            <a:r>
              <a:rPr lang="en-US" sz="1500" b="1" dirty="0">
                <a:solidFill>
                  <a:srgbClr val="1C1C1C"/>
                </a:solidFill>
                <a:latin typeface="Cambria" pitchFamily="34" charset="0"/>
                <a:ea typeface="Cambria" pitchFamily="34" charset="-122"/>
                <a:cs typeface="Cambria" pitchFamily="34" charset="-120"/>
              </a:rPr>
              <a:t>Press to talk, nothing to configure</a:t>
            </a:r>
            <a:endParaRPr lang="en-US" sz="1500" dirty="0"/>
          </a:p>
        </p:txBody>
      </p:sp>
      <p:sp>
        <p:nvSpPr>
          <p:cNvPr id="20" name="Text 17"/>
          <p:cNvSpPr/>
          <p:nvPr/>
        </p:nvSpPr>
        <p:spPr>
          <a:xfrm>
            <a:off x="5138928" y="5056632"/>
            <a:ext cx="6400800" cy="621792"/>
          </a:xfrm>
          <a:prstGeom prst="rect">
            <a:avLst/>
          </a:prstGeom>
          <a:noFill/>
          <a:ln/>
        </p:spPr>
        <p:txBody>
          <a:bodyPr wrap="square" lIns="0" tIns="0" rIns="0" bIns="0" rtlCol="0" anchor="t"/>
          <a:lstStyle/>
          <a:p>
            <a:pPr indent="0" marL="0">
              <a:lnSpc>
                <a:spcPts val="1600"/>
              </a:lnSpc>
              <a:buNone/>
            </a:pPr>
            <a:r>
              <a:rPr lang="en-US" sz="1200" dirty="0">
                <a:solidFill>
                  <a:srgbClr val="6B6B6B"/>
                </a:solidFill>
                <a:latin typeface="Calibri" pitchFamily="34" charset="0"/>
                <a:ea typeface="Calibri" pitchFamily="34" charset="-122"/>
                <a:cs typeface="Calibri" pitchFamily="34" charset="-120"/>
              </a:rPr>
              <a:t>No language field, no settings, no typing in a script she cannot read.</a:t>
            </a:r>
            <a:endParaRPr lang="en-US" sz="1200" dirty="0"/>
          </a:p>
        </p:txBody>
      </p:sp>
      <p:sp>
        <p:nvSpPr>
          <p:cNvPr id="21" name="Text 18"/>
          <p:cNvSpPr/>
          <p:nvPr/>
        </p:nvSpPr>
        <p:spPr>
          <a:xfrm>
            <a:off x="777240" y="5852160"/>
            <a:ext cx="10744200" cy="640080"/>
          </a:xfrm>
          <a:prstGeom prst="rect">
            <a:avLst/>
          </a:prstGeom>
          <a:noFill/>
          <a:ln/>
        </p:spPr>
        <p:txBody>
          <a:bodyPr wrap="square" lIns="0" tIns="0" rIns="0" bIns="0" rtlCol="0" anchor="ctr"/>
          <a:lstStyle/>
          <a:p>
            <a:pPr indent="0" marL="0">
              <a:lnSpc>
                <a:spcPts val="1800"/>
              </a:lnSpc>
              <a:buNone/>
            </a:pPr>
            <a:r>
              <a:rPr lang="en-US" sz="1250" i="1" dirty="0">
                <a:solidFill>
                  <a:srgbClr val="1C1C1C"/>
                </a:solidFill>
                <a:latin typeface="Calibri" pitchFamily="34" charset="0"/>
                <a:ea typeface="Calibri" pitchFamily="34" charset="-122"/>
                <a:cs typeface="Calibri" pitchFamily="34" charset="-120"/>
              </a:rPr>
              <a:t>The word on the screen is </a:t>
            </a:r>
            <a:pPr indent="0" marL="0">
              <a:lnSpc>
                <a:spcPts val="1800"/>
              </a:lnSpc>
              <a:buNone/>
            </a:pPr>
            <a:r>
              <a:rPr lang="en-US" sz="1250" b="1" i="1" dirty="0">
                <a:solidFill>
                  <a:srgbClr val="1B4332"/>
                </a:solidFill>
                <a:latin typeface="Calibri" pitchFamily="34" charset="0"/>
                <a:ea typeface="Calibri" pitchFamily="34" charset="-122"/>
                <a:cs typeface="Calibri" pitchFamily="34" charset="-120"/>
              </a:rPr>
              <a:t>johar</a:t>
            </a:r>
            <a:pPr indent="0" marL="0">
              <a:lnSpc>
                <a:spcPts val="1800"/>
              </a:lnSpc>
              <a:buNone/>
            </a:pPr>
            <a:r>
              <a:rPr lang="en-US" sz="1250" i="1" dirty="0">
                <a:solidFill>
                  <a:srgbClr val="1C1C1C"/>
                </a:solidFill>
                <a:latin typeface="Calibri" pitchFamily="34" charset="0"/>
                <a:ea typeface="Calibri" pitchFamily="34" charset="-122"/>
                <a:cs typeface="Calibri" pitchFamily="34" charset="-120"/>
              </a:rPr>
              <a:t>, the greeting shared across Santali, Ho and Mundari. It is the first thing a teacher would say, and the only Santali in this deck, because no Santali speaker has checked our pack yet. The app says that on every line it shows.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WHERE EVERY LINE COMES FROM</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Four models, each named on screen</a:t>
            </a:r>
            <a:endParaRPr lang="en-US" sz="3400" dirty="0"/>
          </a:p>
        </p:txBody>
      </p:sp>
      <p:sp>
        <p:nvSpPr>
          <p:cNvPr id="4" name="Text 2"/>
          <p:cNvSpPr/>
          <p:nvPr/>
        </p:nvSpPr>
        <p:spPr>
          <a:xfrm>
            <a:off x="640080" y="1600200"/>
            <a:ext cx="10881360" cy="365760"/>
          </a:xfrm>
          <a:prstGeom prst="rect">
            <a:avLst/>
          </a:prstGeom>
          <a:noFill/>
          <a:ln/>
        </p:spPr>
        <p:txBody>
          <a:bodyPr wrap="square" lIns="0" tIns="0" rIns="0" bIns="0" rtlCol="0" anchor="ctr"/>
          <a:lstStyle/>
          <a:p>
            <a:pPr indent="0" marL="0">
              <a:buNone/>
            </a:pPr>
            <a:r>
              <a:rPr lang="en-US" sz="1400" dirty="0">
                <a:solidFill>
                  <a:srgbClr val="1C1C1C"/>
                </a:solidFill>
                <a:latin typeface="Calibri" pitchFamily="34" charset="0"/>
                <a:ea typeface="Calibri" pitchFamily="34" charset="-122"/>
                <a:cs typeface="Calibri" pitchFamily="34" charset="-120"/>
              </a:rPr>
              <a:t>Each piece of content records the model that produced it. These are the four in the shipped app:</a:t>
            </a:r>
            <a:endParaRPr lang="en-US" sz="1400" dirty="0"/>
          </a:p>
        </p:txBody>
      </p:sp>
      <p:sp>
        <p:nvSpPr>
          <p:cNvPr id="5" name="Shape 3"/>
          <p:cNvSpPr/>
          <p:nvPr/>
        </p:nvSpPr>
        <p:spPr>
          <a:xfrm>
            <a:off x="640080" y="2103120"/>
            <a:ext cx="5303520" cy="1371600"/>
          </a:xfrm>
          <a:prstGeom prst="roundRect">
            <a:avLst>
              <a:gd name="adj" fmla="val 5333"/>
            </a:avLst>
          </a:prstGeom>
          <a:solidFill>
            <a:srgbClr val="F7F7F5"/>
          </a:solidFill>
          <a:ln w="9525">
            <a:solidFill>
              <a:srgbClr val="DCDCDC"/>
            </a:solidFill>
            <a:prstDash val="solid"/>
          </a:ln>
        </p:spPr>
      </p:sp>
      <p:sp>
        <p:nvSpPr>
          <p:cNvPr id="6" name="Shape 4"/>
          <p:cNvSpPr/>
          <p:nvPr/>
        </p:nvSpPr>
        <p:spPr>
          <a:xfrm>
            <a:off x="896112" y="2395728"/>
            <a:ext cx="384048" cy="384048"/>
          </a:xfrm>
          <a:prstGeom prst="ellipse">
            <a:avLst/>
          </a:prstGeom>
          <a:solidFill>
            <a:srgbClr val="1B4332"/>
          </a:solidFill>
          <a:ln/>
        </p:spPr>
      </p:sp>
      <p:sp>
        <p:nvSpPr>
          <p:cNvPr id="7" name="Text 5"/>
          <p:cNvSpPr/>
          <p:nvPr/>
        </p:nvSpPr>
        <p:spPr>
          <a:xfrm>
            <a:off x="1417320" y="2304288"/>
            <a:ext cx="4297680" cy="237744"/>
          </a:xfrm>
          <a:prstGeom prst="rect">
            <a:avLst/>
          </a:prstGeom>
          <a:noFill/>
          <a:ln/>
        </p:spPr>
        <p:txBody>
          <a:bodyPr wrap="square" lIns="0" tIns="0" rIns="0" bIns="0" rtlCol="0" anchor="ctr"/>
          <a:lstStyle/>
          <a:p>
            <a:pPr indent="0" marL="0">
              <a:buNone/>
            </a:pPr>
            <a:r>
              <a:rPr lang="en-US" sz="1000" b="1" spc="150" kern="0" dirty="0">
                <a:solidFill>
                  <a:srgbClr val="B85042"/>
                </a:solidFill>
                <a:latin typeface="Calibri" pitchFamily="34" charset="0"/>
                <a:ea typeface="Calibri" pitchFamily="34" charset="-122"/>
                <a:cs typeface="Calibri" pitchFamily="34" charset="-120"/>
              </a:rPr>
              <a:t>TRANSLATION, IN THE PACK</a:t>
            </a:r>
            <a:endParaRPr lang="en-US" sz="1000" dirty="0"/>
          </a:p>
        </p:txBody>
      </p:sp>
      <p:sp>
        <p:nvSpPr>
          <p:cNvPr id="8" name="Text 6"/>
          <p:cNvSpPr/>
          <p:nvPr/>
        </p:nvSpPr>
        <p:spPr>
          <a:xfrm>
            <a:off x="1417320" y="2523744"/>
            <a:ext cx="4297680" cy="27432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AI4Bharat IndicTrans2 1.1B</a:t>
            </a:r>
            <a:endParaRPr lang="en-US" sz="1500" dirty="0"/>
          </a:p>
        </p:txBody>
      </p:sp>
      <p:sp>
        <p:nvSpPr>
          <p:cNvPr id="9" name="Text 7"/>
          <p:cNvSpPr/>
          <p:nvPr/>
        </p:nvSpPr>
        <p:spPr>
          <a:xfrm>
            <a:off x="1417320" y="2816352"/>
            <a:ext cx="4297680" cy="54864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Calibri" pitchFamily="34" charset="0"/>
                <a:ea typeface="Calibri" pitchFamily="34" charset="-122"/>
                <a:cs typeface="Calibri" pitchFamily="34" charset="-120"/>
              </a:rPr>
              <a:t>Santali and 16 more languages, from the human-written English for each Hindi line. Run locally at build time.</a:t>
            </a:r>
            <a:endParaRPr lang="en-US" sz="1150" dirty="0"/>
          </a:p>
        </p:txBody>
      </p:sp>
      <p:sp>
        <p:nvSpPr>
          <p:cNvPr id="10" name="Shape 8"/>
          <p:cNvSpPr/>
          <p:nvPr/>
        </p:nvSpPr>
        <p:spPr>
          <a:xfrm>
            <a:off x="6217920" y="2103120"/>
            <a:ext cx="5303520" cy="1371600"/>
          </a:xfrm>
          <a:prstGeom prst="roundRect">
            <a:avLst>
              <a:gd name="adj" fmla="val 5333"/>
            </a:avLst>
          </a:prstGeom>
          <a:solidFill>
            <a:srgbClr val="F7F7F5"/>
          </a:solidFill>
          <a:ln w="9525">
            <a:solidFill>
              <a:srgbClr val="DCDCDC"/>
            </a:solidFill>
            <a:prstDash val="solid"/>
          </a:ln>
        </p:spPr>
      </p:sp>
      <p:sp>
        <p:nvSpPr>
          <p:cNvPr id="11" name="Shape 9"/>
          <p:cNvSpPr/>
          <p:nvPr/>
        </p:nvSpPr>
        <p:spPr>
          <a:xfrm>
            <a:off x="6473952" y="2395728"/>
            <a:ext cx="384048" cy="384048"/>
          </a:xfrm>
          <a:prstGeom prst="ellipse">
            <a:avLst/>
          </a:prstGeom>
          <a:solidFill>
            <a:srgbClr val="1B4332"/>
          </a:solidFill>
          <a:ln/>
        </p:spPr>
      </p:sp>
      <p:sp>
        <p:nvSpPr>
          <p:cNvPr id="12" name="Text 10"/>
          <p:cNvSpPr/>
          <p:nvPr/>
        </p:nvSpPr>
        <p:spPr>
          <a:xfrm>
            <a:off x="6995160" y="2304288"/>
            <a:ext cx="4297680" cy="237744"/>
          </a:xfrm>
          <a:prstGeom prst="rect">
            <a:avLst/>
          </a:prstGeom>
          <a:noFill/>
          <a:ln/>
        </p:spPr>
        <p:txBody>
          <a:bodyPr wrap="square" lIns="0" tIns="0" rIns="0" bIns="0" rtlCol="0" anchor="ctr"/>
          <a:lstStyle/>
          <a:p>
            <a:pPr indent="0" marL="0">
              <a:buNone/>
            </a:pPr>
            <a:r>
              <a:rPr lang="en-US" sz="1000" b="1" spc="150" kern="0" dirty="0">
                <a:solidFill>
                  <a:srgbClr val="B85042"/>
                </a:solidFill>
                <a:latin typeface="Calibri" pitchFamily="34" charset="0"/>
                <a:ea typeface="Calibri" pitchFamily="34" charset="-122"/>
                <a:cs typeface="Calibri" pitchFamily="34" charset="-120"/>
              </a:rPr>
              <a:t>TRANSLATION, LIVE</a:t>
            </a:r>
            <a:endParaRPr lang="en-US" sz="1000" dirty="0"/>
          </a:p>
        </p:txBody>
      </p:sp>
      <p:sp>
        <p:nvSpPr>
          <p:cNvPr id="13" name="Text 11"/>
          <p:cNvSpPr/>
          <p:nvPr/>
        </p:nvSpPr>
        <p:spPr>
          <a:xfrm>
            <a:off x="6995160" y="2523744"/>
            <a:ext cx="4297680" cy="27432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Bhashini IndicTrans v2</a:t>
            </a:r>
            <a:endParaRPr lang="en-US" sz="1500" dirty="0"/>
          </a:p>
        </p:txBody>
      </p:sp>
      <p:sp>
        <p:nvSpPr>
          <p:cNvPr id="14" name="Text 12"/>
          <p:cNvSpPr/>
          <p:nvPr/>
        </p:nvSpPr>
        <p:spPr>
          <a:xfrm>
            <a:off x="6995160" y="2816352"/>
            <a:ext cx="4297680" cy="54864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Calibri" pitchFamily="34" charset="0"/>
                <a:ea typeface="Calibri" pitchFamily="34" charset="-122"/>
                <a:cs typeface="Calibri" pitchFamily="34" charset="-120"/>
              </a:rPr>
              <a:t>Only for a sentence not in the pack, and only when the tablet is online.</a:t>
            </a:r>
            <a:endParaRPr lang="en-US" sz="1150" dirty="0"/>
          </a:p>
        </p:txBody>
      </p:sp>
      <p:sp>
        <p:nvSpPr>
          <p:cNvPr id="15" name="Shape 13"/>
          <p:cNvSpPr/>
          <p:nvPr/>
        </p:nvSpPr>
        <p:spPr>
          <a:xfrm>
            <a:off x="640080" y="3675888"/>
            <a:ext cx="5303520" cy="1371600"/>
          </a:xfrm>
          <a:prstGeom prst="roundRect">
            <a:avLst>
              <a:gd name="adj" fmla="val 5333"/>
            </a:avLst>
          </a:prstGeom>
          <a:solidFill>
            <a:srgbClr val="F7F7F5"/>
          </a:solidFill>
          <a:ln w="9525">
            <a:solidFill>
              <a:srgbClr val="DCDCDC"/>
            </a:solidFill>
            <a:prstDash val="solid"/>
          </a:ln>
        </p:spPr>
      </p:sp>
      <p:sp>
        <p:nvSpPr>
          <p:cNvPr id="16" name="Shape 14"/>
          <p:cNvSpPr/>
          <p:nvPr/>
        </p:nvSpPr>
        <p:spPr>
          <a:xfrm>
            <a:off x="896112" y="3968496"/>
            <a:ext cx="384048" cy="384048"/>
          </a:xfrm>
          <a:prstGeom prst="ellipse">
            <a:avLst/>
          </a:prstGeom>
          <a:solidFill>
            <a:srgbClr val="1B4332"/>
          </a:solidFill>
          <a:ln/>
        </p:spPr>
      </p:sp>
      <p:sp>
        <p:nvSpPr>
          <p:cNvPr id="17" name="Text 15"/>
          <p:cNvSpPr/>
          <p:nvPr/>
        </p:nvSpPr>
        <p:spPr>
          <a:xfrm>
            <a:off x="1417320" y="3877056"/>
            <a:ext cx="4297680" cy="237744"/>
          </a:xfrm>
          <a:prstGeom prst="rect">
            <a:avLst/>
          </a:prstGeom>
          <a:noFill/>
          <a:ln/>
        </p:spPr>
        <p:txBody>
          <a:bodyPr wrap="square" lIns="0" tIns="0" rIns="0" bIns="0" rtlCol="0" anchor="ctr"/>
          <a:lstStyle/>
          <a:p>
            <a:pPr indent="0" marL="0">
              <a:buNone/>
            </a:pPr>
            <a:r>
              <a:rPr lang="en-US" sz="1000" b="1" spc="150" kern="0" dirty="0">
                <a:solidFill>
                  <a:srgbClr val="B85042"/>
                </a:solidFill>
                <a:latin typeface="Calibri" pitchFamily="34" charset="0"/>
                <a:ea typeface="Calibri" pitchFamily="34" charset="-122"/>
                <a:cs typeface="Calibri" pitchFamily="34" charset="-120"/>
              </a:rPr>
              <a:t>SPEECH, FIVE LANGUAGES</a:t>
            </a:r>
            <a:endParaRPr lang="en-US" sz="1000" dirty="0"/>
          </a:p>
        </p:txBody>
      </p:sp>
      <p:sp>
        <p:nvSpPr>
          <p:cNvPr id="18" name="Text 16"/>
          <p:cNvSpPr/>
          <p:nvPr/>
        </p:nvSpPr>
        <p:spPr>
          <a:xfrm>
            <a:off x="1417320" y="4096512"/>
            <a:ext cx="4297680" cy="27432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Bhashini AI4Bharat Indic-TTS</a:t>
            </a:r>
            <a:endParaRPr lang="en-US" sz="1500" dirty="0"/>
          </a:p>
        </p:txBody>
      </p:sp>
      <p:sp>
        <p:nvSpPr>
          <p:cNvPr id="19" name="Text 17"/>
          <p:cNvSpPr/>
          <p:nvPr/>
        </p:nvSpPr>
        <p:spPr>
          <a:xfrm>
            <a:off x="1417320" y="4389120"/>
            <a:ext cx="4297680" cy="54864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Calibri" pitchFamily="34" charset="0"/>
                <a:ea typeface="Calibri" pitchFamily="34" charset="-122"/>
                <a:cs typeface="Calibri" pitchFamily="34" charset="-120"/>
              </a:rPr>
              <a:t>Tamil, Malayalam, Telugu, Bengali and Bodo. Generated once, shipped as audio.</a:t>
            </a:r>
            <a:endParaRPr lang="en-US" sz="1150" dirty="0"/>
          </a:p>
        </p:txBody>
      </p:sp>
      <p:sp>
        <p:nvSpPr>
          <p:cNvPr id="20" name="Shape 18"/>
          <p:cNvSpPr/>
          <p:nvPr/>
        </p:nvSpPr>
        <p:spPr>
          <a:xfrm>
            <a:off x="6217920" y="3675888"/>
            <a:ext cx="5303520" cy="1371600"/>
          </a:xfrm>
          <a:prstGeom prst="roundRect">
            <a:avLst>
              <a:gd name="adj" fmla="val 5333"/>
            </a:avLst>
          </a:prstGeom>
          <a:solidFill>
            <a:srgbClr val="F7F7F5"/>
          </a:solidFill>
          <a:ln w="9525">
            <a:solidFill>
              <a:srgbClr val="DCDCDC"/>
            </a:solidFill>
            <a:prstDash val="solid"/>
          </a:ln>
        </p:spPr>
      </p:sp>
      <p:sp>
        <p:nvSpPr>
          <p:cNvPr id="21" name="Shape 19"/>
          <p:cNvSpPr/>
          <p:nvPr/>
        </p:nvSpPr>
        <p:spPr>
          <a:xfrm>
            <a:off x="6473952" y="3968496"/>
            <a:ext cx="384048" cy="384048"/>
          </a:xfrm>
          <a:prstGeom prst="ellipse">
            <a:avLst/>
          </a:prstGeom>
          <a:solidFill>
            <a:srgbClr val="1B4332"/>
          </a:solidFill>
          <a:ln/>
        </p:spPr>
      </p:sp>
      <p:sp>
        <p:nvSpPr>
          <p:cNvPr id="22" name="Text 20"/>
          <p:cNvSpPr/>
          <p:nvPr/>
        </p:nvSpPr>
        <p:spPr>
          <a:xfrm>
            <a:off x="6995160" y="3877056"/>
            <a:ext cx="4297680" cy="237744"/>
          </a:xfrm>
          <a:prstGeom prst="rect">
            <a:avLst/>
          </a:prstGeom>
          <a:noFill/>
          <a:ln/>
        </p:spPr>
        <p:txBody>
          <a:bodyPr wrap="square" lIns="0" tIns="0" rIns="0" bIns="0" rtlCol="0" anchor="ctr"/>
          <a:lstStyle/>
          <a:p>
            <a:pPr indent="0" marL="0">
              <a:buNone/>
            </a:pPr>
            <a:r>
              <a:rPr lang="en-US" sz="1000" b="1" spc="150" kern="0" dirty="0">
                <a:solidFill>
                  <a:srgbClr val="B85042"/>
                </a:solidFill>
                <a:latin typeface="Calibri" pitchFamily="34" charset="0"/>
                <a:ea typeface="Calibri" pitchFamily="34" charset="-122"/>
                <a:cs typeface="Calibri" pitchFamily="34" charset="-120"/>
              </a:rPr>
              <a:t>SPEECH, SANTALI</a:t>
            </a:r>
            <a:endParaRPr lang="en-US" sz="1000" dirty="0"/>
          </a:p>
        </p:txBody>
      </p:sp>
      <p:sp>
        <p:nvSpPr>
          <p:cNvPr id="23" name="Text 21"/>
          <p:cNvSpPr/>
          <p:nvPr/>
        </p:nvSpPr>
        <p:spPr>
          <a:xfrm>
            <a:off x="6995160" y="4096512"/>
            <a:ext cx="4297680" cy="274320"/>
          </a:xfrm>
          <a:prstGeom prst="rect">
            <a:avLst/>
          </a:prstGeom>
          <a:noFill/>
          <a:ln/>
        </p:spPr>
        <p:txBody>
          <a:bodyPr wrap="square" lIns="0" tIns="0" rIns="0" bIns="0" rtlCol="0" anchor="ctr"/>
          <a:lstStyle/>
          <a:p>
            <a:pPr indent="0" marL="0">
              <a:buNone/>
            </a:pPr>
            <a:r>
              <a:rPr lang="en-US" sz="1500" b="1" dirty="0">
                <a:solidFill>
                  <a:srgbClr val="1C1C1C"/>
                </a:solidFill>
                <a:latin typeface="Cambria" pitchFamily="34" charset="0"/>
                <a:ea typeface="Cambria" pitchFamily="34" charset="-122"/>
                <a:cs typeface="Cambria" pitchFamily="34" charset="-120"/>
              </a:rPr>
              <a:t>AI4Bharat Indic Parler-TTS</a:t>
            </a:r>
            <a:endParaRPr lang="en-US" sz="1500" dirty="0"/>
          </a:p>
        </p:txBody>
      </p:sp>
      <p:sp>
        <p:nvSpPr>
          <p:cNvPr id="24" name="Text 22"/>
          <p:cNvSpPr/>
          <p:nvPr/>
        </p:nvSpPr>
        <p:spPr>
          <a:xfrm>
            <a:off x="6995160" y="4389120"/>
            <a:ext cx="4297680" cy="548640"/>
          </a:xfrm>
          <a:prstGeom prst="rect">
            <a:avLst/>
          </a:prstGeom>
          <a:noFill/>
          <a:ln/>
        </p:spPr>
        <p:txBody>
          <a:bodyPr wrap="square" lIns="0" tIns="0" rIns="0" bIns="0" rtlCol="0" anchor="t"/>
          <a:lstStyle/>
          <a:p>
            <a:pPr indent="0" marL="0">
              <a:lnSpc>
                <a:spcPts val="1500"/>
              </a:lnSpc>
              <a:buNone/>
            </a:pPr>
            <a:r>
              <a:rPr lang="en-US" sz="1150" dirty="0">
                <a:solidFill>
                  <a:srgbClr val="6B6B6B"/>
                </a:solidFill>
                <a:latin typeface="Calibri" pitchFamily="34" charset="0"/>
                <a:ea typeface="Calibri" pitchFamily="34" charset="-122"/>
                <a:cs typeface="Calibri" pitchFamily="34" charset="-120"/>
              </a:rPr>
              <a:t>Bhashini has no Santali voice; we checked with a working key. Run locally, labelled unchecked.</a:t>
            </a:r>
            <a:endParaRPr lang="en-US" sz="1150" dirty="0"/>
          </a:p>
        </p:txBody>
      </p:sp>
      <p:sp>
        <p:nvSpPr>
          <p:cNvPr id="25" name="Text 23"/>
          <p:cNvSpPr/>
          <p:nvPr/>
        </p:nvSpPr>
        <p:spPr>
          <a:xfrm>
            <a:off x="640080" y="5349240"/>
            <a:ext cx="10881360" cy="685800"/>
          </a:xfrm>
          <a:prstGeom prst="rect">
            <a:avLst/>
          </a:prstGeom>
          <a:noFill/>
          <a:ln/>
        </p:spPr>
        <p:txBody>
          <a:bodyPr wrap="square" lIns="0" tIns="0" rIns="0" bIns="0" rtlCol="0" anchor="ctr"/>
          <a:lstStyle/>
          <a:p>
            <a:pPr indent="0" marL="0">
              <a:lnSpc>
                <a:spcPts val="1900"/>
              </a:lnSpc>
              <a:buNone/>
            </a:pPr>
            <a:r>
              <a:rPr lang="en-US" sz="1300" b="1" dirty="0">
                <a:solidFill>
                  <a:srgbClr val="1B4332"/>
                </a:solidFill>
                <a:latin typeface="Calibri" pitchFamily="34" charset="0"/>
                <a:ea typeface="Calibri" pitchFamily="34" charset="-122"/>
                <a:cs typeface="Calibri" pitchFamily="34" charset="-120"/>
              </a:rPr>
              <a:t>Why this matters for defensibility.  </a:t>
            </a:r>
            <a:pPr indent="0" marL="0">
              <a:lnSpc>
                <a:spcPts val="1900"/>
              </a:lnSpc>
              <a:buNone/>
            </a:pPr>
            <a:r>
              <a:rPr lang="en-US" sz="1300" dirty="0">
                <a:solidFill>
                  <a:srgbClr val="1C1C1C"/>
                </a:solidFill>
                <a:latin typeface="Calibri" pitchFamily="34" charset="0"/>
                <a:ea typeface="Calibri" pitchFamily="34" charset="-122"/>
                <a:cs typeface="Calibri" pitchFamily="34" charset="-120"/>
              </a:rPr>
              <a:t>Our team does not read Santali, so we cannot be the authority on it, and neither can a model. Every entry records the model and timestamp that produced it, and a two-route cross-check ranks the twelve lines a Santali speaker should read first.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Translate once online. Run forever offline.</a:t>
            </a:r>
            <a:endParaRPr lang="en-US" sz="3400" dirty="0"/>
          </a:p>
        </p:txBody>
      </p:sp>
      <p:sp>
        <p:nvSpPr>
          <p:cNvPr id="4" name="Text 2"/>
          <p:cNvSpPr/>
          <p:nvPr/>
        </p:nvSpPr>
        <p:spPr>
          <a:xfrm>
            <a:off x="640080" y="1627632"/>
            <a:ext cx="5212080" cy="274320"/>
          </a:xfrm>
          <a:prstGeom prst="rect">
            <a:avLst/>
          </a:prstGeom>
          <a:noFill/>
          <a:ln/>
        </p:spPr>
        <p:txBody>
          <a:bodyPr wrap="square" lIns="0" tIns="0" rIns="0" bIns="0" rtlCol="0" anchor="ctr"/>
          <a:lstStyle/>
          <a:p>
            <a:pPr indent="0" marL="0">
              <a:buNone/>
            </a:pPr>
            <a:r>
              <a:rPr lang="en-US" sz="1100" b="1" spc="150" kern="0" dirty="0">
                <a:solidFill>
                  <a:srgbClr val="B85042"/>
                </a:solidFill>
                <a:latin typeface="Calibri" pitchFamily="34" charset="0"/>
                <a:ea typeface="Calibri" pitchFamily="34" charset="-122"/>
                <a:cs typeface="Calibri" pitchFamily="34" charset="-120"/>
              </a:rPr>
              <a:t>BUILD TIME  ·  once, with a network</a:t>
            </a:r>
            <a:endParaRPr lang="en-US" sz="1100" dirty="0"/>
          </a:p>
        </p:txBody>
      </p:sp>
      <p:sp>
        <p:nvSpPr>
          <p:cNvPr id="5" name="Shape 3"/>
          <p:cNvSpPr/>
          <p:nvPr/>
        </p:nvSpPr>
        <p:spPr>
          <a:xfrm>
            <a:off x="640080" y="1965960"/>
            <a:ext cx="5212080" cy="3017520"/>
          </a:xfrm>
          <a:prstGeom prst="roundRect">
            <a:avLst>
              <a:gd name="adj" fmla="val 2424"/>
            </a:avLst>
          </a:prstGeom>
          <a:solidFill>
            <a:srgbClr val="F7F7F5"/>
          </a:solidFill>
          <a:ln w="9525">
            <a:solidFill>
              <a:srgbClr val="DCDCDC"/>
            </a:solidFill>
            <a:prstDash val="solid"/>
          </a:ln>
        </p:spPr>
      </p:sp>
      <p:sp>
        <p:nvSpPr>
          <p:cNvPr id="6" name="Shape 4"/>
          <p:cNvSpPr/>
          <p:nvPr/>
        </p:nvSpPr>
        <p:spPr>
          <a:xfrm>
            <a:off x="914400" y="2240280"/>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7" name="Text 5"/>
          <p:cNvSpPr/>
          <p:nvPr/>
        </p:nvSpPr>
        <p:spPr>
          <a:xfrm>
            <a:off x="914400" y="22402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463040" y="2240280"/>
            <a:ext cx="411480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Hindi FLN content: 53 lines, classroom phrases plus NCERT Sarangi lesson lines</a:t>
            </a:r>
            <a:endParaRPr lang="en-US" sz="1250" dirty="0"/>
          </a:p>
        </p:txBody>
      </p:sp>
      <p:sp>
        <p:nvSpPr>
          <p:cNvPr id="9" name="Shape 7"/>
          <p:cNvSpPr/>
          <p:nvPr/>
        </p:nvSpPr>
        <p:spPr>
          <a:xfrm>
            <a:off x="914400" y="3154680"/>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0" name="Text 8"/>
          <p:cNvSpPr/>
          <p:nvPr/>
        </p:nvSpPr>
        <p:spPr>
          <a:xfrm>
            <a:off x="914400" y="3154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463040" y="3154680"/>
            <a:ext cx="411480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Translated by IndicTrans2, then spoken by Bhashini Indic-TTS, or by Indic Parler-TTS for Santali</a:t>
            </a:r>
            <a:endParaRPr lang="en-US" sz="1250" dirty="0"/>
          </a:p>
        </p:txBody>
      </p:sp>
      <p:sp>
        <p:nvSpPr>
          <p:cNvPr id="12" name="Shape 10"/>
          <p:cNvSpPr/>
          <p:nvPr/>
        </p:nvSpPr>
        <p:spPr>
          <a:xfrm>
            <a:off x="914400" y="4069080"/>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3" name="Text 11"/>
          <p:cNvSpPr/>
          <p:nvPr/>
        </p:nvSpPr>
        <p:spPr>
          <a:xfrm>
            <a:off x="914400" y="4069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p:nvPr/>
        </p:nvSpPr>
        <p:spPr>
          <a:xfrm>
            <a:off x="1463040" y="4069080"/>
            <a:ext cx="411480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Target text and audio written into the APK, with the model named for each line</a:t>
            </a:r>
            <a:endParaRPr lang="en-US" sz="1250" dirty="0"/>
          </a:p>
        </p:txBody>
      </p:sp>
      <p:sp>
        <p:nvSpPr>
          <p:cNvPr id="15" name="Text 13"/>
          <p:cNvSpPr/>
          <p:nvPr/>
        </p:nvSpPr>
        <p:spPr>
          <a:xfrm>
            <a:off x="5943600" y="3108960"/>
            <a:ext cx="365760" cy="457200"/>
          </a:xfrm>
          <a:prstGeom prst="rect">
            <a:avLst/>
          </a:prstGeom>
          <a:noFill/>
          <a:ln/>
        </p:spPr>
        <p:txBody>
          <a:bodyPr wrap="square" lIns="0" tIns="0" rIns="0" bIns="0" rtlCol="0" anchor="ctr"/>
          <a:lstStyle/>
          <a:p>
            <a:pPr algn="ctr" indent="0" marL="0">
              <a:buNone/>
            </a:pPr>
            <a:r>
              <a:rPr lang="en-US" sz="2800" b="1" dirty="0">
                <a:solidFill>
                  <a:srgbClr val="E9A03B"/>
                </a:solidFill>
                <a:latin typeface="Calibri" pitchFamily="34" charset="0"/>
                <a:ea typeface="Calibri" pitchFamily="34" charset="-122"/>
                <a:cs typeface="Calibri" pitchFamily="34" charset="-120"/>
              </a:rPr>
              <a:t>→</a:t>
            </a:r>
            <a:endParaRPr lang="en-US" sz="2800" dirty="0"/>
          </a:p>
        </p:txBody>
      </p:sp>
      <p:sp>
        <p:nvSpPr>
          <p:cNvPr id="16" name="Text 14"/>
          <p:cNvSpPr/>
          <p:nvPr/>
        </p:nvSpPr>
        <p:spPr>
          <a:xfrm>
            <a:off x="6400800" y="1627632"/>
            <a:ext cx="5120640" cy="274320"/>
          </a:xfrm>
          <a:prstGeom prst="rect">
            <a:avLst/>
          </a:prstGeom>
          <a:noFill/>
          <a:ln/>
        </p:spPr>
        <p:txBody>
          <a:bodyPr wrap="square" lIns="0" tIns="0" rIns="0" bIns="0" rtlCol="0" anchor="ctr"/>
          <a:lstStyle/>
          <a:p>
            <a:pPr indent="0" marL="0">
              <a:buNone/>
            </a:pPr>
            <a:r>
              <a:rPr lang="en-US" sz="1100" b="1" spc="150" kern="0" dirty="0">
                <a:solidFill>
                  <a:srgbClr val="B85042"/>
                </a:solidFill>
                <a:latin typeface="Calibri" pitchFamily="34" charset="0"/>
                <a:ea typeface="Calibri" pitchFamily="34" charset="-122"/>
                <a:cs typeface="Calibri" pitchFamily="34" charset="-120"/>
              </a:rPr>
              <a:t>RUN TIME  ·  in the classroom, no network</a:t>
            </a:r>
            <a:endParaRPr lang="en-US" sz="1100" dirty="0"/>
          </a:p>
        </p:txBody>
      </p:sp>
      <p:sp>
        <p:nvSpPr>
          <p:cNvPr id="17" name="Shape 15"/>
          <p:cNvSpPr/>
          <p:nvPr/>
        </p:nvSpPr>
        <p:spPr>
          <a:xfrm>
            <a:off x="6400800" y="1965960"/>
            <a:ext cx="5120640" cy="3017520"/>
          </a:xfrm>
          <a:prstGeom prst="roundRect">
            <a:avLst>
              <a:gd name="adj" fmla="val 2424"/>
            </a:avLst>
          </a:prstGeom>
          <a:solidFill>
            <a:srgbClr val="F0F5F1"/>
          </a:solidFill>
          <a:ln w="9525">
            <a:solidFill>
              <a:srgbClr val="DCDCDC"/>
            </a:solidFill>
            <a:prstDash val="solid"/>
          </a:ln>
        </p:spPr>
      </p:sp>
      <p:sp>
        <p:nvSpPr>
          <p:cNvPr id="18" name="Shape 16"/>
          <p:cNvSpPr/>
          <p:nvPr/>
        </p:nvSpPr>
        <p:spPr>
          <a:xfrm>
            <a:off x="6675120" y="2240280"/>
            <a:ext cx="402336" cy="402336"/>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19" name="Text 17"/>
          <p:cNvSpPr/>
          <p:nvPr/>
        </p:nvSpPr>
        <p:spPr>
          <a:xfrm>
            <a:off x="6675120" y="22402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0" name="Text 18"/>
          <p:cNvSpPr/>
          <p:nvPr/>
        </p:nvSpPr>
        <p:spPr>
          <a:xfrm>
            <a:off x="7223760" y="2240280"/>
            <a:ext cx="402336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Teacher speaks. Android speech recognition, Hindi, on device</a:t>
            </a:r>
            <a:endParaRPr lang="en-US" sz="1250" dirty="0"/>
          </a:p>
        </p:txBody>
      </p:sp>
      <p:sp>
        <p:nvSpPr>
          <p:cNvPr id="21" name="Shape 19"/>
          <p:cNvSpPr/>
          <p:nvPr/>
        </p:nvSpPr>
        <p:spPr>
          <a:xfrm>
            <a:off x="6675120" y="3154680"/>
            <a:ext cx="402336" cy="402336"/>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22" name="Text 20"/>
          <p:cNvSpPr/>
          <p:nvPr/>
        </p:nvSpPr>
        <p:spPr>
          <a:xfrm>
            <a:off x="6675120" y="3154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3" name="Text 21"/>
          <p:cNvSpPr/>
          <p:nvPr/>
        </p:nvSpPr>
        <p:spPr>
          <a:xfrm>
            <a:off x="7223760" y="3154680"/>
            <a:ext cx="402336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Hash lookup in the shipped pack. Microseconds, zero network</a:t>
            </a:r>
            <a:endParaRPr lang="en-US" sz="1250" dirty="0"/>
          </a:p>
        </p:txBody>
      </p:sp>
      <p:sp>
        <p:nvSpPr>
          <p:cNvPr id="24" name="Shape 22"/>
          <p:cNvSpPr/>
          <p:nvPr/>
        </p:nvSpPr>
        <p:spPr>
          <a:xfrm>
            <a:off x="6675120" y="4069080"/>
            <a:ext cx="402336" cy="402336"/>
          </a:xfrm>
          <a:prstGeom prst="ellipse">
            <a:avLst/>
          </a:prstGeom>
          <a:solidFill>
            <a:srgbClr val="B85042"/>
          </a:solidFill>
          <a:ln/>
          <a:effectLst>
            <a:outerShdw sx="100000" sy="100000" kx="0" ky="0" algn="bl" rotWithShape="0" blurRad="152400" dist="38100" dir="5400000">
              <a:srgbClr val="000000">
                <a:alpha val="12000"/>
              </a:srgbClr>
            </a:outerShdw>
          </a:effectLst>
        </p:spPr>
      </p:sp>
      <p:sp>
        <p:nvSpPr>
          <p:cNvPr id="25" name="Text 23"/>
          <p:cNvSpPr/>
          <p:nvPr/>
        </p:nvSpPr>
        <p:spPr>
          <a:xfrm>
            <a:off x="6675120" y="4069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6" name="Text 24"/>
          <p:cNvSpPr/>
          <p:nvPr/>
        </p:nvSpPr>
        <p:spPr>
          <a:xfrm>
            <a:off x="7223760" y="4069080"/>
            <a:ext cx="4023360" cy="731520"/>
          </a:xfrm>
          <a:prstGeom prst="rect">
            <a:avLst/>
          </a:prstGeom>
          <a:noFill/>
          <a:ln/>
        </p:spPr>
        <p:txBody>
          <a:bodyPr wrap="square" lIns="0" tIns="0" rIns="0" bIns="0" rtlCol="0" anchor="t"/>
          <a:lstStyle/>
          <a:p>
            <a:pPr indent="0" marL="0">
              <a:lnSpc>
                <a:spcPts val="1700"/>
              </a:lnSpc>
              <a:buNone/>
            </a:pPr>
            <a:r>
              <a:rPr lang="en-US" sz="1250" dirty="0">
                <a:solidFill>
                  <a:srgbClr val="1C1C1C"/>
                </a:solidFill>
                <a:latin typeface="Calibri" pitchFamily="34" charset="0"/>
                <a:ea typeface="Calibri" pitchFamily="34" charset="-122"/>
                <a:cs typeface="Calibri" pitchFamily="34" charset="-120"/>
              </a:rPr>
              <a:t>Ol Chiki on screen, Santali audio played from local storage</a:t>
            </a:r>
            <a:endParaRPr lang="en-US" sz="1250" dirty="0"/>
          </a:p>
        </p:txBody>
      </p:sp>
      <p:sp>
        <p:nvSpPr>
          <p:cNvPr id="27" name="Text 25"/>
          <p:cNvSpPr/>
          <p:nvPr/>
        </p:nvSpPr>
        <p:spPr>
          <a:xfrm>
            <a:off x="640080" y="5212080"/>
            <a:ext cx="10881360" cy="685800"/>
          </a:xfrm>
          <a:prstGeom prst="rect">
            <a:avLst/>
          </a:prstGeom>
          <a:noFill/>
          <a:ln/>
        </p:spPr>
        <p:txBody>
          <a:bodyPr wrap="square" lIns="0" tIns="0" rIns="0" bIns="0" rtlCol="0" anchor="ctr"/>
          <a:lstStyle/>
          <a:p>
            <a:pPr indent="0" marL="0">
              <a:lnSpc>
                <a:spcPts val="1900"/>
              </a:lnSpc>
              <a:buNone/>
            </a:pPr>
            <a:r>
              <a:rPr lang="en-US" sz="1300" b="1" dirty="0">
                <a:solidFill>
                  <a:srgbClr val="1B4332"/>
                </a:solidFill>
                <a:latin typeface="Calibri" pitchFamily="34" charset="0"/>
                <a:ea typeface="Calibri" pitchFamily="34" charset="-122"/>
                <a:cs typeface="Calibri" pitchFamily="34" charset="-120"/>
              </a:rPr>
              <a:t>No machine learning runs on the tablet. </a:t>
            </a:r>
            <a:pPr indent="0" marL="0">
              <a:lnSpc>
                <a:spcPts val="1900"/>
              </a:lnSpc>
              <a:buNone/>
            </a:pPr>
            <a:r>
              <a:rPr lang="en-US" sz="1300" dirty="0">
                <a:solidFill>
                  <a:srgbClr val="1C1C1C"/>
                </a:solidFill>
                <a:latin typeface="Calibri" pitchFamily="34" charset="0"/>
                <a:ea typeface="Calibri" pitchFamily="34" charset="-122"/>
                <a:cs typeface="Calibri" pitchFamily="34" charset="-120"/>
              </a:rPr>
              <a:t>The problem statement requires full offline operation “after initial content synchronisation”, and this is exactly that. It also means nothing can fail on stage: no network, no model load, no variance.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4332"/>
        </a:solidFill>
      </p:bgPr>
    </p:bg>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E9A03B"/>
                </a:solidFill>
                <a:latin typeface="Calibri" pitchFamily="34" charset="0"/>
                <a:ea typeface="Calibri" pitchFamily="34" charset="-122"/>
                <a:cs typeface="Calibri" pitchFamily="34" charset="-120"/>
              </a:rPr>
              <a:t>THE DESIGN RULE WE WILL NOT BREAK</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app never invents a translation</a:t>
            </a:r>
            <a:endParaRPr lang="en-US" sz="3400" dirty="0"/>
          </a:p>
        </p:txBody>
      </p:sp>
      <p:sp>
        <p:nvSpPr>
          <p:cNvPr id="4" name="Text 2"/>
          <p:cNvSpPr/>
          <p:nvPr/>
        </p:nvSpPr>
        <p:spPr>
          <a:xfrm>
            <a:off x="640080" y="1691640"/>
            <a:ext cx="10881360" cy="640080"/>
          </a:xfrm>
          <a:prstGeom prst="rect">
            <a:avLst/>
          </a:prstGeom>
          <a:noFill/>
          <a:ln/>
        </p:spPr>
        <p:txBody>
          <a:bodyPr wrap="square" lIns="0" tIns="0" rIns="0" bIns="0" rtlCol="0" anchor="ctr"/>
          <a:lstStyle/>
          <a:p>
            <a:pPr indent="0" marL="0">
              <a:lnSpc>
                <a:spcPts val="2300"/>
              </a:lnSpc>
              <a:buNone/>
            </a:pPr>
            <a:r>
              <a:rPr lang="en-US" sz="1500" dirty="0">
                <a:solidFill>
                  <a:srgbClr val="CFE0D6"/>
                </a:solidFill>
                <a:latin typeface="Calibri" pitchFamily="34" charset="0"/>
                <a:ea typeface="Calibri" pitchFamily="34" charset="-122"/>
                <a:cs typeface="Calibri" pitchFamily="34" charset="-120"/>
              </a:rPr>
              <a:t>A teacher who does not speak Santali cannot tell a good translation from a bad one. The children can. So every piece of output carries its provenance, shown on screen next to the text.</a:t>
            </a:r>
            <a:endParaRPr lang="en-US" sz="1500" dirty="0"/>
          </a:p>
        </p:txBody>
      </p:sp>
      <p:sp>
        <p:nvSpPr>
          <p:cNvPr id="5" name="Shape 3"/>
          <p:cNvSpPr/>
          <p:nvPr/>
        </p:nvSpPr>
        <p:spPr>
          <a:xfrm>
            <a:off x="640080" y="2514600"/>
            <a:ext cx="3429000" cy="2148840"/>
          </a:xfrm>
          <a:prstGeom prst="roundRect">
            <a:avLst>
              <a:gd name="adj" fmla="val 3404"/>
            </a:avLst>
          </a:prstGeom>
          <a:solidFill>
            <a:srgbClr val="2D6A4F"/>
          </a:solidFill>
          <a:ln w="15875">
            <a:solidFill>
              <a:srgbClr val="52B788"/>
            </a:solidFill>
            <a:prstDash val="solid"/>
          </a:ln>
        </p:spPr>
      </p:sp>
      <p:sp>
        <p:nvSpPr>
          <p:cNvPr id="6" name="Shape 4"/>
          <p:cNvSpPr/>
          <p:nvPr/>
        </p:nvSpPr>
        <p:spPr>
          <a:xfrm>
            <a:off x="914400" y="2761488"/>
            <a:ext cx="237744" cy="237744"/>
          </a:xfrm>
          <a:prstGeom prst="ellipse">
            <a:avLst/>
          </a:prstGeom>
          <a:solidFill>
            <a:srgbClr val="52B788"/>
          </a:solidFill>
          <a:ln/>
        </p:spPr>
      </p:sp>
      <p:sp>
        <p:nvSpPr>
          <p:cNvPr id="7" name="Text 5"/>
          <p:cNvSpPr/>
          <p:nvPr/>
        </p:nvSpPr>
        <p:spPr>
          <a:xfrm>
            <a:off x="1261872" y="2724912"/>
            <a:ext cx="2651760" cy="274320"/>
          </a:xfrm>
          <a:prstGeom prst="rect">
            <a:avLst/>
          </a:prstGeom>
          <a:noFill/>
          <a:ln/>
        </p:spPr>
        <p:txBody>
          <a:bodyPr wrap="square" lIns="0" tIns="0" rIns="0" bIns="0" rtlCol="0" anchor="ctr"/>
          <a:lstStyle/>
          <a:p>
            <a:pPr indent="0" marL="0">
              <a:buNone/>
            </a:pPr>
            <a:r>
              <a:rPr lang="en-US" sz="1150" b="1" spc="120" kern="0" dirty="0">
                <a:solidFill>
                  <a:srgbClr val="52B788"/>
                </a:solidFill>
                <a:latin typeface="Calibri" pitchFamily="34" charset="0"/>
                <a:ea typeface="Calibri" pitchFamily="34" charset="-122"/>
                <a:cs typeface="Calibri" pitchFamily="34" charset="-120"/>
              </a:rPr>
              <a:t>MACHINE TRANSLATION</a:t>
            </a:r>
            <a:endParaRPr lang="en-US" sz="1150" dirty="0"/>
          </a:p>
        </p:txBody>
      </p:sp>
      <p:sp>
        <p:nvSpPr>
          <p:cNvPr id="8" name="Text 6"/>
          <p:cNvSpPr/>
          <p:nvPr/>
        </p:nvSpPr>
        <p:spPr>
          <a:xfrm>
            <a:off x="914400" y="3154680"/>
            <a:ext cx="2880360" cy="1371600"/>
          </a:xfrm>
          <a:prstGeom prst="rect">
            <a:avLst/>
          </a:prstGeom>
          <a:noFill/>
          <a:ln/>
        </p:spPr>
        <p:txBody>
          <a:bodyPr wrap="square" lIns="0" tIns="0" rIns="0" bIns="0" rtlCol="0" anchor="t"/>
          <a:lstStyle/>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Produced by a named model</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during the pack build and</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shipped verbatim. Says so,</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and says it is unchecked.</a:t>
            </a:r>
            <a:endParaRPr lang="en-US" sz="1200" dirty="0"/>
          </a:p>
        </p:txBody>
      </p:sp>
      <p:sp>
        <p:nvSpPr>
          <p:cNvPr id="9" name="Shape 7"/>
          <p:cNvSpPr/>
          <p:nvPr/>
        </p:nvSpPr>
        <p:spPr>
          <a:xfrm>
            <a:off x="4343400" y="2514600"/>
            <a:ext cx="3429000" cy="2148840"/>
          </a:xfrm>
          <a:prstGeom prst="roundRect">
            <a:avLst>
              <a:gd name="adj" fmla="val 3404"/>
            </a:avLst>
          </a:prstGeom>
          <a:solidFill>
            <a:srgbClr val="2D6A4F"/>
          </a:solidFill>
          <a:ln w="15875">
            <a:solidFill>
              <a:srgbClr val="E9A03B"/>
            </a:solidFill>
            <a:prstDash val="solid"/>
          </a:ln>
        </p:spPr>
      </p:sp>
      <p:sp>
        <p:nvSpPr>
          <p:cNvPr id="10" name="Shape 8"/>
          <p:cNvSpPr/>
          <p:nvPr/>
        </p:nvSpPr>
        <p:spPr>
          <a:xfrm>
            <a:off x="4617720" y="2761488"/>
            <a:ext cx="237744" cy="237744"/>
          </a:xfrm>
          <a:prstGeom prst="ellipse">
            <a:avLst/>
          </a:prstGeom>
          <a:solidFill>
            <a:srgbClr val="E9A03B"/>
          </a:solidFill>
          <a:ln/>
        </p:spPr>
      </p:sp>
      <p:sp>
        <p:nvSpPr>
          <p:cNvPr id="11" name="Text 9"/>
          <p:cNvSpPr/>
          <p:nvPr/>
        </p:nvSpPr>
        <p:spPr>
          <a:xfrm>
            <a:off x="4965192" y="2724912"/>
            <a:ext cx="2651760" cy="274320"/>
          </a:xfrm>
          <a:prstGeom prst="rect">
            <a:avLst/>
          </a:prstGeom>
          <a:noFill/>
          <a:ln/>
        </p:spPr>
        <p:txBody>
          <a:bodyPr wrap="square" lIns="0" tIns="0" rIns="0" bIns="0" rtlCol="0" anchor="ctr"/>
          <a:lstStyle/>
          <a:p>
            <a:pPr indent="0" marL="0">
              <a:buNone/>
            </a:pPr>
            <a:r>
              <a:rPr lang="en-US" sz="1150" b="1" spc="120" kern="0" dirty="0">
                <a:solidFill>
                  <a:srgbClr val="E9A03B"/>
                </a:solidFill>
                <a:latin typeface="Calibri" pitchFamily="34" charset="0"/>
                <a:ea typeface="Calibri" pitchFamily="34" charset="-122"/>
                <a:cs typeface="Calibri" pitchFamily="34" charset="-120"/>
              </a:rPr>
              <a:t>TRANSLITERATED</a:t>
            </a:r>
            <a:endParaRPr lang="en-US" sz="1150" dirty="0"/>
          </a:p>
        </p:txBody>
      </p:sp>
      <p:sp>
        <p:nvSpPr>
          <p:cNvPr id="12" name="Text 10"/>
          <p:cNvSpPr/>
          <p:nvPr/>
        </p:nvSpPr>
        <p:spPr>
          <a:xfrm>
            <a:off x="4617720" y="3154680"/>
            <a:ext cx="2880360" cy="1371600"/>
          </a:xfrm>
          <a:prstGeom prst="rect">
            <a:avLst/>
          </a:prstGeom>
          <a:noFill/>
          <a:ln/>
        </p:spPr>
        <p:txBody>
          <a:bodyPr wrap="square" lIns="0" tIns="0" rIns="0" bIns="0" rtlCol="0" anchor="t"/>
          <a:lstStyle/>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Hindi respelled in Ol Chiki.</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Readable aloud, but it is not</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the language. Always labelled</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as such, never as translation.</a:t>
            </a:r>
            <a:endParaRPr lang="en-US" sz="1200" dirty="0"/>
          </a:p>
        </p:txBody>
      </p:sp>
      <p:sp>
        <p:nvSpPr>
          <p:cNvPr id="13" name="Shape 11"/>
          <p:cNvSpPr/>
          <p:nvPr/>
        </p:nvSpPr>
        <p:spPr>
          <a:xfrm>
            <a:off x="8046720" y="2514600"/>
            <a:ext cx="3429000" cy="2148840"/>
          </a:xfrm>
          <a:prstGeom prst="roundRect">
            <a:avLst>
              <a:gd name="adj" fmla="val 3404"/>
            </a:avLst>
          </a:prstGeom>
          <a:solidFill>
            <a:srgbClr val="2D6A4F"/>
          </a:solidFill>
          <a:ln w="15875">
            <a:solidFill>
              <a:srgbClr val="E07A5F"/>
            </a:solidFill>
            <a:prstDash val="solid"/>
          </a:ln>
        </p:spPr>
      </p:sp>
      <p:sp>
        <p:nvSpPr>
          <p:cNvPr id="14" name="Shape 12"/>
          <p:cNvSpPr/>
          <p:nvPr/>
        </p:nvSpPr>
        <p:spPr>
          <a:xfrm>
            <a:off x="8321040" y="2761488"/>
            <a:ext cx="237744" cy="237744"/>
          </a:xfrm>
          <a:prstGeom prst="ellipse">
            <a:avLst/>
          </a:prstGeom>
          <a:solidFill>
            <a:srgbClr val="E07A5F"/>
          </a:solidFill>
          <a:ln/>
        </p:spPr>
      </p:sp>
      <p:sp>
        <p:nvSpPr>
          <p:cNvPr id="15" name="Text 13"/>
          <p:cNvSpPr/>
          <p:nvPr/>
        </p:nvSpPr>
        <p:spPr>
          <a:xfrm>
            <a:off x="8668512" y="2724912"/>
            <a:ext cx="2651760" cy="274320"/>
          </a:xfrm>
          <a:prstGeom prst="rect">
            <a:avLst/>
          </a:prstGeom>
          <a:noFill/>
          <a:ln/>
        </p:spPr>
        <p:txBody>
          <a:bodyPr wrap="square" lIns="0" tIns="0" rIns="0" bIns="0" rtlCol="0" anchor="ctr"/>
          <a:lstStyle/>
          <a:p>
            <a:pPr indent="0" marL="0">
              <a:buNone/>
            </a:pPr>
            <a:r>
              <a:rPr lang="en-US" sz="1150" b="1" spc="120" kern="0" dirty="0">
                <a:solidFill>
                  <a:srgbClr val="E07A5F"/>
                </a:solidFill>
                <a:latin typeface="Calibri" pitchFamily="34" charset="0"/>
                <a:ea typeface="Calibri" pitchFamily="34" charset="-122"/>
                <a:cs typeface="Calibri" pitchFamily="34" charset="-120"/>
              </a:rPr>
              <a:t>UNAVAILABLE</a:t>
            </a:r>
            <a:endParaRPr lang="en-US" sz="1150" dirty="0"/>
          </a:p>
        </p:txBody>
      </p:sp>
      <p:sp>
        <p:nvSpPr>
          <p:cNvPr id="16" name="Text 14"/>
          <p:cNvSpPr/>
          <p:nvPr/>
        </p:nvSpPr>
        <p:spPr>
          <a:xfrm>
            <a:off x="8321040" y="3154680"/>
            <a:ext cx="2880360" cy="1371600"/>
          </a:xfrm>
          <a:prstGeom prst="rect">
            <a:avLst/>
          </a:prstGeom>
          <a:noFill/>
          <a:ln/>
        </p:spPr>
        <p:txBody>
          <a:bodyPr wrap="square" lIns="0" tIns="0" rIns="0" bIns="0" rtlCol="0" anchor="t"/>
          <a:lstStyle/>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Nothing verified for this input.</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The app says so and shows</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nothing, rather than offering</a:t>
            </a:r>
            <a:endParaRPr lang="en-US" sz="1200" dirty="0"/>
          </a:p>
          <a:p>
            <a:pPr indent="0" marL="0">
              <a:lnSpc>
                <a:spcPts val="1700"/>
              </a:lnSpc>
              <a:buNone/>
            </a:pPr>
            <a:r>
              <a:rPr lang="en-US" sz="1200" dirty="0">
                <a:solidFill>
                  <a:srgbClr val="D9E6DE"/>
                </a:solidFill>
                <a:latin typeface="Calibri" pitchFamily="34" charset="0"/>
                <a:ea typeface="Calibri" pitchFamily="34" charset="-122"/>
                <a:cs typeface="Calibri" pitchFamily="34" charset="-120"/>
              </a:rPr>
              <a:t>a plausible guess.</a:t>
            </a:r>
            <a:endParaRPr lang="en-US" sz="1200" dirty="0"/>
          </a:p>
        </p:txBody>
      </p:sp>
      <p:sp>
        <p:nvSpPr>
          <p:cNvPr id="17" name="Text 15"/>
          <p:cNvSpPr/>
          <p:nvPr/>
        </p:nvSpPr>
        <p:spPr>
          <a:xfrm>
            <a:off x="640080" y="4983480"/>
            <a:ext cx="10881360" cy="731520"/>
          </a:xfrm>
          <a:prstGeom prst="rect">
            <a:avLst/>
          </a:prstGeom>
          <a:noFill/>
          <a:ln/>
        </p:spPr>
        <p:txBody>
          <a:bodyPr wrap="square" lIns="0" tIns="0" rIns="0" bIns="0" rtlCol="0" anchor="ctr"/>
          <a:lstStyle/>
          <a:p>
            <a:pPr indent="0" marL="0">
              <a:lnSpc>
                <a:spcPts val="2000"/>
              </a:lnSpc>
              <a:buNone/>
            </a:pPr>
            <a:r>
              <a:rPr lang="en-US" sz="1350" i="1" dirty="0">
                <a:solidFill>
                  <a:srgbClr val="E9A03B"/>
                </a:solidFill>
                <a:latin typeface="Calibri" pitchFamily="34" charset="0"/>
                <a:ea typeface="Calibri" pitchFamily="34" charset="-122"/>
                <a:cs typeface="Calibri" pitchFamily="34" charset="-120"/>
              </a:rPr>
              <a:t>This is not caution for its own sake. Output that looks plausible and is wrong is the single failure mode that would discredit the whole project in a Jharkhand classroom, and it is invisible to everyone in the room except the children.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AGAINST THE PROBLEM STATEMENT</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The four things it asks us to deliver</a:t>
            </a:r>
            <a:endParaRPr lang="en-US" sz="3400" dirty="0"/>
          </a:p>
        </p:txBody>
      </p:sp>
      <p:sp>
        <p:nvSpPr>
          <p:cNvPr id="4" name="Shape 2"/>
          <p:cNvSpPr/>
          <p:nvPr/>
        </p:nvSpPr>
        <p:spPr>
          <a:xfrm>
            <a:off x="640080" y="1691640"/>
            <a:ext cx="10881360" cy="914400"/>
          </a:xfrm>
          <a:prstGeom prst="roundRect">
            <a:avLst>
              <a:gd name="adj" fmla="val 6000"/>
            </a:avLst>
          </a:prstGeom>
          <a:solidFill>
            <a:srgbClr val="FFFFFF"/>
          </a:solidFill>
          <a:ln w="9525">
            <a:solidFill>
              <a:srgbClr val="DCDCDC"/>
            </a:solidFill>
            <a:prstDash val="solid"/>
          </a:ln>
        </p:spPr>
      </p:sp>
      <p:sp>
        <p:nvSpPr>
          <p:cNvPr id="5" name="Shape 3"/>
          <p:cNvSpPr/>
          <p:nvPr/>
        </p:nvSpPr>
        <p:spPr>
          <a:xfrm>
            <a:off x="896112" y="1947672"/>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6" name="Text 4"/>
          <p:cNvSpPr/>
          <p:nvPr/>
        </p:nvSpPr>
        <p:spPr>
          <a:xfrm>
            <a:off x="896112" y="1947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463040" y="1837944"/>
            <a:ext cx="3017520" cy="640080"/>
          </a:xfrm>
          <a:prstGeom prst="rect">
            <a:avLst/>
          </a:prstGeom>
          <a:noFill/>
          <a:ln/>
        </p:spPr>
        <p:txBody>
          <a:bodyPr wrap="square" lIns="0" tIns="0" rIns="0" bIns="0" rtlCol="0" anchor="ctr"/>
          <a:lstStyle/>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Hindi to tribal language,</a:t>
            </a:r>
            <a:endParaRPr lang="en-US" sz="1350" dirty="0"/>
          </a:p>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minimum one language</a:t>
            </a:r>
            <a:endParaRPr lang="en-US" sz="1350" dirty="0"/>
          </a:p>
        </p:txBody>
      </p:sp>
      <p:sp>
        <p:nvSpPr>
          <p:cNvPr id="8" name="Text 6"/>
          <p:cNvSpPr/>
          <p:nvPr/>
        </p:nvSpPr>
        <p:spPr>
          <a:xfrm>
            <a:off x="4663440" y="1874520"/>
            <a:ext cx="6675120" cy="594360"/>
          </a:xfrm>
          <a:prstGeom prst="rect">
            <a:avLst/>
          </a:prstGeom>
          <a:noFill/>
          <a:ln/>
        </p:spPr>
        <p:txBody>
          <a:bodyPr wrap="square" lIns="0" tIns="0" rIns="0" bIns="0" rtlCol="0" anchor="t"/>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Santali in Ol Chiki, 53 lines, with synthesised audio labelled unchecked. 16 more languages in the same format. Ho and Mundari have no model anywhere yet.</a:t>
            </a:r>
            <a:endParaRPr lang="en-US" sz="1250" dirty="0"/>
          </a:p>
        </p:txBody>
      </p:sp>
      <p:sp>
        <p:nvSpPr>
          <p:cNvPr id="9" name="Shape 7"/>
          <p:cNvSpPr/>
          <p:nvPr/>
        </p:nvSpPr>
        <p:spPr>
          <a:xfrm>
            <a:off x="640080" y="2715768"/>
            <a:ext cx="10881360" cy="914400"/>
          </a:xfrm>
          <a:prstGeom prst="roundRect">
            <a:avLst>
              <a:gd name="adj" fmla="val 6000"/>
            </a:avLst>
          </a:prstGeom>
          <a:solidFill>
            <a:srgbClr val="F7F7F5"/>
          </a:solidFill>
          <a:ln w="9525">
            <a:solidFill>
              <a:srgbClr val="DCDCDC"/>
            </a:solidFill>
            <a:prstDash val="solid"/>
          </a:ln>
        </p:spPr>
      </p:sp>
      <p:sp>
        <p:nvSpPr>
          <p:cNvPr id="10" name="Shape 8"/>
          <p:cNvSpPr/>
          <p:nvPr/>
        </p:nvSpPr>
        <p:spPr>
          <a:xfrm>
            <a:off x="896112" y="2971800"/>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1" name="Text 9"/>
          <p:cNvSpPr/>
          <p:nvPr/>
        </p:nvSpPr>
        <p:spPr>
          <a:xfrm>
            <a:off x="896112" y="2971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p:nvPr/>
        </p:nvSpPr>
        <p:spPr>
          <a:xfrm>
            <a:off x="1463040" y="2862072"/>
            <a:ext cx="3017520" cy="640080"/>
          </a:xfrm>
          <a:prstGeom prst="rect">
            <a:avLst/>
          </a:prstGeom>
          <a:noFill/>
          <a:ln/>
        </p:spPr>
        <p:txBody>
          <a:bodyPr wrap="square" lIns="0" tIns="0" rIns="0" bIns="0" rtlCol="0" anchor="ctr"/>
          <a:lstStyle/>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Real-time voice translation,</a:t>
            </a:r>
            <a:endParaRPr lang="en-US" sz="1350" dirty="0"/>
          </a:p>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under three seconds</a:t>
            </a:r>
            <a:endParaRPr lang="en-US" sz="1350" dirty="0"/>
          </a:p>
        </p:txBody>
      </p:sp>
      <p:sp>
        <p:nvSpPr>
          <p:cNvPr id="13" name="Text 11"/>
          <p:cNvSpPr/>
          <p:nvPr/>
        </p:nvSpPr>
        <p:spPr>
          <a:xfrm>
            <a:off x="4663440" y="2898648"/>
            <a:ext cx="6675120" cy="594360"/>
          </a:xfrm>
          <a:prstGeom prst="rect">
            <a:avLst/>
          </a:prstGeom>
          <a:noFill/>
          <a:ln/>
        </p:spPr>
        <p:txBody>
          <a:bodyPr wrap="square" lIns="0" tIns="0" rIns="0" bIns="0" rtlCol="0" anchor="t"/>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Measured median 98 ms from speech result to first sound, network off, over seven phrases. Recognition time not included.</a:t>
            </a:r>
            <a:endParaRPr lang="en-US" sz="1250" dirty="0"/>
          </a:p>
        </p:txBody>
      </p:sp>
      <p:sp>
        <p:nvSpPr>
          <p:cNvPr id="14" name="Shape 12"/>
          <p:cNvSpPr/>
          <p:nvPr/>
        </p:nvSpPr>
        <p:spPr>
          <a:xfrm>
            <a:off x="640080" y="3739896"/>
            <a:ext cx="10881360" cy="914400"/>
          </a:xfrm>
          <a:prstGeom prst="roundRect">
            <a:avLst>
              <a:gd name="adj" fmla="val 6000"/>
            </a:avLst>
          </a:prstGeom>
          <a:solidFill>
            <a:srgbClr val="FFFFFF"/>
          </a:solidFill>
          <a:ln w="9525">
            <a:solidFill>
              <a:srgbClr val="DCDCDC"/>
            </a:solidFill>
            <a:prstDash val="solid"/>
          </a:ln>
        </p:spPr>
      </p:sp>
      <p:sp>
        <p:nvSpPr>
          <p:cNvPr id="15" name="Shape 13"/>
          <p:cNvSpPr/>
          <p:nvPr/>
        </p:nvSpPr>
        <p:spPr>
          <a:xfrm>
            <a:off x="896112" y="3995928"/>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16" name="Text 14"/>
          <p:cNvSpPr/>
          <p:nvPr/>
        </p:nvSpPr>
        <p:spPr>
          <a:xfrm>
            <a:off x="896112" y="3995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p:nvPr/>
        </p:nvSpPr>
        <p:spPr>
          <a:xfrm>
            <a:off x="1463040" y="3886200"/>
            <a:ext cx="3017520" cy="640080"/>
          </a:xfrm>
          <a:prstGeom prst="rect">
            <a:avLst/>
          </a:prstGeom>
          <a:noFill/>
          <a:ln/>
        </p:spPr>
        <p:txBody>
          <a:bodyPr wrap="square" lIns="0" tIns="0" rIns="0" bIns="0" rtlCol="0" anchor="ctr"/>
          <a:lstStyle/>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Auto-generated bilingual</a:t>
            </a:r>
            <a:endParaRPr lang="en-US" sz="1350" dirty="0"/>
          </a:p>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worksheet output</a:t>
            </a:r>
            <a:endParaRPr lang="en-US" sz="1350" dirty="0"/>
          </a:p>
        </p:txBody>
      </p:sp>
      <p:sp>
        <p:nvSpPr>
          <p:cNvPr id="18" name="Text 16"/>
          <p:cNvSpPr/>
          <p:nvPr/>
        </p:nvSpPr>
        <p:spPr>
          <a:xfrm>
            <a:off x="4663440" y="3922776"/>
            <a:ext cx="6675120" cy="594360"/>
          </a:xfrm>
          <a:prstGeom prst="rect">
            <a:avLst/>
          </a:prstGeom>
          <a:noFill/>
          <a:ln/>
        </p:spPr>
        <p:txBody>
          <a:bodyPr wrap="square" lIns="0" tIns="0" rIns="0" bIns="0" rtlCol="0" anchor="t"/>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A4 worksheets and flashcards from the same pack: Hindi line, target line, NIPUN Bharat outcome code on every item.</a:t>
            </a:r>
            <a:endParaRPr lang="en-US" sz="1250" dirty="0"/>
          </a:p>
        </p:txBody>
      </p:sp>
      <p:sp>
        <p:nvSpPr>
          <p:cNvPr id="19" name="Shape 17"/>
          <p:cNvSpPr/>
          <p:nvPr/>
        </p:nvSpPr>
        <p:spPr>
          <a:xfrm>
            <a:off x="640080" y="4764024"/>
            <a:ext cx="10881360" cy="914400"/>
          </a:xfrm>
          <a:prstGeom prst="roundRect">
            <a:avLst>
              <a:gd name="adj" fmla="val 6000"/>
            </a:avLst>
          </a:prstGeom>
          <a:solidFill>
            <a:srgbClr val="F7F7F5"/>
          </a:solidFill>
          <a:ln w="9525">
            <a:solidFill>
              <a:srgbClr val="DCDCDC"/>
            </a:solidFill>
            <a:prstDash val="solid"/>
          </a:ln>
        </p:spPr>
      </p:sp>
      <p:sp>
        <p:nvSpPr>
          <p:cNvPr id="20" name="Shape 18"/>
          <p:cNvSpPr/>
          <p:nvPr/>
        </p:nvSpPr>
        <p:spPr>
          <a:xfrm>
            <a:off x="896112" y="5020056"/>
            <a:ext cx="402336" cy="402336"/>
          </a:xfrm>
          <a:prstGeom prst="ellipse">
            <a:avLst/>
          </a:prstGeom>
          <a:solidFill>
            <a:srgbClr val="1B4332"/>
          </a:solidFill>
          <a:ln/>
          <a:effectLst>
            <a:outerShdw sx="100000" sy="100000" kx="0" ky="0" algn="bl" rotWithShape="0" blurRad="152400" dist="38100" dir="5400000">
              <a:srgbClr val="000000">
                <a:alpha val="12000"/>
              </a:srgbClr>
            </a:outerShdw>
          </a:effectLst>
        </p:spPr>
      </p:sp>
      <p:sp>
        <p:nvSpPr>
          <p:cNvPr id="21" name="Text 19"/>
          <p:cNvSpPr/>
          <p:nvPr/>
        </p:nvSpPr>
        <p:spPr>
          <a:xfrm>
            <a:off x="896112" y="502005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p:nvPr/>
        </p:nvSpPr>
        <p:spPr>
          <a:xfrm>
            <a:off x="1463040" y="4910328"/>
            <a:ext cx="3017520" cy="640080"/>
          </a:xfrm>
          <a:prstGeom prst="rect">
            <a:avLst/>
          </a:prstGeom>
          <a:noFill/>
          <a:ln/>
        </p:spPr>
        <p:txBody>
          <a:bodyPr wrap="square" lIns="0" tIns="0" rIns="0" bIns="0" rtlCol="0" anchor="ctr"/>
          <a:lstStyle/>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Full offline operation on a</a:t>
            </a:r>
            <a:endParaRPr lang="en-US" sz="1350" dirty="0"/>
          </a:p>
          <a:p>
            <a:pPr indent="0" marL="0">
              <a:lnSpc>
                <a:spcPts val="1700"/>
              </a:lnSpc>
              <a:buNone/>
            </a:pPr>
            <a:r>
              <a:rPr lang="en-US" sz="1350" b="1" dirty="0">
                <a:solidFill>
                  <a:srgbClr val="1C1C1C"/>
                </a:solidFill>
                <a:latin typeface="Cambria" pitchFamily="34" charset="0"/>
                <a:ea typeface="Cambria" pitchFamily="34" charset="-122"/>
                <a:cs typeface="Cambria" pitchFamily="34" charset="-120"/>
              </a:rPr>
              <a:t>low-end Android tablet</a:t>
            </a:r>
            <a:endParaRPr lang="en-US" sz="1350" dirty="0"/>
          </a:p>
        </p:txBody>
      </p:sp>
      <p:sp>
        <p:nvSpPr>
          <p:cNvPr id="23" name="Text 21"/>
          <p:cNvSpPr/>
          <p:nvPr/>
        </p:nvSpPr>
        <p:spPr>
          <a:xfrm>
            <a:off x="4663440" y="4946904"/>
            <a:ext cx="6675120" cy="594360"/>
          </a:xfrm>
          <a:prstGeom prst="rect">
            <a:avLst/>
          </a:prstGeom>
          <a:noFill/>
          <a:ln/>
        </p:spPr>
        <p:txBody>
          <a:bodyPr wrap="square" lIns="0" tIns="0" rIns="0" bIns="0" rtlCol="0" anchor="t"/>
          <a:lstStyle/>
          <a:p>
            <a:pPr indent="0" marL="0">
              <a:lnSpc>
                <a:spcPts val="1700"/>
              </a:lnSpc>
              <a:buNone/>
            </a:pPr>
            <a:r>
              <a:rPr lang="en-US" sz="1250" dirty="0">
                <a:solidFill>
                  <a:srgbClr val="6B6B6B"/>
                </a:solidFill>
                <a:latin typeface="Calibri" pitchFamily="34" charset="0"/>
                <a:ea typeface="Calibri" pitchFamily="34" charset="-122"/>
                <a:cs typeface="Calibri" pitchFamily="34" charset="-120"/>
              </a:rPr>
              <a:t>minSdk 28. On a 2 GB Android 9 emulator: 43 to 45 MB peak memory, zero network calls, tested with the network off.</a:t>
            </a:r>
            <a:endParaRPr lang="en-US" sz="1250" dirty="0"/>
          </a:p>
        </p:txBody>
      </p:sp>
      <p:sp>
        <p:nvSpPr>
          <p:cNvPr id="24" name="Text 22"/>
          <p:cNvSpPr/>
          <p:nvPr/>
        </p:nvSpPr>
        <p:spPr>
          <a:xfrm>
            <a:off x="640080" y="5943600"/>
            <a:ext cx="10881360" cy="365760"/>
          </a:xfrm>
          <a:prstGeom prst="rect">
            <a:avLst/>
          </a:prstGeom>
          <a:noFill/>
          <a:ln/>
        </p:spPr>
        <p:txBody>
          <a:bodyPr wrap="square" lIns="0" tIns="0" rIns="0" bIns="0" rtlCol="0" anchor="ctr"/>
          <a:lstStyle/>
          <a:p>
            <a:pPr indent="0" marL="0">
              <a:buNone/>
            </a:pPr>
            <a:r>
              <a:rPr lang="en-US" sz="1200" i="1" dirty="0">
                <a:solidFill>
                  <a:srgbClr val="6B6B6B"/>
                </a:solidFill>
                <a:latin typeface="Calibri" pitchFamily="34" charset="0"/>
                <a:ea typeface="Calibri" pitchFamily="34" charset="-122"/>
                <a:cs typeface="Calibri" pitchFamily="34" charset="-120"/>
              </a:rPr>
              <a:t>Also required at submission: a demo video and a public GitHub repository. Both are planned into the build schedule.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11480"/>
            <a:ext cx="10881360" cy="274320"/>
          </a:xfrm>
          <a:prstGeom prst="rect">
            <a:avLst/>
          </a:prstGeom>
          <a:noFill/>
          <a:ln/>
        </p:spPr>
        <p:txBody>
          <a:bodyPr wrap="square" lIns="0" tIns="0" rIns="0" bIns="0" rtlCol="0" anchor="ctr"/>
          <a:lstStyle/>
          <a:p>
            <a:pPr indent="0" marL="0">
              <a:buNone/>
            </a:pPr>
            <a:r>
              <a:rPr lang="en-US" sz="1200" b="1" spc="200" kern="0" dirty="0">
                <a:solidFill>
                  <a:srgbClr val="B85042"/>
                </a:solidFill>
                <a:latin typeface="Calibri" pitchFamily="34" charset="0"/>
                <a:ea typeface="Calibri" pitchFamily="34" charset="-122"/>
                <a:cs typeface="Calibri" pitchFamily="34" charset="-120"/>
              </a:rPr>
              <a:t>TECHNICAL STACK</a:t>
            </a:r>
            <a:endParaRPr lang="en-US" sz="12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400" b="1" dirty="0">
                <a:solidFill>
                  <a:srgbClr val="1C1C1C"/>
                </a:solidFill>
                <a:latin typeface="Cambria" pitchFamily="34" charset="0"/>
                <a:ea typeface="Cambria" pitchFamily="34" charset="-122"/>
                <a:cs typeface="Cambria" pitchFamily="34" charset="-120"/>
              </a:rPr>
              <a:t>Deliberately small</a:t>
            </a:r>
            <a:endParaRPr lang="en-US" sz="3400" dirty="0"/>
          </a:p>
        </p:txBody>
      </p:sp>
      <p:sp>
        <p:nvSpPr>
          <p:cNvPr id="4" name="Shape 2"/>
          <p:cNvSpPr/>
          <p:nvPr/>
        </p:nvSpPr>
        <p:spPr>
          <a:xfrm>
            <a:off x="640080" y="1783080"/>
            <a:ext cx="3429000" cy="2788920"/>
          </a:xfrm>
          <a:prstGeom prst="roundRect">
            <a:avLst>
              <a:gd name="adj" fmla="val 2623"/>
            </a:avLst>
          </a:prstGeom>
          <a:solidFill>
            <a:srgbClr val="F7F7F5"/>
          </a:solidFill>
          <a:ln w="9525">
            <a:solidFill>
              <a:srgbClr val="DCDCDC"/>
            </a:solidFill>
            <a:prstDash val="solid"/>
          </a:ln>
        </p:spPr>
      </p:sp>
      <p:sp>
        <p:nvSpPr>
          <p:cNvPr id="5" name="Shape 3"/>
          <p:cNvSpPr/>
          <p:nvPr/>
        </p:nvSpPr>
        <p:spPr>
          <a:xfrm>
            <a:off x="914400" y="2057400"/>
            <a:ext cx="274320" cy="274320"/>
          </a:xfrm>
          <a:prstGeom prst="ellipse">
            <a:avLst/>
          </a:prstGeom>
          <a:solidFill>
            <a:srgbClr val="1B4332"/>
          </a:solidFill>
          <a:ln/>
        </p:spPr>
      </p:sp>
      <p:sp>
        <p:nvSpPr>
          <p:cNvPr id="6" name="Text 4"/>
          <p:cNvSpPr/>
          <p:nvPr/>
        </p:nvSpPr>
        <p:spPr>
          <a:xfrm>
            <a:off x="1298448" y="2002536"/>
            <a:ext cx="2606040" cy="384048"/>
          </a:xfrm>
          <a:prstGeom prst="rect">
            <a:avLst/>
          </a:prstGeom>
          <a:noFill/>
          <a:ln/>
        </p:spPr>
        <p:txBody>
          <a:bodyPr wrap="square" lIns="0" tIns="0" rIns="0" bIns="0" rtlCol="0" anchor="ctr"/>
          <a:lstStyle/>
          <a:p>
            <a:pPr indent="0" marL="0">
              <a:buNone/>
            </a:pPr>
            <a:r>
              <a:rPr lang="en-US" sz="1450" b="1" dirty="0">
                <a:solidFill>
                  <a:srgbClr val="1C1C1C"/>
                </a:solidFill>
                <a:latin typeface="Cambria" pitchFamily="34" charset="0"/>
                <a:ea typeface="Cambria" pitchFamily="34" charset="-122"/>
                <a:cs typeface="Cambria" pitchFamily="34" charset="-120"/>
              </a:rPr>
              <a:t>Models</a:t>
            </a:r>
            <a:endParaRPr lang="en-US" sz="1450" dirty="0"/>
          </a:p>
        </p:txBody>
      </p:sp>
      <p:sp>
        <p:nvSpPr>
          <p:cNvPr id="7" name="Text 5"/>
          <p:cNvSpPr/>
          <p:nvPr/>
        </p:nvSpPr>
        <p:spPr>
          <a:xfrm>
            <a:off x="932688" y="2487168"/>
            <a:ext cx="2880360" cy="19659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AI4Bharat IndicTrans2 1B, run locally</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Bhashini Indic-TTS for five languages</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Indic Parler-TTS for Santali, run locally</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Bhashini live translation when online</a:t>
            </a:r>
            <a:endParaRPr lang="en-US" sz="1150" dirty="0"/>
          </a:p>
        </p:txBody>
      </p:sp>
      <p:sp>
        <p:nvSpPr>
          <p:cNvPr id="8" name="Shape 6"/>
          <p:cNvSpPr/>
          <p:nvPr/>
        </p:nvSpPr>
        <p:spPr>
          <a:xfrm>
            <a:off x="4343400" y="1783080"/>
            <a:ext cx="3429000" cy="2788920"/>
          </a:xfrm>
          <a:prstGeom prst="roundRect">
            <a:avLst>
              <a:gd name="adj" fmla="val 2623"/>
            </a:avLst>
          </a:prstGeom>
          <a:solidFill>
            <a:srgbClr val="F7F7F5"/>
          </a:solidFill>
          <a:ln w="9525">
            <a:solidFill>
              <a:srgbClr val="DCDCDC"/>
            </a:solidFill>
            <a:prstDash val="solid"/>
          </a:ln>
        </p:spPr>
      </p:sp>
      <p:sp>
        <p:nvSpPr>
          <p:cNvPr id="9" name="Shape 7"/>
          <p:cNvSpPr/>
          <p:nvPr/>
        </p:nvSpPr>
        <p:spPr>
          <a:xfrm>
            <a:off x="4617720" y="2057400"/>
            <a:ext cx="274320" cy="274320"/>
          </a:xfrm>
          <a:prstGeom prst="ellipse">
            <a:avLst/>
          </a:prstGeom>
          <a:solidFill>
            <a:srgbClr val="B85042"/>
          </a:solidFill>
          <a:ln/>
        </p:spPr>
      </p:sp>
      <p:sp>
        <p:nvSpPr>
          <p:cNvPr id="10" name="Text 8"/>
          <p:cNvSpPr/>
          <p:nvPr/>
        </p:nvSpPr>
        <p:spPr>
          <a:xfrm>
            <a:off x="5001768" y="2002536"/>
            <a:ext cx="2606040" cy="384048"/>
          </a:xfrm>
          <a:prstGeom prst="rect">
            <a:avLst/>
          </a:prstGeom>
          <a:noFill/>
          <a:ln/>
        </p:spPr>
        <p:txBody>
          <a:bodyPr wrap="square" lIns="0" tIns="0" rIns="0" bIns="0" rtlCol="0" anchor="ctr"/>
          <a:lstStyle/>
          <a:p>
            <a:pPr indent="0" marL="0">
              <a:buNone/>
            </a:pPr>
            <a:r>
              <a:rPr lang="en-US" sz="1450" b="1" dirty="0">
                <a:solidFill>
                  <a:srgbClr val="1C1C1C"/>
                </a:solidFill>
                <a:latin typeface="Cambria" pitchFamily="34" charset="0"/>
                <a:ea typeface="Cambria" pitchFamily="34" charset="-122"/>
                <a:cs typeface="Cambria" pitchFamily="34" charset="-120"/>
              </a:rPr>
              <a:t>Android application</a:t>
            </a:r>
            <a:endParaRPr lang="en-US" sz="1450" dirty="0"/>
          </a:p>
        </p:txBody>
      </p:sp>
      <p:sp>
        <p:nvSpPr>
          <p:cNvPr id="11" name="Text 9"/>
          <p:cNvSpPr/>
          <p:nvPr/>
        </p:nvSpPr>
        <p:spPr>
          <a:xfrm>
            <a:off x="4636008" y="2487168"/>
            <a:ext cx="2880360" cy="19659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Kotlin, minSdk 28, targets 2 GB tablets</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Android SpeechRecognizer, hi-IN, offline</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PdfDocument for the bilingual worksheet</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Noto Sans Ol Chiki and Devanagari bundled</a:t>
            </a:r>
            <a:endParaRPr lang="en-US" sz="1150" dirty="0"/>
          </a:p>
        </p:txBody>
      </p:sp>
      <p:sp>
        <p:nvSpPr>
          <p:cNvPr id="12" name="Shape 10"/>
          <p:cNvSpPr/>
          <p:nvPr/>
        </p:nvSpPr>
        <p:spPr>
          <a:xfrm>
            <a:off x="8046720" y="1783080"/>
            <a:ext cx="3429000" cy="2788920"/>
          </a:xfrm>
          <a:prstGeom prst="roundRect">
            <a:avLst>
              <a:gd name="adj" fmla="val 2623"/>
            </a:avLst>
          </a:prstGeom>
          <a:solidFill>
            <a:srgbClr val="F7F7F5"/>
          </a:solidFill>
          <a:ln w="9525">
            <a:solidFill>
              <a:srgbClr val="DCDCDC"/>
            </a:solidFill>
            <a:prstDash val="solid"/>
          </a:ln>
        </p:spPr>
      </p:sp>
      <p:sp>
        <p:nvSpPr>
          <p:cNvPr id="13" name="Shape 11"/>
          <p:cNvSpPr/>
          <p:nvPr/>
        </p:nvSpPr>
        <p:spPr>
          <a:xfrm>
            <a:off x="8321040" y="2057400"/>
            <a:ext cx="274320" cy="274320"/>
          </a:xfrm>
          <a:prstGeom prst="ellipse">
            <a:avLst/>
          </a:prstGeom>
          <a:solidFill>
            <a:srgbClr val="E9A03B"/>
          </a:solidFill>
          <a:ln/>
        </p:spPr>
      </p:sp>
      <p:sp>
        <p:nvSpPr>
          <p:cNvPr id="14" name="Text 12"/>
          <p:cNvSpPr/>
          <p:nvPr/>
        </p:nvSpPr>
        <p:spPr>
          <a:xfrm>
            <a:off x="8705088" y="2002536"/>
            <a:ext cx="2606040" cy="384048"/>
          </a:xfrm>
          <a:prstGeom prst="rect">
            <a:avLst/>
          </a:prstGeom>
          <a:noFill/>
          <a:ln/>
        </p:spPr>
        <p:txBody>
          <a:bodyPr wrap="square" lIns="0" tIns="0" rIns="0" bIns="0" rtlCol="0" anchor="ctr"/>
          <a:lstStyle/>
          <a:p>
            <a:pPr indent="0" marL="0">
              <a:buNone/>
            </a:pPr>
            <a:r>
              <a:rPr lang="en-US" sz="1450" b="1" dirty="0">
                <a:solidFill>
                  <a:srgbClr val="1C1C1C"/>
                </a:solidFill>
                <a:latin typeface="Cambria" pitchFamily="34" charset="0"/>
                <a:ea typeface="Cambria" pitchFamily="34" charset="-122"/>
                <a:cs typeface="Cambria" pitchFamily="34" charset="-120"/>
              </a:rPr>
              <a:t>Content and assurance</a:t>
            </a:r>
            <a:endParaRPr lang="en-US" sz="1450" dirty="0"/>
          </a:p>
        </p:txBody>
      </p:sp>
      <p:sp>
        <p:nvSpPr>
          <p:cNvPr id="15" name="Text 13"/>
          <p:cNvSpPr/>
          <p:nvPr/>
        </p:nvSpPr>
        <p:spPr>
          <a:xfrm>
            <a:off x="8339328" y="2487168"/>
            <a:ext cx="2880360" cy="196596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NCERT Sarangi Class 2 Hindi, hand-checked</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NIPUN Bharat outcome codes on every item</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Node pack generator, resumable, provenance</a:t>
            </a:r>
            <a:endParaRPr lang="en-US" sz="1150" dirty="0"/>
          </a:p>
          <a:p>
            <a:pPr marL="342900" indent="-342900">
              <a:lnSpc>
                <a:spcPts val="1600"/>
              </a:lnSpc>
              <a:spcAft>
                <a:spcPts val="800"/>
              </a:spcAft>
              <a:buSzPct val="100000"/>
              <a:buChar char="•"/>
            </a:pPr>
            <a:r>
              <a:rPr lang="en-US" sz="1150" dirty="0">
                <a:solidFill>
                  <a:srgbClr val="6B6B6B"/>
                </a:solidFill>
                <a:latin typeface="Calibri" pitchFamily="34" charset="0"/>
                <a:ea typeface="Calibri" pitchFamily="34" charset="-122"/>
                <a:cs typeface="Calibri" pitchFamily="34" charset="-120"/>
              </a:rPr>
              <a:t>CI checks assets are real, not placeholders</a:t>
            </a:r>
            <a:endParaRPr lang="en-US" sz="1150" dirty="0"/>
          </a:p>
        </p:txBody>
      </p:sp>
      <p:sp>
        <p:nvSpPr>
          <p:cNvPr id="16" name="Text 14"/>
          <p:cNvSpPr/>
          <p:nvPr/>
        </p:nvSpPr>
        <p:spPr>
          <a:xfrm>
            <a:off x="640080" y="5120640"/>
            <a:ext cx="10881360" cy="822960"/>
          </a:xfrm>
          <a:prstGeom prst="rect">
            <a:avLst/>
          </a:prstGeom>
          <a:noFill/>
          <a:ln/>
        </p:spPr>
        <p:txBody>
          <a:bodyPr wrap="square" lIns="0" tIns="0" rIns="0" bIns="0" rtlCol="0" anchor="ctr"/>
          <a:lstStyle/>
          <a:p>
            <a:pPr indent="0" marL="0">
              <a:lnSpc>
                <a:spcPts val="1900"/>
              </a:lnSpc>
              <a:buNone/>
            </a:pPr>
            <a:r>
              <a:rPr lang="en-US" sz="1300" b="1" dirty="0">
                <a:solidFill>
                  <a:srgbClr val="B85042"/>
                </a:solidFill>
                <a:latin typeface="Calibri" pitchFamily="34" charset="0"/>
                <a:ea typeface="Calibri" pitchFamily="34" charset="-122"/>
                <a:cs typeface="Calibri" pitchFamily="34" charset="-120"/>
              </a:rPr>
              <a:t>What we are deliberately not building:  </a:t>
            </a:r>
            <a:pPr indent="0" marL="0">
              <a:lnSpc>
                <a:spcPts val="1900"/>
              </a:lnSpc>
              <a:buNone/>
            </a:pPr>
            <a:r>
              <a:rPr lang="en-US" sz="1300" dirty="0">
                <a:solidFill>
                  <a:srgbClr val="1C1C1C"/>
                </a:solidFill>
                <a:latin typeface="Calibri" pitchFamily="34" charset="0"/>
                <a:ea typeface="Calibri" pitchFamily="34" charset="-122"/>
                <a:cs typeface="Calibri" pitchFamily="34" charset="-120"/>
              </a:rPr>
              <a:t>on-device neural translation, vector search, OCR, mesh sync, a custom keyboard. Hindi and Santali are from different language families, so on-device character mapping cannot produce meaning, and the rest is scope that does not serve the four requirements.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4332"/>
        </a:solidFill>
      </p:bgPr>
    </p:bg>
    <p:spTree>
      <p:nvGrpSpPr>
        <p:cNvPr id="1" name=""/>
        <p:cNvGrpSpPr/>
        <p:nvPr/>
      </p:nvGrpSpPr>
      <p:grpSpPr>
        <a:xfrm>
          <a:off x="0" y="0"/>
          <a:ext cx="0" cy="0"/>
          <a:chOff x="0" y="0"/>
          <a:chExt cx="0" cy="0"/>
        </a:xfrm>
      </p:grpSpPr>
      <p:sp>
        <p:nvSpPr>
          <p:cNvPr id="2" name="Shape 0"/>
          <p:cNvSpPr/>
          <p:nvPr/>
        </p:nvSpPr>
        <p:spPr>
          <a:xfrm>
            <a:off x="-2194560" y="4663440"/>
            <a:ext cx="4023360" cy="4023360"/>
          </a:xfrm>
          <a:prstGeom prst="ellipse">
            <a:avLst/>
          </a:prstGeom>
          <a:solidFill>
            <a:srgbClr val="2D6A4F"/>
          </a:solidFill>
          <a:ln/>
        </p:spPr>
      </p:sp>
      <p:sp>
        <p:nvSpPr>
          <p:cNvPr id="3" name="Shape 1"/>
          <p:cNvSpPr/>
          <p:nvPr/>
        </p:nvSpPr>
        <p:spPr>
          <a:xfrm>
            <a:off x="10424160" y="-1005840"/>
            <a:ext cx="3108960" cy="3108960"/>
          </a:xfrm>
          <a:prstGeom prst="ellipse">
            <a:avLst/>
          </a:prstGeom>
          <a:solidFill>
            <a:srgbClr val="B85042"/>
          </a:solidFill>
          <a:ln/>
        </p:spPr>
      </p:sp>
      <p:sp>
        <p:nvSpPr>
          <p:cNvPr id="4" name="Text 2"/>
          <p:cNvSpPr/>
          <p:nvPr/>
        </p:nvSpPr>
        <p:spPr>
          <a:xfrm>
            <a:off x="822960" y="1143000"/>
            <a:ext cx="100584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 are asking for</a:t>
            </a:r>
            <a:endParaRPr lang="en-US" sz="3200" dirty="0"/>
          </a:p>
        </p:txBody>
      </p:sp>
      <p:sp>
        <p:nvSpPr>
          <p:cNvPr id="5" name="Text 3"/>
          <p:cNvSpPr/>
          <p:nvPr/>
        </p:nvSpPr>
        <p:spPr>
          <a:xfrm>
            <a:off x="822960" y="1828800"/>
            <a:ext cx="9692640" cy="731520"/>
          </a:xfrm>
          <a:prstGeom prst="rect">
            <a:avLst/>
          </a:prstGeom>
          <a:noFill/>
          <a:ln/>
        </p:spPr>
        <p:txBody>
          <a:bodyPr wrap="square" lIns="0" tIns="0" rIns="0" bIns="0" rtlCol="0" anchor="ctr"/>
          <a:lstStyle/>
          <a:p>
            <a:pPr indent="0" marL="0">
              <a:lnSpc>
                <a:spcPts val="2300"/>
              </a:lnSpc>
              <a:buNone/>
            </a:pPr>
            <a:r>
              <a:rPr lang="en-US" sz="1500" dirty="0">
                <a:solidFill>
                  <a:srgbClr val="CFE0D6"/>
                </a:solidFill>
                <a:latin typeface="Calibri" pitchFamily="34" charset="0"/>
                <a:ea typeface="Calibri" pitchFamily="34" charset="-122"/>
                <a:cs typeface="Calibri" pitchFamily="34" charset="-120"/>
              </a:rPr>
              <a:t>Bhashini access now runs live translation and speech for five languages. What is missing is people: a Santali speaker to review the pack, and a Santali voice to replace our synthesised one.</a:t>
            </a:r>
            <a:endParaRPr lang="en-US" sz="1500" dirty="0"/>
          </a:p>
        </p:txBody>
      </p:sp>
      <p:sp>
        <p:nvSpPr>
          <p:cNvPr id="6" name="Shape 4"/>
          <p:cNvSpPr/>
          <p:nvPr/>
        </p:nvSpPr>
        <p:spPr>
          <a:xfrm>
            <a:off x="822960" y="2834640"/>
            <a:ext cx="3291840" cy="1417320"/>
          </a:xfrm>
          <a:prstGeom prst="roundRect">
            <a:avLst>
              <a:gd name="adj" fmla="val 5161"/>
            </a:avLst>
          </a:prstGeom>
          <a:solidFill>
            <a:srgbClr val="2D6A4F"/>
          </a:solidFill>
          <a:ln w="12700">
            <a:solidFill>
              <a:srgbClr val="3F8768"/>
            </a:solidFill>
            <a:prstDash val="solid"/>
          </a:ln>
        </p:spPr>
      </p:sp>
      <p:sp>
        <p:nvSpPr>
          <p:cNvPr id="7" name="Text 5"/>
          <p:cNvSpPr/>
          <p:nvPr/>
        </p:nvSpPr>
        <p:spPr>
          <a:xfrm>
            <a:off x="1078992" y="3035808"/>
            <a:ext cx="2788920" cy="320040"/>
          </a:xfrm>
          <a:prstGeom prst="rect">
            <a:avLst/>
          </a:prstGeom>
          <a:noFill/>
          <a:ln/>
        </p:spPr>
        <p:txBody>
          <a:bodyPr wrap="square" lIns="0" tIns="0" rIns="0" bIns="0" rtlCol="0" anchor="ctr"/>
          <a:lstStyle/>
          <a:p>
            <a:pPr indent="0" marL="0">
              <a:buNone/>
            </a:pPr>
            <a:r>
              <a:rPr lang="en-US" sz="1500" b="1" dirty="0">
                <a:solidFill>
                  <a:srgbClr val="E9A03B"/>
                </a:solidFill>
                <a:latin typeface="Cambria" pitchFamily="34" charset="0"/>
                <a:ea typeface="Cambria" pitchFamily="34" charset="-122"/>
                <a:cs typeface="Cambria" pitchFamily="34" charset="-120"/>
              </a:rPr>
              <a:t>Santali first</a:t>
            </a:r>
            <a:endParaRPr lang="en-US" sz="1500" dirty="0"/>
          </a:p>
        </p:txBody>
      </p:sp>
      <p:sp>
        <p:nvSpPr>
          <p:cNvPr id="8" name="Text 6"/>
          <p:cNvSpPr/>
          <p:nvPr/>
        </p:nvSpPr>
        <p:spPr>
          <a:xfrm>
            <a:off x="1078992" y="3401568"/>
            <a:ext cx="2788920" cy="731520"/>
          </a:xfrm>
          <a:prstGeom prst="rect">
            <a:avLst/>
          </a:prstGeom>
          <a:noFill/>
          <a:ln/>
        </p:spPr>
        <p:txBody>
          <a:bodyPr wrap="square" lIns="0" tIns="0" rIns="0" bIns="0" rtlCol="0" anchor="t"/>
          <a:lstStyle/>
          <a:p>
            <a:pPr indent="0" marL="0">
              <a:lnSpc>
                <a:spcPts val="1600"/>
              </a:lnSpc>
              <a:buNone/>
            </a:pPr>
            <a:r>
              <a:rPr lang="en-US" sz="1150" dirty="0">
                <a:solidFill>
                  <a:srgbClr val="D9E6DE"/>
                </a:solidFill>
                <a:latin typeface="Calibri" pitchFamily="34" charset="0"/>
                <a:ea typeface="Calibri" pitchFamily="34" charset="-122"/>
                <a:cs typeface="Calibri" pitchFamily="34" charset="-120"/>
              </a:rPr>
              <a:t>Text, synthesised audio and a printed worksheet today. A speaker review turns it from machine output into checked content.</a:t>
            </a:r>
            <a:endParaRPr lang="en-US" sz="1150" dirty="0"/>
          </a:p>
        </p:txBody>
      </p:sp>
      <p:sp>
        <p:nvSpPr>
          <p:cNvPr id="9" name="Shape 7"/>
          <p:cNvSpPr/>
          <p:nvPr/>
        </p:nvSpPr>
        <p:spPr>
          <a:xfrm>
            <a:off x="4434840" y="2834640"/>
            <a:ext cx="3291840" cy="1417320"/>
          </a:xfrm>
          <a:prstGeom prst="roundRect">
            <a:avLst>
              <a:gd name="adj" fmla="val 5161"/>
            </a:avLst>
          </a:prstGeom>
          <a:solidFill>
            <a:srgbClr val="2D6A4F"/>
          </a:solidFill>
          <a:ln w="12700">
            <a:solidFill>
              <a:srgbClr val="3F8768"/>
            </a:solidFill>
            <a:prstDash val="solid"/>
          </a:ln>
        </p:spPr>
      </p:sp>
      <p:sp>
        <p:nvSpPr>
          <p:cNvPr id="10" name="Text 8"/>
          <p:cNvSpPr/>
          <p:nvPr/>
        </p:nvSpPr>
        <p:spPr>
          <a:xfrm>
            <a:off x="4690872" y="3035808"/>
            <a:ext cx="2788920" cy="320040"/>
          </a:xfrm>
          <a:prstGeom prst="rect">
            <a:avLst/>
          </a:prstGeom>
          <a:noFill/>
          <a:ln/>
        </p:spPr>
        <p:txBody>
          <a:bodyPr wrap="square" lIns="0" tIns="0" rIns="0" bIns="0" rtlCol="0" anchor="ctr"/>
          <a:lstStyle/>
          <a:p>
            <a:pPr indent="0" marL="0">
              <a:buNone/>
            </a:pPr>
            <a:r>
              <a:rPr lang="en-US" sz="1500" b="1" dirty="0">
                <a:solidFill>
                  <a:srgbClr val="E9A03B"/>
                </a:solidFill>
                <a:latin typeface="Cambria" pitchFamily="34" charset="0"/>
                <a:ea typeface="Cambria" pitchFamily="34" charset="-122"/>
                <a:cs typeface="Cambria" pitchFamily="34" charset="-120"/>
              </a:rPr>
              <a:t>Ho and Mundari next</a:t>
            </a:r>
            <a:endParaRPr lang="en-US" sz="1500" dirty="0"/>
          </a:p>
        </p:txBody>
      </p:sp>
      <p:sp>
        <p:nvSpPr>
          <p:cNvPr id="11" name="Text 9"/>
          <p:cNvSpPr/>
          <p:nvPr/>
        </p:nvSpPr>
        <p:spPr>
          <a:xfrm>
            <a:off x="4690872" y="3401568"/>
            <a:ext cx="2788920" cy="731520"/>
          </a:xfrm>
          <a:prstGeom prst="rect">
            <a:avLst/>
          </a:prstGeom>
          <a:noFill/>
          <a:ln/>
        </p:spPr>
        <p:txBody>
          <a:bodyPr wrap="square" lIns="0" tIns="0" rIns="0" bIns="0" rtlCol="0" anchor="t"/>
          <a:lstStyle/>
          <a:p>
            <a:pPr indent="0" marL="0">
              <a:lnSpc>
                <a:spcPts val="1600"/>
              </a:lnSpc>
              <a:buNone/>
            </a:pPr>
            <a:r>
              <a:rPr lang="en-US" sz="1150" dirty="0">
                <a:solidFill>
                  <a:srgbClr val="D9E6DE"/>
                </a:solidFill>
                <a:latin typeface="Calibri" pitchFamily="34" charset="0"/>
                <a:ea typeface="Calibri" pitchFamily="34" charset="-122"/>
                <a:cs typeface="Calibri" pitchFamily="34" charset="-120"/>
              </a:rPr>
              <a:t>No model exists for either yet. The app takes a new language the day one does.</a:t>
            </a:r>
            <a:endParaRPr lang="en-US" sz="1150" dirty="0"/>
          </a:p>
        </p:txBody>
      </p:sp>
      <p:sp>
        <p:nvSpPr>
          <p:cNvPr id="12" name="Shape 10"/>
          <p:cNvSpPr/>
          <p:nvPr/>
        </p:nvSpPr>
        <p:spPr>
          <a:xfrm>
            <a:off x="8046720" y="2834640"/>
            <a:ext cx="3291840" cy="1417320"/>
          </a:xfrm>
          <a:prstGeom prst="roundRect">
            <a:avLst>
              <a:gd name="adj" fmla="val 5161"/>
            </a:avLst>
          </a:prstGeom>
          <a:solidFill>
            <a:srgbClr val="2D6A4F"/>
          </a:solidFill>
          <a:ln w="12700">
            <a:solidFill>
              <a:srgbClr val="3F8768"/>
            </a:solidFill>
            <a:prstDash val="solid"/>
          </a:ln>
        </p:spPr>
      </p:sp>
      <p:sp>
        <p:nvSpPr>
          <p:cNvPr id="13" name="Text 11"/>
          <p:cNvSpPr/>
          <p:nvPr/>
        </p:nvSpPr>
        <p:spPr>
          <a:xfrm>
            <a:off x="8302752" y="3035808"/>
            <a:ext cx="2788920" cy="320040"/>
          </a:xfrm>
          <a:prstGeom prst="rect">
            <a:avLst/>
          </a:prstGeom>
          <a:noFill/>
          <a:ln/>
        </p:spPr>
        <p:txBody>
          <a:bodyPr wrap="square" lIns="0" tIns="0" rIns="0" bIns="0" rtlCol="0" anchor="ctr"/>
          <a:lstStyle/>
          <a:p>
            <a:pPr indent="0" marL="0">
              <a:buNone/>
            </a:pPr>
            <a:r>
              <a:rPr lang="en-US" sz="1500" b="1" dirty="0">
                <a:solidFill>
                  <a:srgbClr val="E9A03B"/>
                </a:solidFill>
                <a:latin typeface="Cambria" pitchFamily="34" charset="0"/>
                <a:ea typeface="Cambria" pitchFamily="34" charset="-122"/>
                <a:cs typeface="Cambria" pitchFamily="34" charset="-120"/>
              </a:rPr>
              <a:t>Beyond Jharkhand</a:t>
            </a:r>
            <a:endParaRPr lang="en-US" sz="1500" dirty="0"/>
          </a:p>
        </p:txBody>
      </p:sp>
      <p:sp>
        <p:nvSpPr>
          <p:cNvPr id="14" name="Text 12"/>
          <p:cNvSpPr/>
          <p:nvPr/>
        </p:nvSpPr>
        <p:spPr>
          <a:xfrm>
            <a:off x="8302752" y="3401568"/>
            <a:ext cx="2788920" cy="731520"/>
          </a:xfrm>
          <a:prstGeom prst="rect">
            <a:avLst/>
          </a:prstGeom>
          <a:noFill/>
          <a:ln/>
        </p:spPr>
        <p:txBody>
          <a:bodyPr wrap="square" lIns="0" tIns="0" rIns="0" bIns="0" rtlCol="0" anchor="t"/>
          <a:lstStyle/>
          <a:p>
            <a:pPr indent="0" marL="0">
              <a:lnSpc>
                <a:spcPts val="1600"/>
              </a:lnSpc>
              <a:buNone/>
            </a:pPr>
            <a:r>
              <a:rPr lang="en-US" sz="1150" dirty="0">
                <a:solidFill>
                  <a:srgbClr val="D9E6DE"/>
                </a:solidFill>
                <a:latin typeface="Calibri" pitchFamily="34" charset="0"/>
                <a:ea typeface="Calibri" pitchFamily="34" charset="-122"/>
                <a:cs typeface="Calibri" pitchFamily="34" charset="-120"/>
              </a:rPr>
              <a:t>17 languages already ship in the same pack format, same app.</a:t>
            </a:r>
            <a:endParaRPr lang="en-US" sz="1150" dirty="0"/>
          </a:p>
        </p:txBody>
      </p:sp>
      <p:sp>
        <p:nvSpPr>
          <p:cNvPr id="15" name="Shape 13"/>
          <p:cNvSpPr/>
          <p:nvPr/>
        </p:nvSpPr>
        <p:spPr>
          <a:xfrm>
            <a:off x="822960" y="4800600"/>
            <a:ext cx="2926080" cy="0"/>
          </a:xfrm>
          <a:prstGeom prst="line">
            <a:avLst/>
          </a:prstGeom>
          <a:noFill/>
          <a:ln w="25400">
            <a:solidFill>
              <a:srgbClr val="E9A03B"/>
            </a:solidFill>
            <a:prstDash val="solid"/>
          </a:ln>
        </p:spPr>
      </p:sp>
      <p:sp>
        <p:nvSpPr>
          <p:cNvPr id="16" name="Text 14"/>
          <p:cNvSpPr/>
          <p:nvPr/>
        </p:nvSpPr>
        <p:spPr>
          <a:xfrm>
            <a:off x="822960" y="5029200"/>
            <a:ext cx="640080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Ol Saathi  ·  ओल साथी</a:t>
            </a:r>
            <a:endParaRPr lang="en-US" sz="2200" dirty="0"/>
          </a:p>
        </p:txBody>
      </p:sp>
      <p:sp>
        <p:nvSpPr>
          <p:cNvPr id="17" name="Text 15"/>
          <p:cNvSpPr/>
          <p:nvPr/>
        </p:nvSpPr>
        <p:spPr>
          <a:xfrm>
            <a:off x="822960" y="5486400"/>
            <a:ext cx="10058400" cy="320040"/>
          </a:xfrm>
          <a:prstGeom prst="rect">
            <a:avLst/>
          </a:prstGeom>
          <a:noFill/>
          <a:ln/>
        </p:spPr>
        <p:txBody>
          <a:bodyPr wrap="square" lIns="0" tIns="0" rIns="0" bIns="0" rtlCol="0" anchor="ctr"/>
          <a:lstStyle/>
          <a:p>
            <a:pPr indent="0" marL="0">
              <a:buNone/>
            </a:pPr>
            <a:r>
              <a:rPr lang="en-US" sz="1300" dirty="0">
                <a:solidFill>
                  <a:srgbClr val="A8C3B4"/>
                </a:solidFill>
                <a:latin typeface="Calibri" pitchFamily="34" charset="0"/>
                <a:ea typeface="Calibri" pitchFamily="34" charset="-122"/>
                <a:cs typeface="Calibri" pitchFamily="34" charset="-120"/>
              </a:rPr>
              <a:t>Team INNOV8   ·   JAIN Deemed-to-be University   ·   SIH26042, Government of Jharkhand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Ol Saathi — SIH26042</dc:title>
  <dc:subject>PptxGenJS Presentation</dc:subject>
  <dc:creator>Team INNOV8</dc:creator>
  <cp:lastModifiedBy>Team INNOV8</cp:lastModifiedBy>
  <cp:revision>1</cp:revision>
  <dcterms:created xsi:type="dcterms:W3CDTF">2026-09-10T12:41:39Z</dcterms:created>
  <dcterms:modified xsi:type="dcterms:W3CDTF">2026-09-10T12:41:39Z</dcterms:modified>
</cp:coreProperties>
</file>